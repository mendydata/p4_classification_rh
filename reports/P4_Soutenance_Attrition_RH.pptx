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60ff8a-cf2c-244e-66fc-891ec1cd0d90}">
          <p14:sldIdLst>
            <p14:sldId id="256"/>
            <p14:sldId id="257"/>
          </p14:sldIdLst>
        </p14:section>
        <p14:section name="Contexte et données" id="{d8d914da-0562-b968-f733-6feda54600e8}">
          <p14:sldIdLst>
            <p14:sldId id="258"/>
            <p14:sldId id="259"/>
            <p14:sldId id="260"/>
          </p14:sldIdLst>
        </p14:section>
        <p14:section name="Préparation des features" id="{93230a29-9f76-1aaa-97b6-f4b0d628c61c}">
          <p14:sldIdLst>
            <p14:sldId id="261"/>
            <p14:sldId id="262"/>
          </p14:sldIdLst>
        </p14:section>
        <p14:section name="Modélisation" id="{d15174df-e9d1-ae64-ff08-d361a431c276}">
          <p14:sldIdLst>
            <p14:sldId id="263"/>
            <p14:sldId id="264"/>
            <p14:sldId id="265"/>
            <p14:sldId id="266"/>
            <p14:sldId id="267"/>
          </p14:sldIdLst>
        </p14:section>
        <p14:section name="Résultats et interprétation" id="{f1ba6a0b-a896-134f-8df9-7943980e3a09}">
          <p14:sldIdLst>
            <p14:sldId id="268"/>
            <p14:sldId id="269"/>
            <p14:sldId id="270"/>
            <p14:sldId id="271"/>
            <p14:sldId id="272"/>
          </p14:sldIdLst>
        </p14:section>
        <p14:section name="Outil RH" id="{6ee47065-faea-115e-eef6-e802caa9c1ae}">
          <p14:sldIdLst>
            <p14:sldId id="273"/>
            <p14:sldId id="274"/>
          </p14:sldIdLst>
        </p14:section>
        <p14:section name="Conclusion" id="{3f3189b3-0e38-e59e-5fbe-74ada7ecd257}">
          <p14:sldIdLst>
            <p14:sldId id="275"/>
            <p14:sldId id="276"/>
            <p14:sldId id="277"/>
          </p14:sldIdLst>
        </p14:section>
        <p14:section name="Annexes" id="{a2ae9070-185f-bcb5-afeb-b0b5e4e5c80b}">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Taux de départ par modalité (%)</a:t>
            </a:r>
          </a:p>
        </c:rich>
      </c:tx>
      <c:layout/>
      <c:overlay val="0"/>
    </c:title>
    <c:autoTitleDeleted val="0"/>
    <c:plotArea>
      <c:layout/>
      <c:barChart>
        <c:barDir val="bar"/>
        <c:grouping val="clustered"/>
        <c:varyColors val="0"/>
        <c:ser>
          <c:idx val="0"/>
          <c:order val="0"/>
          <c:tx>
            <c:strRef>
              <c:f>Sheet1!$B$1</c:f>
              <c:strCache>
                <c:ptCount val="1"/>
                <c:pt idx="0">
                  <c:v>Taux de départ (%)</c:v>
                </c:pt>
              </c:strCache>
            </c:strRef>
          </c:tx>
          <c:spPr>
            <a:solidFill>
              <a:srgbClr val="DC2626"/>
            </a:solidFill>
            <a:effectLst/>
          </c:spPr>
          <c:invertIfNegative val="0"/>
          <c:dLbls>
            <c:numFmt formatCode="0.0&quot; %&quot;"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DC2626"/>
              </a:solidFill>
              <a:effectLst/>
            </c:spPr>
          </c:dPt>
          <c:dPt>
            <c:idx val="2"/>
            <c:invertIfNegative val="0"/>
            <c:bubble3D val="0"/>
            <c:spPr>
              <a:solidFill>
                <a:srgbClr val="DC2626"/>
              </a:solidFill>
              <a:effectLst/>
            </c:spPr>
          </c:dPt>
          <c:dPt>
            <c:idx val="3"/>
            <c:invertIfNegative val="0"/>
            <c:bubble3D val="0"/>
            <c:spPr>
              <a:solidFill>
                <a:srgbClr val="DC2626"/>
              </a:solidFill>
              <a:effectLst/>
            </c:spPr>
          </c:dPt>
          <c:dPt>
            <c:idx val="4"/>
            <c:invertIfNegative val="0"/>
            <c:bubble3D val="0"/>
            <c:spPr>
              <a:solidFill>
                <a:srgbClr val="DC2626"/>
              </a:solidFill>
              <a:effectLst/>
            </c:spPr>
          </c:dPt>
          <c:dPt>
            <c:idx val="5"/>
            <c:invertIfNegative val="0"/>
            <c:bubble3D val="0"/>
            <c:spPr>
              <a:solidFill>
                <a:srgbClr val="DC2626"/>
              </a:solidFill>
              <a:effectLst/>
            </c:spPr>
          </c:dPt>
          <c:dPt>
            <c:idx val="6"/>
            <c:invertIfNegative val="0"/>
            <c:bubble3D val="0"/>
            <c:spPr>
              <a:solidFill>
                <a:srgbClr val="DC2626"/>
              </a:solidFill>
              <a:effectLst/>
            </c:spPr>
          </c:dPt>
          <c:dPt>
            <c:idx val="7"/>
            <c:invertIfNegative val="0"/>
            <c:bubble3D val="0"/>
            <c:spPr>
              <a:solidFill>
                <a:srgbClr val="64748B"/>
              </a:solidFill>
              <a:effectLst/>
            </c:spPr>
          </c:dPt>
          <c:dPt>
            <c:idx val="8"/>
            <c:invertIfNegative val="0"/>
            <c:bubble3D val="0"/>
            <c:spPr>
              <a:solidFill>
                <a:srgbClr val="64748B"/>
              </a:solidFill>
              <a:effectLst/>
            </c:spPr>
          </c:dPt>
          <c:cat>
            <c:multiLvlStrRef>
              <c:f>Sheet1!$A$2:$A$10</c:f>
              <c:multiLvlStrCache>
                <c:ptCount val="9"/>
                <c:lvl>
                  <c:pt idx="0">
                    <c:v>Représentant commercial (n = 83)</c:v>
                  </c:pt>
                  <c:pt idx="1">
                    <c:v>Note d'évaluation précédente = 1 (n = 83)</c:v>
                  </c:pt>
                  <c:pt idx="2">
                    <c:v>Équilibre vie pro / perso noté 1 (n = 80)</c:v>
                  </c:pt>
                  <c:pt idx="3">
                    <c:v>Heures supplémentaires (n = 416)</c:v>
                  </c:pt>
                  <c:pt idx="4">
                    <c:v>Environnement de travail noté 1 (n = 284)</c:v>
                  </c:pt>
                  <c:pt idx="5">
                    <c:v>Déplacements fréquents (n = 277)</c:v>
                  </c:pt>
                  <c:pt idx="6">
                    <c:v>Consultant (n = 259)</c:v>
                  </c:pt>
                  <c:pt idx="7">
                    <c:v>Ensemble des collaborateurs (n = 1 470)</c:v>
                  </c:pt>
                  <c:pt idx="8">
                    <c:v>Sans heures supplémentaires (n = 1 054)</c:v>
                  </c:pt>
                </c:lvl>
              </c:multiLvlStrCache>
            </c:multiLvlStrRef>
          </c:cat>
          <c:val>
            <c:numRef>
              <c:f>Sheet1!$B$2:$B$10</c:f>
              <c:numCache>
                <c:formatCode>General</c:formatCode>
                <c:ptCount val="9"/>
                <c:pt idx="0">
                  <c:v>39.8</c:v>
                </c:pt>
                <c:pt idx="1">
                  <c:v>33.7</c:v>
                </c:pt>
                <c:pt idx="2">
                  <c:v>31.2</c:v>
                </c:pt>
                <c:pt idx="3">
                  <c:v>30.5</c:v>
                </c:pt>
                <c:pt idx="4">
                  <c:v>25.4</c:v>
                </c:pt>
                <c:pt idx="5">
                  <c:v>24.9</c:v>
                </c:pt>
                <c:pt idx="6">
                  <c:v>23.9</c:v>
                </c:pt>
                <c:pt idx="7">
                  <c:v>16.1</c:v>
                </c:pt>
                <c:pt idx="8">
                  <c:v>10.4</c:v>
                </c:pt>
              </c:numCache>
            </c:numRef>
          </c:val>
        </c:ser>
        <c:dLbls>
          <c:numFmt formatCode="0.0&quot; %&quot;"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4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F2 au seuil de 0,5</a:t>
            </a:r>
          </a:p>
        </c:rich>
      </c:tx>
      <c:layout/>
      <c:overlay val="0"/>
    </c:title>
    <c:autoTitleDeleted val="0"/>
    <c:plotArea>
      <c:layout/>
      <c:barChart>
        <c:barDir val="col"/>
        <c:grouping val="clustered"/>
        <c:varyColors val="0"/>
        <c:ser>
          <c:idx val="0"/>
          <c:order val="0"/>
          <c:tx>
            <c:strRef>
              <c:f>Sheet1!$B$1</c:f>
              <c:strCache>
                <c:ptCount val="1"/>
                <c:pt idx="0">
                  <c:v>Entraînement</c:v>
                </c:pt>
              </c:strCache>
            </c:strRef>
          </c:tx>
          <c:spPr>
            <a:solidFill>
              <a:srgbClr val="94A3B8"/>
            </a:solidFill>
            <a:effectLst/>
          </c:spPr>
          <c:invertIfNegative val="0"/>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Dummy</c:v>
                  </c:pt>
                  <c:pt idx="1">
                    <c:v>Régression logistique</c:v>
                  </c:pt>
                  <c:pt idx="2">
                    <c:v>Forêt aléatoire</c:v>
                  </c:pt>
                </c:lvl>
              </c:multiLvlStrCache>
            </c:multiLvlStrRef>
          </c:cat>
          <c:val>
            <c:numRef>
              <c:f>Sheet1!$B$2:$B$4</c:f>
              <c:numCache>
                <c:formatCode>General</c:formatCode>
                <c:ptCount val="3"/>
                <c:pt idx="0">
                  <c:v>0</c:v>
                </c:pt>
                <c:pt idx="1">
                  <c:v>0.585</c:v>
                </c:pt>
                <c:pt idx="2">
                  <c:v>1</c:v>
                </c:pt>
              </c:numCache>
            </c:numRef>
          </c:val>
        </c:ser>
        <c:ser>
          <c:idx val="1"/>
          <c:order val="1"/>
          <c:tx>
            <c:strRef>
              <c:f>Sheet1!$C$1</c:f>
              <c:strCache>
                <c:ptCount val="1"/>
                <c:pt idx="0">
                  <c:v>Validation</c:v>
                </c:pt>
              </c:strCache>
            </c:strRef>
          </c:tx>
          <c:spPr>
            <a:solidFill>
              <a:srgbClr val="1E293B"/>
            </a:solidFill>
            <a:effectLst/>
          </c:spPr>
          <c:invertIfNegative val="0"/>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Dummy</c:v>
                  </c:pt>
                  <c:pt idx="1">
                    <c:v>Régression logistique</c:v>
                  </c:pt>
                  <c:pt idx="2">
                    <c:v>Forêt aléatoire</c:v>
                  </c:pt>
                </c:lvl>
              </c:multiLvlStrCache>
            </c:multiLvlStrRef>
          </c:cat>
          <c:val>
            <c:numRef>
              <c:f>Sheet1!$C$2:$C$4</c:f>
              <c:numCache>
                <c:formatCode>General</c:formatCode>
                <c:ptCount val="3"/>
                <c:pt idx="0">
                  <c:v>0</c:v>
                </c:pt>
                <c:pt idx="1">
                  <c:v>0.625</c:v>
                </c:pt>
                <c:pt idx="2">
                  <c:v>0.32</c:v>
                </c:pt>
              </c:numCache>
            </c:numRef>
          </c:val>
        </c:ser>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29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F2 moyen, validation croisée 5 plis sur l'entraînement</a:t>
            </a:r>
          </a:p>
        </c:rich>
      </c:tx>
      <c:layout/>
      <c:overlay val="0"/>
    </c:title>
    <c:autoTitleDeleted val="0"/>
    <c:plotArea>
      <c:layout/>
      <c:barChart>
        <c:barDir val="bar"/>
        <c:grouping val="clustered"/>
        <c:varyColors val="0"/>
        <c:ser>
          <c:idx val="0"/>
          <c:order val="0"/>
          <c:tx>
            <c:strRef>
              <c:f>Sheet1!$B$1</c:f>
              <c:strCache>
                <c:ptCount val="1"/>
                <c:pt idx="0">
                  <c:v>F2 moyen</c:v>
                </c:pt>
              </c:strCache>
            </c:strRef>
          </c:tx>
          <c:spPr>
            <a:solidFill>
              <a:srgbClr val="94A3B8"/>
            </a:solidFill>
            <a:effectLst/>
          </c:spPr>
          <c:invertIfNegative val="0"/>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1E293B"/>
              </a:solidFill>
              <a:effectLst/>
            </c:spPr>
          </c:dPt>
          <c:dPt>
            <c:idx val="2"/>
            <c:invertIfNegative val="0"/>
            <c:bubble3D val="0"/>
            <c:spPr>
              <a:solidFill>
                <a:srgbClr val="1E293B"/>
              </a:solidFill>
              <a:effectLst/>
            </c:spPr>
          </c:dPt>
          <c:dPt>
            <c:idx val="3"/>
            <c:invertIfNegative val="0"/>
            <c:bubble3D val="0"/>
            <c:spPr>
              <a:solidFill>
                <a:srgbClr val="B45309"/>
              </a:solidFill>
              <a:effectLst/>
            </c:spPr>
          </c:dPt>
          <c:dPt>
            <c:idx val="4"/>
            <c:invertIfNegative val="0"/>
            <c:bubble3D val="0"/>
            <c:spPr>
              <a:solidFill>
                <a:srgbClr val="1E293B"/>
              </a:solidFill>
              <a:effectLst/>
            </c:spPr>
          </c:dPt>
          <c:dPt>
            <c:idx val="5"/>
            <c:invertIfNegative val="0"/>
            <c:bubble3D val="0"/>
            <c:spPr>
              <a:solidFill>
                <a:srgbClr val="1E293B"/>
              </a:solidFill>
              <a:effectLst/>
            </c:spPr>
          </c:dPt>
          <c:cat>
            <c:multiLvlStrRef>
              <c:f>Sheet1!$A$2:$A$7</c:f>
              <c:multiLvlStrCache>
                <c:ptCount val="6"/>
                <c:lvl>
                  <c:pt idx="0">
                    <c:v>Forêt aléatoire, sans pondération</c:v>
                  </c:pt>
                  <c:pt idx="1">
                    <c:v>Forêt pondérée</c:v>
                  </c:pt>
                  <c:pt idx="2">
                    <c:v>Forêt pondérée, feuilles ≥ 10</c:v>
                  </c:pt>
                  <c:pt idx="3">
                    <c:v>XGBoost + SMOTE</c:v>
                  </c:pt>
                  <c:pt idx="4">
                    <c:v>XGBoost pondéré</c:v>
                  </c:pt>
                  <c:pt idx="5">
                    <c:v>Régression logistique pondérée</c:v>
                  </c:pt>
                </c:lvl>
              </c:multiLvlStrCache>
            </c:multiLvlStrRef>
          </c:cat>
          <c:val>
            <c:numRef>
              <c:f>Sheet1!$B$2:$B$7</c:f>
              <c:numCache>
                <c:formatCode>General</c:formatCode>
                <c:ptCount val="6"/>
                <c:pt idx="0">
                  <c:v>0.19</c:v>
                </c:pt>
                <c:pt idx="1">
                  <c:v>0.371</c:v>
                </c:pt>
                <c:pt idx="2">
                  <c:v>0.581</c:v>
                </c:pt>
                <c:pt idx="3">
                  <c:v>0.466</c:v>
                </c:pt>
                <c:pt idx="4">
                  <c:v>0.55</c:v>
                </c:pt>
                <c:pt idx="5">
                  <c:v>0.629</c:v>
                </c:pt>
              </c:numCache>
            </c:numRef>
          </c:val>
        </c:ser>
        <c:dLbls>
          <c:numFmt formatCode="0.0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0.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Fausses alertes par départ détecté, à 80 % de rappel hors pli</a:t>
            </a:r>
          </a:p>
        </c:rich>
      </c:tx>
      <c:layout/>
      <c:overlay val="0"/>
    </c:title>
    <c:autoTitleDeleted val="0"/>
    <c:plotArea>
      <c:layout/>
      <c:barChart>
        <c:barDir val="bar"/>
        <c:grouping val="clustered"/>
        <c:varyColors val="0"/>
        <c:ser>
          <c:idx val="0"/>
          <c:order val="0"/>
          <c:tx>
            <c:strRef>
              <c:f>Sheet1!$B$1</c:f>
              <c:strCache>
                <c:ptCount val="1"/>
                <c:pt idx="0">
                  <c:v>Fausses alertes par départ détecté</c:v>
                </c:pt>
              </c:strCache>
            </c:strRef>
          </c:tx>
          <c:spPr>
            <a:solidFill>
              <a:srgbClr val="1E293B"/>
            </a:solidFill>
            <a:effectLst/>
          </c:spPr>
          <c:invertIfNegative val="0"/>
          <c:dLbls>
            <c:numFmt formatCode="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1E293B"/>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cat>
            <c:multiLvlStrRef>
              <c:f>Sheet1!$A$2:$A$8</c:f>
              <c:multiLvlStrCache>
                <c:ptCount val="7"/>
                <c:lvl>
                  <c:pt idx="0">
                    <c:v>Régression logistique pondérée</c:v>
                  </c:pt>
                  <c:pt idx="1">
                    <c:v>Régression logistique réglée</c:v>
                  </c:pt>
                  <c:pt idx="2">
                    <c:v>XGBoost réglé</c:v>
                  </c:pt>
                  <c:pt idx="3">
                    <c:v>XGBoost pondéré</c:v>
                  </c:pt>
                  <c:pt idx="4">
                    <c:v>Forêt aléatoire</c:v>
                  </c:pt>
                  <c:pt idx="5">
                    <c:v>Forêt pondérée</c:v>
                  </c:pt>
                  <c:pt idx="6">
                    <c:v>Forêt pondérée, feuilles ≥ 10</c:v>
                  </c:pt>
                </c:lvl>
              </c:multiLvlStrCache>
            </c:multiLvlStrRef>
          </c:cat>
          <c:val>
            <c:numRef>
              <c:f>Sheet1!$B$2:$B$8</c:f>
              <c:numCache>
                <c:formatCode>General</c:formatCode>
                <c:ptCount val="7"/>
                <c:pt idx="0">
                  <c:v>1.71</c:v>
                </c:pt>
                <c:pt idx="1">
                  <c:v>1.94</c:v>
                </c:pt>
                <c:pt idx="2">
                  <c:v>2.12</c:v>
                </c:pt>
                <c:pt idx="3">
                  <c:v>2.17</c:v>
                </c:pt>
                <c:pt idx="4">
                  <c:v>2.2</c:v>
                </c:pt>
                <c:pt idx="5">
                  <c:v>2.26</c:v>
                </c:pt>
                <c:pt idx="6">
                  <c:v>2.41</c:v>
                </c:pt>
              </c:numCache>
            </c:numRef>
          </c:val>
        </c:ser>
        <c:dLbls>
          <c:numFmt formatCode="0.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2.9"/>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Importance SHAP par variable, colonnes one-hot regroupées</a:t>
            </a:r>
          </a:p>
        </c:rich>
      </c:tx>
      <c:layout/>
      <c:overlay val="0"/>
    </c:title>
    <c:autoTitleDeleted val="0"/>
    <c:plotArea>
      <c:layout/>
      <c:barChart>
        <c:barDir val="bar"/>
        <c:grouping val="clustered"/>
        <c:varyColors val="0"/>
        <c:ser>
          <c:idx val="0"/>
          <c:order val="0"/>
          <c:tx>
            <c:strRef>
              <c:f>Sheet1!$B$1</c:f>
              <c:strCache>
                <c:ptCount val="1"/>
                <c:pt idx="0">
                  <c:v>Importance SHAP</c:v>
                </c:pt>
              </c:strCache>
            </c:strRef>
          </c:tx>
          <c:spPr>
            <a:solidFill>
              <a:srgbClr val="16A34A"/>
            </a:solidFill>
            <a:effectLst/>
          </c:spPr>
          <c:invertIfNegative val="0"/>
          <c:dLbls>
            <c:numFmt formatCode="0.0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B91C1C"/>
              </a:solidFill>
              <a:effectLst/>
            </c:spPr>
          </c:dPt>
          <c:dPt>
            <c:idx val="3"/>
            <c:invertIfNegative val="0"/>
            <c:bubble3D val="0"/>
            <c:spPr>
              <a:solidFill>
                <a:srgbClr val="16A34A"/>
              </a:solidFill>
              <a:effectLst/>
            </c:spPr>
          </c:dPt>
          <c:dPt>
            <c:idx val="4"/>
            <c:invertIfNegative val="0"/>
            <c:bubble3D val="0"/>
            <c:spPr>
              <a:solidFill>
                <a:srgbClr val="B91C1C"/>
              </a:solidFill>
              <a:effectLst/>
            </c:spPr>
          </c:dPt>
          <c:dPt>
            <c:idx val="5"/>
            <c:invertIfNegative val="0"/>
            <c:bubble3D val="0"/>
            <c:spPr>
              <a:solidFill>
                <a:srgbClr val="B91C1C"/>
              </a:solidFill>
              <a:effectLst/>
            </c:spPr>
          </c:dPt>
          <c:dPt>
            <c:idx val="6"/>
            <c:invertIfNegative val="0"/>
            <c:bubble3D val="0"/>
            <c:spPr>
              <a:solidFill>
                <a:srgbClr val="16A34A"/>
              </a:solidFill>
              <a:effectLst/>
            </c:spPr>
          </c:dPt>
          <c:dPt>
            <c:idx val="7"/>
            <c:invertIfNegative val="0"/>
            <c:bubble3D val="0"/>
            <c:spPr>
              <a:solidFill>
                <a:srgbClr val="16A34A"/>
              </a:solidFill>
              <a:effectLst/>
            </c:spPr>
          </c:dPt>
          <c:dPt>
            <c:idx val="8"/>
            <c:invertIfNegative val="0"/>
            <c:bubble3D val="0"/>
            <c:spPr>
              <a:solidFill>
                <a:srgbClr val="16A34A"/>
              </a:solidFill>
              <a:effectLst/>
            </c:spPr>
          </c:dPt>
          <c:dPt>
            <c:idx val="9"/>
            <c:invertIfNegative val="0"/>
            <c:bubble3D val="0"/>
            <c:spPr>
              <a:solidFill>
                <a:srgbClr val="16A34A"/>
              </a:solidFill>
              <a:effectLst/>
            </c:spPr>
          </c:dPt>
          <c:dPt>
            <c:idx val="10"/>
            <c:invertIfNegative val="0"/>
            <c:bubble3D val="0"/>
            <c:spPr>
              <a:solidFill>
                <a:srgbClr val="B91C1C"/>
              </a:solidFill>
              <a:effectLst/>
            </c:spPr>
          </c:dPt>
          <c:dPt>
            <c:idx val="11"/>
            <c:invertIfNegative val="0"/>
            <c:bubble3D val="0"/>
            <c:spPr>
              <a:solidFill>
                <a:srgbClr val="16A34A"/>
              </a:solidFill>
              <a:effectLst/>
            </c:spPr>
          </c:dPt>
          <c:dPt>
            <c:idx val="12"/>
            <c:invertIfNegative val="0"/>
            <c:bubble3D val="0"/>
            <c:spPr>
              <a:solidFill>
                <a:srgbClr val="16A34A"/>
              </a:solidFill>
              <a:effectLst/>
            </c:spPr>
          </c:dPt>
          <c:dPt>
            <c:idx val="13"/>
            <c:invertIfNegative val="0"/>
            <c:bubble3D val="0"/>
            <c:spPr>
              <a:solidFill>
                <a:srgbClr val="B91C1C"/>
              </a:solidFill>
              <a:effectLst/>
            </c:spPr>
          </c:dPt>
          <c:dPt>
            <c:idx val="14"/>
            <c:invertIfNegative val="0"/>
            <c:bubble3D val="0"/>
            <c:spPr>
              <a:solidFill>
                <a:srgbClr val="16A34A"/>
              </a:solidFill>
              <a:effectLst/>
            </c:spPr>
          </c:dPt>
          <c:cat>
            <c:multiLvlStrRef>
              <c:f>Sheet1!$A$2:$A$16</c:f>
              <c:multiLvlStrCache>
                <c:ptCount val="15"/>
                <c:lvl>
                  <c:pt idx="0">
                    <c:v>Poste (métier)</c:v>
                  </c:pt>
                  <c:pt idx="1">
                    <c:v>Heures supplémentaires</c:v>
                  </c:pt>
                  <c:pt idx="2">
                    <c:v>Employeurs précédents</c:v>
                  </c:pt>
                  <c:pt idx="3">
                    <c:v>Satisfaction minimale</c:v>
                  </c:pt>
                  <c:pt idx="4">
                    <c:v>Expérience totale</c:v>
                  </c:pt>
                  <c:pt idx="5">
                    <c:v>Statut marital</c:v>
                  </c:pt>
                  <c:pt idx="6">
                    <c:v>Années depuis la dernière promotion</c:v>
                  </c:pt>
                  <c:pt idx="7">
                    <c:v>Déplacements</c:v>
                  </c:pt>
                  <c:pt idx="8">
                    <c:v>Nouveau responsable</c:v>
                  </c:pt>
                  <c:pt idx="9">
                    <c:v>Distance domicile-travail</c:v>
                  </c:pt>
                  <c:pt idx="10">
                    <c:v>Note d'évaluation précédente</c:v>
                  </c:pt>
                  <c:pt idx="11">
                    <c:v>Revenu mensuel</c:v>
                  </c:pt>
                  <c:pt idx="12">
                    <c:v>Satisfaction environnement</c:v>
                  </c:pt>
                  <c:pt idx="13">
                    <c:v>Ancienneté dans l'entreprise</c:v>
                  </c:pt>
                  <c:pt idx="14">
                    <c:v>Dernière augmentation</c:v>
                  </c:pt>
                </c:lvl>
              </c:multiLvlStrCache>
            </c:multiLvlStrRef>
          </c:cat>
          <c:val>
            <c:numRef>
              <c:f>Sheet1!$B$2:$B$16</c:f>
              <c:numCache>
                <c:formatCode>General</c:formatCode>
                <c:ptCount val="15"/>
                <c:pt idx="0">
                  <c:v>0.739</c:v>
                </c:pt>
                <c:pt idx="1">
                  <c:v>0.663</c:v>
                </c:pt>
                <c:pt idx="2">
                  <c:v>0.44</c:v>
                </c:pt>
                <c:pt idx="3">
                  <c:v>0.394</c:v>
                </c:pt>
                <c:pt idx="4">
                  <c:v>0.369</c:v>
                </c:pt>
                <c:pt idx="5">
                  <c:v>0.336</c:v>
                </c:pt>
                <c:pt idx="6">
                  <c:v>0.296</c:v>
                </c:pt>
                <c:pt idx="7">
                  <c:v>0.293</c:v>
                </c:pt>
                <c:pt idx="8">
                  <c:v>0.277</c:v>
                </c:pt>
                <c:pt idx="9">
                  <c:v>0.27</c:v>
                </c:pt>
                <c:pt idx="10">
                  <c:v>0.252</c:v>
                </c:pt>
                <c:pt idx="11">
                  <c:v>0.226</c:v>
                </c:pt>
                <c:pt idx="12">
                  <c:v>0.226</c:v>
                </c:pt>
                <c:pt idx="13">
                  <c:v>0.222</c:v>
                </c:pt>
                <c:pt idx="14">
                  <c:v>0.215</c:v>
                </c:pt>
              </c:numCache>
            </c:numRef>
          </c:val>
        </c:ser>
        <c:dLbls>
          <c:numFmt formatCode="0.00" sourceLinked="0"/>
          <c:txPr>
            <a:bodyPr/>
            <a:lstStyle/>
            <a:p>
              <a:pPr>
                <a:defRPr b="0" i="0" strike="noStrike" sz="1100" u="none">
                  <a:solidFill>
                    <a:srgbClr val="1E293B"/>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0.9"/>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93B"/>
                </a:solidFill>
                <a:latin typeface="+mn-lt"/>
              </a:defRPr>
            </a:pPr>
            <a:r>
              <a:rPr sz="1400" b="0" i="0" u="none" strike="noStrike">
                <a:solidFill>
                  <a:srgbClr val="1E293B"/>
                </a:solidFill>
                <a:latin typeface="+mn-lt"/>
              </a:rPr>
              <a:t>Premier levier à aborder, 319 alertes</a:t>
            </a:r>
          </a:p>
        </c:rich>
      </c:tx>
      <c:layout/>
      <c:overlay val="0"/>
    </c:title>
    <c:autoTitleDeleted val="0"/>
    <c:plotArea>
      <c:layout/>
      <c:barChart>
        <c:barDir val="bar"/>
        <c:grouping val="clustered"/>
        <c:varyColors val="0"/>
        <c:ser>
          <c:idx val="0"/>
          <c:order val="0"/>
          <c:tx>
            <c:strRef>
              <c:f>Sheet1!$B$1</c:f>
              <c:strCache>
                <c:ptCount val="1"/>
                <c:pt idx="0">
                  <c:v>Alertes</c:v>
                </c:pt>
              </c:strCache>
            </c:strRef>
          </c:tx>
          <c:spPr>
            <a:solidFill>
              <a:srgbClr val="16A34A"/>
            </a:solidFill>
            <a:effectLst/>
          </c:spPr>
          <c:invertIfNegative val="0"/>
          <c:dLbls>
            <c:numFmt formatCode="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cat>
            <c:multiLvlStrRef>
              <c:f>Sheet1!$A$2:$A$9</c:f>
              <c:multiLvlStrCache>
                <c:ptCount val="8"/>
                <c:lvl>
                  <c:pt idx="0">
                    <c:v>Charge de travail</c:v>
                  </c:pt>
                  <c:pt idx="1">
                    <c:v>Métier exposé</c:v>
                  </c:pt>
                  <c:pt idx="2">
                    <c:v>Déplacements fréquents</c:v>
                  </c:pt>
                  <c:pt idx="3">
                    <c:v>Évolution et promotions</c:v>
                  </c:pt>
                  <c:pt idx="4">
                    <c:v>Intégration des débutants</c:v>
                  </c:pt>
                  <c:pt idx="5">
                    <c:v>Télétravail, trajets longs</c:v>
                  </c:pt>
                  <c:pt idx="6">
                    <c:v>Point de rupture de satisfaction</c:v>
                  </c:pt>
                  <c:pt idx="7">
                    <c:v>Changement de responsable</c:v>
                  </c:pt>
                </c:lvl>
              </c:multiLvlStrCache>
            </c:multiLvlStrRef>
          </c:cat>
          <c:val>
            <c:numRef>
              <c:f>Sheet1!$B$2:$B$9</c:f>
              <c:numCache>
                <c:formatCode>General</c:formatCode>
                <c:ptCount val="8"/>
                <c:pt idx="0">
                  <c:v>110</c:v>
                </c:pt>
                <c:pt idx="1">
                  <c:v>77</c:v>
                </c:pt>
                <c:pt idx="2">
                  <c:v>33</c:v>
                </c:pt>
                <c:pt idx="3">
                  <c:v>24</c:v>
                </c:pt>
                <c:pt idx="4">
                  <c:v>23</c:v>
                </c:pt>
                <c:pt idx="5">
                  <c:v>22</c:v>
                </c:pt>
                <c:pt idx="6">
                  <c:v>19</c:v>
                </c:pt>
                <c:pt idx="7">
                  <c:v>11</c:v>
                </c:pt>
              </c:numCache>
            </c:numRef>
          </c:val>
        </c:ser>
        <c:dLbls>
          <c:numFmt formatCode="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max val="1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30 (cumul 0 min 30)
Bonjour. Je vous présente mon projet 4 : je suis consultante data scientist pour le SIRH de TechNova Partners, une ESN qui constate un turnover anormalement élevé. Le pictogramme résume le problème : environ un collaborateur sur six est parti. Mon rôle était de comprendre pourquoi, puis de fournir aux RH un moyen d'anticiper ces départs.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1 min 30)
La demande du SIRH tient en trois questions : qu'est-ce qui distingue les partants, peut-on prédire un départ, et sur quels leviers agir. Je vous donne tout de suite les trois messages que je souhaite que vous reteniez : les heures supplémentaires sont le premier facteur de départ ; un modèle simple et explicable détecte trois départs sur quatre sur des collaborateurs qu'il n'a jamais vus ; et un outil RH transforme chaque alerte en entretien préparé, sans exposer les variables sensibles. La suite de la présentation montre comment j'y suis arrivée.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2 min 30)
Je disposais de trois extraits, un par système d'information. La difficulté était la jointure : chaque source a sa propre clé. J'ai extrait avec .apply() l'entier de eval_number (« E_1 » devient 1) et vérifié que les trois ensembles d'identifiants étaient strictement identiques. La jointure interne ne perd donc personne : pas de biais de non-réponse. Résultat : 1 470 collaborateurs, aucune valeur manquante, aucun doublon, et 16,1 % de départs. Ce déséquilibre va guider tous mes choix de métriques. J'ai aussi retiré trois colonnes constantes, qui ne peuvent rien expliquer.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3 min 30)
Première famille de facteurs : le profil. Je compare des médianes, et non des moyennes, parce que le revenu et les anciennetés sont asymétriques. Les partants gagnent 3 202 € contre 5 204 €, ont 3 ans d'ancienneté contre 6 et sont plus jeunes. Mais les boîtes à moustaches montrent que les distributions se chevauchent : aucune variable ne suffit seule. Surtout, les RH ne pilotent pas l'âge ou l'expérience : ces variables servent à cibler, pas à agir.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15 (cumul 4 min 45)
Deuxième famille : les conditions de travail, sur lesquelles les RH peuvent agir. Les barres rouges sont les modalités au-dessus du taux moyen de 16,1 %. Les heures supplémentaires concernent 416 personnes et triplent presque le taux de départ : 30,5 % contre 10,4 %. La carte de chaleur, qui croise deux variables qualitatives, montre que cet effet existe dans presque tous les postes : ce n'est pas l'effet d'un seul métier. Ces constats restent descriptifs ; c'est le modèle qui mesurera le poids propre de chaque facteur.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5 min 45)
J'ai créé trois features à partir des données existantes, chacune formulable en une phrase pour un RH et associée à une action. Le début de carrière : 43,9 % de départs, plus de trois fois plus que les autres. Le nouveau responsable : 32,3 % de départs la première année. La satisfaction minimale capte un point de rupture que la moyenne masquerait. Les deux indicateurs binaires donnent au modèle linéaire des effets de seuil qu'il ne pourrait pas trouver seul. Au notebook 02, elles améliorent la précision moyenne de 3,6 points pour la régression logistique.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6 min 45)
Chaque encodage suit le sens métier de la variable : 0/1 pour les binaires, un ordre pour la fréquence de déplacement, le one-hot pour les nominales. Ce sont des correspondances fixes : je peux les appliquer avant le découpage sans fuite. La matrice de Pearson montre une seule paire au-dessus de 0,8 : revenu et niveau hiérarchique, à 0,95. Je garde le revenu, plus fin et actionnable. Spearman révèle des liens non linéaires entre anciennetés, sous le seuil en Pearson : je les garde et je les lirai en bloc à l'interprétation. Livrable : X de 46 features numériques et y, validés par check_X_y.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7 min 45)
Avant de modéliser, j'ai fixé le protocole. Découpage stratifié 60/20/20 : l'entraînement sert aux fit et aux validations croisées, la validation à comparer les modèles, et le test n'est ouvert qu'une fois, à la fin, pour une mesure honnête. Côté métriques, les deux erreurs n'ont pas le même coût : un départ manqué coûte un remplacement, une fausse alerte coûte un entretien. Je privilégie donc le rappel, avec le F2 comme critère de synthèse et l'AUC-PR pour comparer le classement indépendamment du seuil. L'accuracy est trompeuse : un modèle qui prédit toujours « reste » atteint 84 %.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8 min 30)
Étape 3 : trois modèles du plus simple au plus complexe. Le Dummy fixe le plancher. La régression logistique, dans un pipeline avec StandardScaler, a des scores très proches en entraînement et en validation : elle généralise, mais au seuil de 0,5 elle rate encore 4 départs sur 10. La forêt aléatoire obtient 1,000 sur l'entraînement et ne détecte que 13 départs en validation : surapprentissage massif. Le modèle non linéaire ne fait pas mieux que le linéaire : le problème n'est pas fortement non linéaire. Les étapes 4 et 5 traitent le déséquilibre et le surapprentissage.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9 min 30)
Étape 4 : le déséquilibre. Je compare les variantes en validation croisée à 5 plis sur l'entraînement, pour ne pas dépendre d'un découpage chanceux. La pondération seule aide peu une forêt non contrainte : chaque feuille ne contient qu'un collaborateur. En contraignant les feuilles, le F2 monte à 0,581. SMOTE, appliqué dans un pipeline imblearn pour éviter la fuite, fait moins bien que la pondération : ses départs synthétiques n'apportent pas d'information nouvelle. Conformément à l'énoncé, je garde donc la pondération. Les trois features métier améliorent les deux familles de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10 min 15)
Le seuil de 0,5 n'a aucune justification métier. Je le choisis sur la courbe précision-rappel des prédictions hors pli : chaque collaborateur reçoit une probabilité calculée par un modèle entraîné sans lui. La courbe repose sur 190 départs, contre 47 en validation : un seuil optimisé sur 47 cas suivrait leur hasard, je l'ai constaté. La règle fixée avec le commanditaire : détecter au moins 80 % des départs, et à ce niveau émettre le moins de fausses alertes. Pour le modèle final, cela donne 0,418. Le graphique de droite montre le compromis : baisser le seuil augmente le rappel et fait chuter la précision.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11 min 15)
Étape 5 : le réglage fin, avec GridSearchCV en validation croisée et l'AUC-PR comme critère, pour ne pas mélanger hyperparamètres et seuil. XGBoost passe de 0,590 à 0,658 avec des arbres peu profonds ; la régression logistique de 0,616 à 0,657 avec une régularisation plus forte. Les deux se rejoignent : on atteint un plateau. Pour décider, je mets tous les modèles à égalité : réentraînés sur entraînement et validation, seuil réglé à 80 % de rappel hors pli. Je retiens celui qui émet le moins de fausses alertes : la régression logistique pondérée, 1,7 entretien « pour rien » par départ anticipé. Avec 190 départs, un modèle qui a peu de paramètres généralise mieux qu'un ensemble d'arbres.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12 min 00)
Tous les choix étant figés, j'ouvre le test une seule fois. Le modèle détecte 36 départs sur 47, avec 63 fausses alertes. Un peu plus d'une alerte sur trois correspond à un vrai départ, soit 2,3 fois mieux qu'un tirage au hasard. Le rappel passe de 0,800 hors pli à 0,766 sur le test : un à deux départs de moins que prévu, le seuil tient. Je reste prudente : avec 47 départs, chaque cas fait varier le rappel de 2 points. Enfin, une partie des fausses alertes sont des collaborateurs à risque pas encore partis : pour les RH, ce ne sont pas des entretiens perdus.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12 min 45)
Je compare trois méthodes d'importance globale, qui ne mesurent pas la même chose : les coefficients standardisés, la permutation sur le test, et SHAP. Mon modèle étant linéaire, j'utilise le LinearExplainer, exact. Les trois s'accordent sur le facteur numéro un : les heures supplémentaires. C'est le message le plus solide du projet, il ne dépend pas de la méthode. Sur le beeswarm, les points rouges des heures supplémentaires sont tous à droite : en faire pousse vers le départ. Derrière, un groupe de cinq facteurs proches dont l'ordre exact n'a pas de sens, mais dont la présence en tête est solide.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13 min 30)
Pour un RH, seule compte la variable d'origine : j'additionne les valeurs SHAP des colonnes one-hot d'une même variable, comme le poste, puis je classe. En vert ce sur quoi les RH peuvent agir, en rouge ce qui délimite seulement la population à suivre. Deux points de vigilance. Le statut marital ressort parce qu'il porte l'information du plan d'épargne : ce n'est pas une cause et il ne doit jamais motiver une décision. Le revenu a un coefficient brouillé par l'expérience et le poste ; pour les RH, ce sont les taux observés qui comptent : 28,6 % de départs sous 3 000 € par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14 min 15)
L'importance locale explique une prédiction individuelle. J'ai pris un collaborateur de chaque classe, le médian de son groupe pour ne pas choisir un cas favorable. Le graphique part de la valeur moyenne et empile les contributions. À gauche, un départ détecté : les heures supplémentaires dominent. À droite, un maintien correctement prévu : bonne évaluation, forte augmentation, pas d'heures supplémentaires. Mais même là, une insatisfaction sur l'environnement mérite un échange. Dans le notebook, j'analyse aussi un faux négatif et un faux positif. C'est ce même calcul qui alimente l'outil RH.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15 min 15)
Voici la traduction pour les RH, avec pour chaque levier le chiffre qui le justifie. Premier levier : la charge de travail. Deuxième : le point de rupture de satisfaction, à traiter dès le sondage annuel sans attendre que tout se dégrade. Troisième : les premières années, le levier le plus pilotable, car le SIRH connaît l'embauche d'un débutant et un changement de responsable dès qu'ils ont lieu. Puis l'évolution de carrière, les trajets, et enfin les métiers les plus exposés et les bas salaires. Ce sont des associations, pas des causes prouvées : je recommande de les tester sur une population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16 min 00)
Pour que le modèle serve aux RH, j'ai développé une application métier, src/application_metier.py, qui recharge le modèle sauvegardé. Une commande produit la liste des collaborateurs présents en alerte, au format Excel français, du plus au moins exposé, avec le premier levier à aborder, et les fiches des plus exposés. Sur 1 233 présents, 319 sont en alerte. Pour 110 d'entre eux, le premier sujet d'entretien est la charge de travail. L'outil réutilise les mêmes leviers que l'analyse, définis une seule fois dans src/config.py.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1 min 00 (cumul 17 min 00)
Voici une fiche réelle, celle du collaborateur 411, un représentant commercial du jeu de test. Elle se lit en cinq zones. Un : l'alerte et le score, présenté comme un score à comparer au seuil, pas comme une probabilité, car la pondération des classes décale les probabilités. Deux : le profil en clair ; le genre, le statut marital et l'âge sont pris en compte par le modèle mais jamais affichés. Trois : les dix facteurs qui pèsent le plus, en vert s'ils sont actionnables. Ici : poste exposé, début de carrière, nouveau responsable. Quatre : les leviers à aborder en entretien. Cinq : les garde-fous. La fiche est une aide à la discussion, jamais une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45 (cumul 17 min 45)
Les limites d'abord. SHAP explique le modèle, pas l'entreprise : agir sur un facteur ne garantit pas de retenir quelqu'un. Le modèle apprend sur 190 départs seulement, et un modèle linéaire lisse les effets de seuil, comme celui des bas salaires. J'ai aussi repéré une anomalie probable de codage à signaler au métier. Côté perspectives, la première est éthique : mesurer un modèle sans genre ni statut marital, et le déployer si ses performances tiennent. Ensuite, plus de données, un seuil piloté avec les RH selon leur capacité d'entretiens, et des alertes déclenchées par les événements du SIRH.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30 (cumul 18 min 15)
Le projet se relance de bout en bout. L'environnement est géré avec uv : pyproject.toml au format standard, Python 3.11 fixé, versions exactes dans uv.lock. Les trois notebooks s'exécutent dans l'ordre, chacun relit les fichiers du précédent, et l'application réutilise le modèle sauvegardé. Au rechargement, je recalcule les métriques du test : elles sont identiques à celles des métadonnées, ce qui garantit que j'explique bien le modèle évalué.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0 min 30 (cumul 18 min 45)
Pour conclure, trois messages : les heures supplémentaires sont le premier facteur de départ ; un modèle simple et explicable détecte trois départs sur quatre ; et l'outil RH transforme chaque alerte en entretien préparé. Merci, je suis prête pour vos questions.
Questions probables et réponses courtes :
- Pourquoi pas XGBoost, alors que l'énoncé demande un non linéaire ? Je l'ai entraîné et réglé (AUC-PR 0,658 en validation croisée). À rappel égal, il émet plus de fausses alertes (2,1 contre 1,7 par départ détecté). Sur le test, son F2 est à peine supérieur (0,635 contre 0,627) au prix de 17 fausses alertes de plus.
- Pourquoi un seuil hors pli ? 190 départs contre 47 en validation : un seuil réglé sur 47 cas suit leur hasard.
- Pourquoi SMOTE écarté ? F2 0,466 contre 0,550 avec la pondération ; il améliore la précision, l'inverse du besoin métier.
- Pourquoi le revenu a un coefficient positif ? Corrélation avec l'expérience (0,77) et le poste : effet résiduel sans lecture métier. Les taux bruts restent la référence (28,6 % sous 3 000 €).
- Pourquoi garder le statut marital ? Il porte la participation au PEE. Il n'est jamais affiché ; je recommande de mesurer un modèle sans variables sensibles avant tout déploiement.
- Pourquoi la permutation sous-estime nouveau_responsable ? Effet partagé avec debut_de_carriere, et 294 collaborateurs seulement : l'effet se perd dans le bruit (annexe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pour les questions : tableau complet du notebook 02, section 13. Le test n'a servi à aucun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pour les questions : divergences entre méthodes, notebook 03,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6949440" cy="365760"/>
          </a:xfrm>
          <a:prstGeom prst="rect">
            <a:avLst/>
          </a:prstGeom>
          <a:noFill/>
          <a:ln/>
        </p:spPr>
        <p:txBody>
          <a:bodyPr wrap="square" rtlCol="0"/>
          <a:lstStyle>
            <a:lvl1pPr indent="0" marL="0">
              <a:buNone/>
              <a:defRPr lang="en-US" sz="1300" b="1" dirty="0">
                <a:solidFill>
                  <a:schemeClr val="bg2"/>
                </a:solidFill>
              </a:defRPr>
            </a:lvl1pPr>
          </a:lstStyle>
          <a:p>
            <a:pPr indent="0" marL="0">
              <a:buNone/>
            </a:pPr>
            <a:endParaRPr lang="en-US" sz="1300" dirty="0"/>
          </a:p>
        </p:txBody>
      </p:sp>
      <p:sp>
        <p:nvSpPr>
          <p:cNvPr id="3" name="Text 0"/>
          <p:cNvSpPr/>
          <p:nvPr>
            <p:ph idx="101" type="title" hasCustomPrompt="1"/>
          </p:nvPr>
        </p:nvSpPr>
        <p:spPr>
          <a:xfrm>
            <a:off x="548640" y="1600200"/>
            <a:ext cx="6766560" cy="21031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840480"/>
            <a:ext cx="658368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ph idx="103" type="body" hasCustomPrompt="1"/>
          </p:nvPr>
        </p:nvSpPr>
        <p:spPr>
          <a:xfrm>
            <a:off x="548640" y="5257800"/>
            <a:ext cx="6583680" cy="73152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Angèle GOMIS  ·  Projet 4  ·  Attrition RH chez TechNova Partners</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94415" cy="320040"/>
          </a:xfrm>
          <a:prstGeom prst="rect">
            <a:avLst/>
          </a:prstGeom>
          <a:noFill/>
          <a:ln/>
        </p:spPr>
        <p:txBody>
          <a:bodyPr wrap="square" rtlCol="0"/>
          <a:lstStyle>
            <a:lvl1pPr indent="0" marL="0">
              <a:buNone/>
              <a:defRPr lang="en-US" sz="1300" b="1" dirty="0">
                <a:solidFill>
                  <a:schemeClr val="bg2"/>
                </a:solidFill>
              </a:defRPr>
            </a:lvl1pPr>
          </a:lstStyle>
          <a:p>
            <a:pPr indent="0" marL="0">
              <a:buNone/>
            </a:pPr>
            <a:endParaRPr lang="en-US" sz="1300" dirty="0"/>
          </a:p>
        </p:txBody>
      </p:sp>
      <p:sp>
        <p:nvSpPr>
          <p:cNvPr id="3" name="Text 0"/>
          <p:cNvSpPr/>
          <p:nvPr>
            <p:ph idx="101" type="title" hasCustomPrompt="1"/>
          </p:nvPr>
        </p:nvSpPr>
        <p:spPr>
          <a:xfrm>
            <a:off x="548640" y="868680"/>
            <a:ext cx="11094415" cy="7772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6949440" cy="365760"/>
          </a:xfrm>
          <a:prstGeom prst="rect">
            <a:avLst/>
          </a:prstGeom>
          <a:noFill/>
          <a:ln/>
        </p:spPr>
        <p:txBody>
          <a:bodyPr wrap="square" lIns="0" tIns="0" rIns="0" bIns="0" rtlCol="0"/>
          <a:lstStyle/>
          <a:p>
            <a:pPr indent="0" marL="0">
              <a:buNone/>
            </a:pPr>
            <a:r>
              <a:rPr lang="en-US" sz="1300" b="1" dirty="0">
                <a:solidFill>
                  <a:schemeClr val="bg2"/>
                </a:solidFill>
              </a:rPr>
              <a:t>PROJET 4  ·  CLASSIFIEZ AUTOMATIQUEMENT DES INFORMATIONS</a:t>
            </a:r>
            <a:endParaRPr lang="en-US" sz="1300" dirty="0"/>
          </a:p>
        </p:txBody>
      </p:sp>
      <p:sp>
        <p:nvSpPr>
          <p:cNvPr id="3" name="Text 0"/>
          <p:cNvSpPr/>
          <p:nvPr>
            <p:ph idx="101" type="title" hasCustomPrompt="1"/>
          </p:nvPr>
        </p:nvSpPr>
        <p:spPr>
          <a:xfrm>
            <a:off x="548640" y="1600200"/>
            <a:ext cx="6766560" cy="2103120"/>
          </a:xfrm>
          <a:prstGeom prst="rect">
            <a:avLst/>
          </a:prstGeom>
          <a:noFill/>
          <a:ln/>
        </p:spPr>
        <p:txBody>
          <a:bodyPr wrap="square" lIns="0" tIns="0" rIns="0" bIns="0" rtlCol="0" anchor="t"/>
          <a:lstStyle/>
          <a:p>
            <a:pPr algn="l" indent="0" marL="0">
              <a:buNone/>
            </a:pPr>
            <a:r>
              <a:rPr lang="en-US" sz="4000" b="1" dirty="0">
                <a:solidFill>
                  <a:schemeClr val="bg1"/>
                </a:solidFill>
              </a:rPr>
              <a:t>Prédire et comprendre les départs chez TechNova Partners</a:t>
            </a:r>
            <a:endParaRPr lang="en-US" sz="4000" dirty="0"/>
          </a:p>
        </p:txBody>
      </p:sp>
      <p:sp>
        <p:nvSpPr>
          <p:cNvPr id="4" name="Text 0"/>
          <p:cNvSpPr/>
          <p:nvPr>
            <p:ph idx="102" type="body" hasCustomPrompt="1"/>
          </p:nvPr>
        </p:nvSpPr>
        <p:spPr>
          <a:xfrm>
            <a:off x="548640" y="3840480"/>
            <a:ext cx="6583680" cy="822960"/>
          </a:xfrm>
          <a:prstGeom prst="rect">
            <a:avLst/>
          </a:prstGeom>
          <a:noFill/>
          <a:ln/>
        </p:spPr>
        <p:txBody>
          <a:bodyPr wrap="square" lIns="0" tIns="0" rIns="0" bIns="0" rtlCol="0" anchor="t"/>
          <a:lstStyle/>
          <a:p>
            <a:pPr indent="0" marL="0">
              <a:buNone/>
            </a:pPr>
            <a:r>
              <a:rPr lang="en-US" sz="1800" dirty="0">
                <a:solidFill>
                  <a:schemeClr val="bg2"/>
                </a:solidFill>
              </a:rPr>
              <a:t>Analyse exploratoire, modèle de classification et interprétation SHAP au service des RH</a:t>
            </a:r>
            <a:endParaRPr lang="en-US" sz="1800" dirty="0"/>
          </a:p>
        </p:txBody>
      </p:sp>
      <p:sp>
        <p:nvSpPr>
          <p:cNvPr id="5" name="Text 0"/>
          <p:cNvSpPr/>
          <p:nvPr>
            <p:ph idx="103" type="body" hasCustomPrompt="1"/>
          </p:nvPr>
        </p:nvSpPr>
        <p:spPr>
          <a:xfrm>
            <a:off x="548640" y="5257800"/>
            <a:ext cx="6583680" cy="731520"/>
          </a:xfrm>
          <a:prstGeom prst="rect">
            <a:avLst/>
          </a:prstGeom>
          <a:noFill/>
          <a:ln/>
        </p:spPr>
        <p:txBody>
          <a:bodyPr wrap="square" lIns="0" tIns="0" rIns="0" bIns="0" rtlCol="0" anchor="t"/>
          <a:lstStyle/>
          <a:p>
            <a:pPr indent="0" marL="0">
              <a:buNone/>
            </a:pPr>
            <a:r>
              <a:rPr lang="en-US" sz="1400" b="1" dirty="0">
                <a:solidFill>
                  <a:schemeClr val="bg2"/>
                </a:solidFill>
              </a:rPr>
              <a:t>Angèle GOMIS</a:t>
            </a:r>
            <a:endParaRPr lang="en-US" sz="1400" dirty="0"/>
          </a:p>
          <a:p>
            <a:pPr indent="0" marL="0">
              <a:buNone/>
            </a:pPr>
            <a:r>
              <a:rPr lang="en-US" sz="1400" dirty="0">
                <a:solidFill>
                  <a:schemeClr val="bg2"/>
                </a:solidFill>
              </a:rPr>
              <a:t>Formation AI Engineer, OpenClassrooms  ·  Octobre 2026</a:t>
            </a:r>
            <a:endParaRPr lang="en-US" sz="1400" dirty="0"/>
          </a:p>
        </p:txBody>
      </p:sp>
      <p:sp>
        <p:nvSpPr>
          <p:cNvPr id="6" name="collaborateur 1"/>
          <p:cNvSpPr/>
          <p:nvPr/>
        </p:nvSpPr>
        <p:spPr>
          <a:xfrm>
            <a:off x="8183880" y="1783080"/>
            <a:ext cx="457200" cy="457200"/>
          </a:xfrm>
          <a:prstGeom prst="ellipse">
            <a:avLst/>
          </a:prstGeom>
          <a:solidFill>
            <a:schemeClr val="accent5"/>
          </a:solidFill>
          <a:ln/>
        </p:spPr>
      </p:sp>
      <p:sp>
        <p:nvSpPr>
          <p:cNvPr id="7" name="collaborateur 2"/>
          <p:cNvSpPr/>
          <p:nvPr/>
        </p:nvSpPr>
        <p:spPr>
          <a:xfrm>
            <a:off x="8842248" y="1783080"/>
            <a:ext cx="457200" cy="457200"/>
          </a:xfrm>
          <a:prstGeom prst="ellipse">
            <a:avLst/>
          </a:prstGeom>
          <a:solidFill>
            <a:schemeClr val="accent5"/>
          </a:solidFill>
          <a:ln/>
        </p:spPr>
      </p:sp>
      <p:sp>
        <p:nvSpPr>
          <p:cNvPr id="8" name="collaborateur 3"/>
          <p:cNvSpPr/>
          <p:nvPr/>
        </p:nvSpPr>
        <p:spPr>
          <a:xfrm>
            <a:off x="9500616" y="1783080"/>
            <a:ext cx="457200" cy="457200"/>
          </a:xfrm>
          <a:prstGeom prst="ellipse">
            <a:avLst/>
          </a:prstGeom>
          <a:solidFill>
            <a:schemeClr val="accent5"/>
          </a:solidFill>
          <a:ln/>
        </p:spPr>
      </p:sp>
      <p:sp>
        <p:nvSpPr>
          <p:cNvPr id="9" name="collaborateur 4"/>
          <p:cNvSpPr/>
          <p:nvPr/>
        </p:nvSpPr>
        <p:spPr>
          <a:xfrm>
            <a:off x="10158984" y="1783080"/>
            <a:ext cx="457200" cy="457200"/>
          </a:xfrm>
          <a:prstGeom prst="ellipse">
            <a:avLst/>
          </a:prstGeom>
          <a:solidFill>
            <a:schemeClr val="accent1"/>
          </a:solidFill>
          <a:ln/>
        </p:spPr>
      </p:sp>
      <p:sp>
        <p:nvSpPr>
          <p:cNvPr id="10" name="collaborateur 5"/>
          <p:cNvSpPr/>
          <p:nvPr/>
        </p:nvSpPr>
        <p:spPr>
          <a:xfrm>
            <a:off x="10817352" y="1783080"/>
            <a:ext cx="457200" cy="457200"/>
          </a:xfrm>
          <a:prstGeom prst="ellipse">
            <a:avLst/>
          </a:prstGeom>
          <a:solidFill>
            <a:schemeClr val="accent5"/>
          </a:solidFill>
          <a:ln/>
        </p:spPr>
      </p:sp>
      <p:sp>
        <p:nvSpPr>
          <p:cNvPr id="11" name="collaborateur 6"/>
          <p:cNvSpPr/>
          <p:nvPr/>
        </p:nvSpPr>
        <p:spPr>
          <a:xfrm>
            <a:off x="8183880" y="2441448"/>
            <a:ext cx="457200" cy="457200"/>
          </a:xfrm>
          <a:prstGeom prst="ellipse">
            <a:avLst/>
          </a:prstGeom>
          <a:solidFill>
            <a:schemeClr val="accent5"/>
          </a:solidFill>
          <a:ln/>
        </p:spPr>
      </p:sp>
      <p:sp>
        <p:nvSpPr>
          <p:cNvPr id="12" name="collaborateur 7"/>
          <p:cNvSpPr/>
          <p:nvPr/>
        </p:nvSpPr>
        <p:spPr>
          <a:xfrm>
            <a:off x="8842248" y="2441448"/>
            <a:ext cx="457200" cy="457200"/>
          </a:xfrm>
          <a:prstGeom prst="ellipse">
            <a:avLst/>
          </a:prstGeom>
          <a:solidFill>
            <a:schemeClr val="accent5"/>
          </a:solidFill>
          <a:ln/>
        </p:spPr>
      </p:sp>
      <p:sp>
        <p:nvSpPr>
          <p:cNvPr id="13" name="collaborateur 8"/>
          <p:cNvSpPr/>
          <p:nvPr/>
        </p:nvSpPr>
        <p:spPr>
          <a:xfrm>
            <a:off x="9500616" y="2441448"/>
            <a:ext cx="457200" cy="457200"/>
          </a:xfrm>
          <a:prstGeom prst="ellipse">
            <a:avLst/>
          </a:prstGeom>
          <a:solidFill>
            <a:schemeClr val="accent5"/>
          </a:solidFill>
          <a:ln/>
        </p:spPr>
      </p:sp>
      <p:sp>
        <p:nvSpPr>
          <p:cNvPr id="14" name="collaborateur 9"/>
          <p:cNvSpPr/>
          <p:nvPr/>
        </p:nvSpPr>
        <p:spPr>
          <a:xfrm>
            <a:off x="10158984" y="2441448"/>
            <a:ext cx="457200" cy="457200"/>
          </a:xfrm>
          <a:prstGeom prst="ellipse">
            <a:avLst/>
          </a:prstGeom>
          <a:solidFill>
            <a:schemeClr val="accent5"/>
          </a:solidFill>
          <a:ln/>
        </p:spPr>
      </p:sp>
      <p:sp>
        <p:nvSpPr>
          <p:cNvPr id="15" name="collaborateur 10"/>
          <p:cNvSpPr/>
          <p:nvPr/>
        </p:nvSpPr>
        <p:spPr>
          <a:xfrm>
            <a:off x="10817352" y="2441448"/>
            <a:ext cx="457200" cy="457200"/>
          </a:xfrm>
          <a:prstGeom prst="ellipse">
            <a:avLst/>
          </a:prstGeom>
          <a:solidFill>
            <a:schemeClr val="accent1"/>
          </a:solidFill>
          <a:ln/>
        </p:spPr>
      </p:sp>
      <p:sp>
        <p:nvSpPr>
          <p:cNvPr id="16" name="collaborateur 11"/>
          <p:cNvSpPr/>
          <p:nvPr/>
        </p:nvSpPr>
        <p:spPr>
          <a:xfrm>
            <a:off x="8183880" y="3099816"/>
            <a:ext cx="457200" cy="457200"/>
          </a:xfrm>
          <a:prstGeom prst="ellipse">
            <a:avLst/>
          </a:prstGeom>
          <a:solidFill>
            <a:schemeClr val="accent5"/>
          </a:solidFill>
          <a:ln/>
        </p:spPr>
      </p:sp>
      <p:sp>
        <p:nvSpPr>
          <p:cNvPr id="17" name="collaborateur 12"/>
          <p:cNvSpPr/>
          <p:nvPr/>
        </p:nvSpPr>
        <p:spPr>
          <a:xfrm>
            <a:off x="8842248" y="3099816"/>
            <a:ext cx="457200" cy="457200"/>
          </a:xfrm>
          <a:prstGeom prst="ellipse">
            <a:avLst/>
          </a:prstGeom>
          <a:solidFill>
            <a:schemeClr val="accent5"/>
          </a:solidFill>
          <a:ln/>
        </p:spPr>
      </p:sp>
      <p:sp>
        <p:nvSpPr>
          <p:cNvPr id="18" name="collaborateur 13"/>
          <p:cNvSpPr/>
          <p:nvPr/>
        </p:nvSpPr>
        <p:spPr>
          <a:xfrm>
            <a:off x="9500616" y="3099816"/>
            <a:ext cx="457200" cy="457200"/>
          </a:xfrm>
          <a:prstGeom prst="ellipse">
            <a:avLst/>
          </a:prstGeom>
          <a:solidFill>
            <a:schemeClr val="accent5"/>
          </a:solidFill>
          <a:ln/>
        </p:spPr>
      </p:sp>
      <p:sp>
        <p:nvSpPr>
          <p:cNvPr id="19" name="collaborateur 14"/>
          <p:cNvSpPr/>
          <p:nvPr/>
        </p:nvSpPr>
        <p:spPr>
          <a:xfrm>
            <a:off x="10158984" y="3099816"/>
            <a:ext cx="457200" cy="457200"/>
          </a:xfrm>
          <a:prstGeom prst="ellipse">
            <a:avLst/>
          </a:prstGeom>
          <a:solidFill>
            <a:schemeClr val="accent5"/>
          </a:solidFill>
          <a:ln/>
        </p:spPr>
      </p:sp>
      <p:sp>
        <p:nvSpPr>
          <p:cNvPr id="20" name="collaborateur 15"/>
          <p:cNvSpPr/>
          <p:nvPr/>
        </p:nvSpPr>
        <p:spPr>
          <a:xfrm>
            <a:off x="10817352" y="3099816"/>
            <a:ext cx="457200" cy="457200"/>
          </a:xfrm>
          <a:prstGeom prst="ellipse">
            <a:avLst/>
          </a:prstGeom>
          <a:solidFill>
            <a:schemeClr val="accent5"/>
          </a:solidFill>
          <a:ln/>
        </p:spPr>
      </p:sp>
      <p:sp>
        <p:nvSpPr>
          <p:cNvPr id="21" name="collaborateur 16"/>
          <p:cNvSpPr/>
          <p:nvPr/>
        </p:nvSpPr>
        <p:spPr>
          <a:xfrm>
            <a:off x="8183880" y="3758184"/>
            <a:ext cx="457200" cy="457200"/>
          </a:xfrm>
          <a:prstGeom prst="ellipse">
            <a:avLst/>
          </a:prstGeom>
          <a:solidFill>
            <a:schemeClr val="accent5"/>
          </a:solidFill>
          <a:ln/>
        </p:spPr>
      </p:sp>
      <p:sp>
        <p:nvSpPr>
          <p:cNvPr id="22" name="collaborateur 17"/>
          <p:cNvSpPr/>
          <p:nvPr/>
        </p:nvSpPr>
        <p:spPr>
          <a:xfrm>
            <a:off x="8842248" y="3758184"/>
            <a:ext cx="457200" cy="457200"/>
          </a:xfrm>
          <a:prstGeom prst="ellipse">
            <a:avLst/>
          </a:prstGeom>
          <a:solidFill>
            <a:schemeClr val="accent1"/>
          </a:solidFill>
          <a:ln/>
        </p:spPr>
      </p:sp>
      <p:sp>
        <p:nvSpPr>
          <p:cNvPr id="23" name="collaborateur 18"/>
          <p:cNvSpPr/>
          <p:nvPr/>
        </p:nvSpPr>
        <p:spPr>
          <a:xfrm>
            <a:off x="9500616" y="3758184"/>
            <a:ext cx="457200" cy="457200"/>
          </a:xfrm>
          <a:prstGeom prst="ellipse">
            <a:avLst/>
          </a:prstGeom>
          <a:solidFill>
            <a:schemeClr val="accent5"/>
          </a:solidFill>
          <a:ln/>
        </p:spPr>
      </p:sp>
      <p:sp>
        <p:nvSpPr>
          <p:cNvPr id="24" name="collaborateur 19"/>
          <p:cNvSpPr/>
          <p:nvPr/>
        </p:nvSpPr>
        <p:spPr>
          <a:xfrm>
            <a:off x="10158984" y="3758184"/>
            <a:ext cx="457200" cy="457200"/>
          </a:xfrm>
          <a:prstGeom prst="ellipse">
            <a:avLst/>
          </a:prstGeom>
          <a:solidFill>
            <a:schemeClr val="accent5"/>
          </a:solidFill>
          <a:ln/>
        </p:spPr>
      </p:sp>
      <p:sp>
        <p:nvSpPr>
          <p:cNvPr id="25" name="collaborateur 20"/>
          <p:cNvSpPr/>
          <p:nvPr/>
        </p:nvSpPr>
        <p:spPr>
          <a:xfrm>
            <a:off x="10817352" y="3758184"/>
            <a:ext cx="457200" cy="457200"/>
          </a:xfrm>
          <a:prstGeom prst="ellipse">
            <a:avLst/>
          </a:prstGeom>
          <a:solidFill>
            <a:schemeClr val="accent5"/>
          </a:solidFill>
          <a:ln/>
        </p:spPr>
      </p:sp>
      <p:sp>
        <p:nvSpPr>
          <p:cNvPr id="26" name="collaborateur 21"/>
          <p:cNvSpPr/>
          <p:nvPr/>
        </p:nvSpPr>
        <p:spPr>
          <a:xfrm>
            <a:off x="8183880" y="4416552"/>
            <a:ext cx="457200" cy="457200"/>
          </a:xfrm>
          <a:prstGeom prst="ellipse">
            <a:avLst/>
          </a:prstGeom>
          <a:solidFill>
            <a:schemeClr val="accent5"/>
          </a:solidFill>
          <a:ln/>
        </p:spPr>
      </p:sp>
      <p:sp>
        <p:nvSpPr>
          <p:cNvPr id="27" name="collaborateur 22"/>
          <p:cNvSpPr/>
          <p:nvPr/>
        </p:nvSpPr>
        <p:spPr>
          <a:xfrm>
            <a:off x="8842248" y="4416552"/>
            <a:ext cx="457200" cy="457200"/>
          </a:xfrm>
          <a:prstGeom prst="ellipse">
            <a:avLst/>
          </a:prstGeom>
          <a:solidFill>
            <a:schemeClr val="accent5"/>
          </a:solidFill>
          <a:ln/>
        </p:spPr>
      </p:sp>
      <p:sp>
        <p:nvSpPr>
          <p:cNvPr id="28" name="collaborateur 23"/>
          <p:cNvSpPr/>
          <p:nvPr/>
        </p:nvSpPr>
        <p:spPr>
          <a:xfrm>
            <a:off x="9500616" y="4416552"/>
            <a:ext cx="457200" cy="457200"/>
          </a:xfrm>
          <a:prstGeom prst="ellipse">
            <a:avLst/>
          </a:prstGeom>
          <a:solidFill>
            <a:schemeClr val="accent1"/>
          </a:solidFill>
          <a:ln/>
        </p:spPr>
      </p:sp>
      <p:sp>
        <p:nvSpPr>
          <p:cNvPr id="29" name="collaborateur 24"/>
          <p:cNvSpPr/>
          <p:nvPr/>
        </p:nvSpPr>
        <p:spPr>
          <a:xfrm>
            <a:off x="10158984" y="4416552"/>
            <a:ext cx="457200" cy="457200"/>
          </a:xfrm>
          <a:prstGeom prst="ellipse">
            <a:avLst/>
          </a:prstGeom>
          <a:solidFill>
            <a:schemeClr val="accent5"/>
          </a:solidFill>
          <a:ln/>
        </p:spPr>
      </p:sp>
      <p:sp>
        <p:nvSpPr>
          <p:cNvPr id="30" name="collaborateur 25"/>
          <p:cNvSpPr/>
          <p:nvPr/>
        </p:nvSpPr>
        <p:spPr>
          <a:xfrm>
            <a:off x="10817352" y="4416552"/>
            <a:ext cx="457200" cy="457200"/>
          </a:xfrm>
          <a:prstGeom prst="ellipse">
            <a:avLst/>
          </a:prstGeom>
          <a:solidFill>
            <a:schemeClr val="accent5"/>
          </a:solidFill>
          <a:ln/>
        </p:spPr>
      </p:sp>
      <p:sp>
        <p:nvSpPr>
          <p:cNvPr id="31" name="Text 29"/>
          <p:cNvSpPr txBox="1"/>
          <p:nvPr/>
        </p:nvSpPr>
        <p:spPr>
          <a:xfrm>
            <a:off x="8183880" y="5120640"/>
            <a:ext cx="3108960" cy="640080"/>
          </a:xfrm>
          <a:prstGeom prst="rect">
            <a:avLst/>
          </a:prstGeom>
          <a:noFill/>
          <a:ln/>
        </p:spPr>
        <p:txBody>
          <a:bodyPr wrap="square" lIns="0" tIns="0" rIns="0" bIns="0" rtlCol="0" anchor="t"/>
          <a:lstStyle/>
          <a:p>
            <a:pPr indent="0" marL="0">
              <a:buNone/>
            </a:pPr>
            <a:r>
              <a:rPr lang="en-US" sz="1400" dirty="0">
                <a:solidFill>
                  <a:schemeClr val="bg2"/>
                </a:solidFill>
              </a:rPr>
              <a:t>1 collaborateur sur 6 a quitté l'entreprise : 237 départs sur 1 470 (16,1 %)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INTRODUCTION</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Mission et messages clés</a:t>
            </a:r>
            <a:endParaRPr lang="en-US" sz="3400" dirty="0"/>
          </a:p>
        </p:txBody>
      </p:sp>
      <p:sp>
        <p:nvSpPr>
          <p:cNvPr id="4" name="Text 2"/>
          <p:cNvSpPr txBox="1"/>
          <p:nvPr/>
        </p:nvSpPr>
        <p:spPr>
          <a:xfrm>
            <a:off x="548640" y="1600200"/>
            <a:ext cx="4206240" cy="365760"/>
          </a:xfrm>
          <a:prstGeom prst="rect">
            <a:avLst/>
          </a:prstGeom>
          <a:noFill/>
          <a:ln/>
        </p:spPr>
        <p:txBody>
          <a:bodyPr wrap="square" lIns="0" tIns="0" rIns="0" bIns="0" rtlCol="0" anchor="t"/>
          <a:lstStyle/>
          <a:p>
            <a:pPr indent="0" marL="0">
              <a:buNone/>
            </a:pPr>
            <a:r>
              <a:rPr lang="en-US" sz="2000" b="1" dirty="0">
                <a:solidFill>
                  <a:schemeClr val="tx1"/>
                </a:solidFill>
              </a:rPr>
              <a:t>La demande du SIRH</a:t>
            </a:r>
            <a:endParaRPr lang="en-US" sz="2000" dirty="0"/>
          </a:p>
        </p:txBody>
      </p:sp>
      <p:sp>
        <p:nvSpPr>
          <p:cNvPr id="5" name="pastille 1"/>
          <p:cNvSpPr/>
          <p:nvPr/>
        </p:nvSpPr>
        <p:spPr>
          <a:xfrm>
            <a:off x="548640" y="2468880"/>
            <a:ext cx="457200" cy="457200"/>
          </a:xfrm>
          <a:prstGeom prst="ellipse">
            <a:avLst/>
          </a:prstGeom>
          <a:solidFill>
            <a:schemeClr val="accent1"/>
          </a:solidFill>
          <a:ln/>
        </p:spPr>
      </p:sp>
      <p:sp>
        <p:nvSpPr>
          <p:cNvPr id="6" name="numero 1"/>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188720" y="2450592"/>
            <a:ext cx="3566160" cy="822960"/>
          </a:xfrm>
          <a:prstGeom prst="rect">
            <a:avLst/>
          </a:prstGeom>
          <a:noFill/>
          <a:ln/>
        </p:spPr>
        <p:txBody>
          <a:bodyPr wrap="square" lIns="0" tIns="0" rIns="0" bIns="0" rtlCol="0" anchor="t"/>
          <a:lstStyle/>
          <a:p>
            <a:pPr indent="0" marL="0">
              <a:buNone/>
            </a:pPr>
            <a:r>
              <a:rPr lang="en-US" sz="1600" dirty="0">
                <a:solidFill>
                  <a:schemeClr val="tx1"/>
                </a:solidFill>
              </a:rPr>
              <a:t>Identifier ce qui distingue les partants des collaborateurs qui restent</a:t>
            </a:r>
            <a:endParaRPr lang="en-US" sz="1600" dirty="0"/>
          </a:p>
        </p:txBody>
      </p:sp>
      <p:sp>
        <p:nvSpPr>
          <p:cNvPr id="8" name="pastille 2"/>
          <p:cNvSpPr/>
          <p:nvPr/>
        </p:nvSpPr>
        <p:spPr>
          <a:xfrm>
            <a:off x="548640" y="3840480"/>
            <a:ext cx="457200" cy="457200"/>
          </a:xfrm>
          <a:prstGeom prst="ellipse">
            <a:avLst/>
          </a:prstGeom>
          <a:solidFill>
            <a:schemeClr val="accent1"/>
          </a:solidFill>
          <a:ln/>
        </p:spPr>
      </p:sp>
      <p:sp>
        <p:nvSpPr>
          <p:cNvPr id="9" name="numero 2"/>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188720" y="3822192"/>
            <a:ext cx="3566160" cy="822960"/>
          </a:xfrm>
          <a:prstGeom prst="rect">
            <a:avLst/>
          </a:prstGeom>
          <a:noFill/>
          <a:ln/>
        </p:spPr>
        <p:txBody>
          <a:bodyPr wrap="square" lIns="0" tIns="0" rIns="0" bIns="0" rtlCol="0" anchor="t"/>
          <a:lstStyle/>
          <a:p>
            <a:pPr indent="0" marL="0">
              <a:buNone/>
            </a:pPr>
            <a:r>
              <a:rPr lang="en-US" sz="1600" dirty="0">
                <a:solidFill>
                  <a:schemeClr val="tx1"/>
                </a:solidFill>
              </a:rPr>
              <a:t>Prédire la probabilité de départ de chaque collaborateur</a:t>
            </a:r>
            <a:endParaRPr lang="en-US" sz="1600" dirty="0"/>
          </a:p>
        </p:txBody>
      </p:sp>
      <p:sp>
        <p:nvSpPr>
          <p:cNvPr id="11" name="pastille 3"/>
          <p:cNvSpPr/>
          <p:nvPr/>
        </p:nvSpPr>
        <p:spPr>
          <a:xfrm>
            <a:off x="548640" y="5212080"/>
            <a:ext cx="457200" cy="457200"/>
          </a:xfrm>
          <a:prstGeom prst="ellipse">
            <a:avLst/>
          </a:prstGeom>
          <a:solidFill>
            <a:schemeClr val="accent1"/>
          </a:solidFill>
          <a:ln/>
        </p:spPr>
      </p:sp>
      <p:sp>
        <p:nvSpPr>
          <p:cNvPr id="12" name="numero 3"/>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188720" y="5193792"/>
            <a:ext cx="3566160" cy="822960"/>
          </a:xfrm>
          <a:prstGeom prst="rect">
            <a:avLst/>
          </a:prstGeom>
          <a:noFill/>
          <a:ln/>
        </p:spPr>
        <p:txBody>
          <a:bodyPr wrap="square" lIns="0" tIns="0" rIns="0" bIns="0" rtlCol="0" anchor="t"/>
          <a:lstStyle/>
          <a:p>
            <a:pPr indent="0" marL="0">
              <a:buNone/>
            </a:pPr>
            <a:r>
              <a:rPr lang="en-US" sz="1600" dirty="0">
                <a:solidFill>
                  <a:schemeClr val="tx1"/>
                </a:solidFill>
              </a:rPr>
              <a:t>Traduire le modèle en causes de départ et en leviers RH</a:t>
            </a:r>
            <a:endParaRPr lang="en-US" sz="1600" dirty="0"/>
          </a:p>
        </p:txBody>
      </p:sp>
      <p:sp>
        <p:nvSpPr>
          <p:cNvPr id="14" name="Text 12"/>
          <p:cNvSpPr txBox="1"/>
          <p:nvPr/>
        </p:nvSpPr>
        <p:spPr>
          <a:xfrm>
            <a:off x="5257800" y="1600200"/>
            <a:ext cx="6309360" cy="365760"/>
          </a:xfrm>
          <a:prstGeom prst="rect">
            <a:avLst/>
          </a:prstGeom>
          <a:noFill/>
          <a:ln/>
        </p:spPr>
        <p:txBody>
          <a:bodyPr wrap="square" lIns="0" tIns="0" rIns="0" bIns="0" rtlCol="0" anchor="t"/>
          <a:lstStyle/>
          <a:p>
            <a:pPr indent="0" marL="0">
              <a:buNone/>
            </a:pPr>
            <a:r>
              <a:rPr lang="en-US" sz="2000" b="1" dirty="0">
                <a:solidFill>
                  <a:schemeClr val="tx1"/>
                </a:solidFill>
              </a:rPr>
              <a:t>Ce que je veux que vous reteniez</a:t>
            </a:r>
            <a:endParaRPr lang="en-US" sz="2000" dirty="0"/>
          </a:p>
        </p:txBody>
      </p:sp>
      <p:sp>
        <p:nvSpPr>
          <p:cNvPr id="15" name="message 1"/>
          <p:cNvSpPr/>
          <p:nvPr/>
        </p:nvSpPr>
        <p:spPr>
          <a:xfrm>
            <a:off x="5257800" y="2103120"/>
            <a:ext cx="6382512" cy="1188720"/>
          </a:xfrm>
          <a:prstGeom prst="roundRect">
            <a:avLst>
              <a:gd name="adj" fmla="val 6154"/>
            </a:avLst>
          </a:prstGeom>
          <a:solidFill>
            <a:schemeClr val="bg2"/>
          </a:solidFill>
          <a:ln/>
        </p:spPr>
      </p:sp>
      <p:sp>
        <p:nvSpPr>
          <p:cNvPr id="16" name="disque LuClock"/>
          <p:cNvSpPr/>
          <p:nvPr/>
        </p:nvSpPr>
        <p:spPr>
          <a:xfrm>
            <a:off x="5486400" y="2377440"/>
            <a:ext cx="640080" cy="640080"/>
          </a:xfrm>
          <a:prstGeom prst="ellipse">
            <a:avLst/>
          </a:prstGeom>
          <a:solidFill>
            <a:schemeClr val="tx1"/>
          </a:solidFill>
          <a:ln/>
        </p:spPr>
      </p:sp>
      <p:pic>
        <p:nvPicPr>
          <p:cNvPr id="17" name="icone LuClock" descr="preencoded.png">    </p:cNvPr>
          <p:cNvPicPr>
            <a:picLocks noChangeAspect="1"/>
          </p:cNvPicPr>
          <p:nvPr/>
        </p:nvPicPr>
        <p:blipFill>
          <a:blip r:embed="rId1"/>
          <a:stretch>
            <a:fillRect/>
          </a:stretch>
        </p:blipFill>
        <p:spPr>
          <a:xfrm>
            <a:off x="5640019" y="2531059"/>
            <a:ext cx="332842" cy="332842"/>
          </a:xfrm>
          <a:prstGeom prst="rect">
            <a:avLst/>
          </a:prstGeom>
        </p:spPr>
      </p:pic>
      <p:sp>
        <p:nvSpPr>
          <p:cNvPr id="18" name="Text 15"/>
          <p:cNvSpPr txBox="1"/>
          <p:nvPr/>
        </p:nvSpPr>
        <p:spPr>
          <a:xfrm>
            <a:off x="6355080" y="2286000"/>
            <a:ext cx="5120640" cy="365760"/>
          </a:xfrm>
          <a:prstGeom prst="rect">
            <a:avLst/>
          </a:prstGeom>
          <a:noFill/>
          <a:ln/>
        </p:spPr>
        <p:txBody>
          <a:bodyPr wrap="square" lIns="0" tIns="0" rIns="0" bIns="0" rtlCol="0" anchor="t"/>
          <a:lstStyle/>
          <a:p>
            <a:pPr indent="0" marL="0">
              <a:buNone/>
            </a:pPr>
            <a:r>
              <a:rPr lang="en-US" sz="1700" b="1" dirty="0">
                <a:solidFill>
                  <a:schemeClr val="tx1"/>
                </a:solidFill>
              </a:rPr>
              <a:t>Heures supplémentaires : facteur de départ n° 1</a:t>
            </a:r>
            <a:endParaRPr lang="en-US" sz="1700" dirty="0"/>
          </a:p>
        </p:txBody>
      </p:sp>
      <p:sp>
        <p:nvSpPr>
          <p:cNvPr id="19" name="Text 16"/>
          <p:cNvSpPr txBox="1"/>
          <p:nvPr/>
        </p:nvSpPr>
        <p:spPr>
          <a:xfrm>
            <a:off x="6355080" y="2670048"/>
            <a:ext cx="5120640" cy="548640"/>
          </a:xfrm>
          <a:prstGeom prst="rect">
            <a:avLst/>
          </a:prstGeom>
          <a:noFill/>
          <a:ln/>
        </p:spPr>
        <p:txBody>
          <a:bodyPr wrap="square" lIns="0" tIns="0" rIns="0" bIns="0" rtlCol="0" anchor="t"/>
          <a:lstStyle/>
          <a:p>
            <a:pPr indent="0" marL="0">
              <a:buNone/>
            </a:pPr>
            <a:r>
              <a:rPr lang="en-US" sz="1400" dirty="0">
                <a:solidFill>
                  <a:schemeClr val="accent5"/>
                </a:solidFill>
              </a:rPr>
              <a:t>30,5 % de départs contre 10,4 % sans heures sup., en tête des trois méthodes d'importance</a:t>
            </a:r>
            <a:endParaRPr lang="en-US" sz="1400" dirty="0"/>
          </a:p>
        </p:txBody>
      </p:sp>
      <p:sp>
        <p:nvSpPr>
          <p:cNvPr id="20" name="message 2"/>
          <p:cNvSpPr/>
          <p:nvPr/>
        </p:nvSpPr>
        <p:spPr>
          <a:xfrm>
            <a:off x="5257800" y="3474720"/>
            <a:ext cx="6382512" cy="1188720"/>
          </a:xfrm>
          <a:prstGeom prst="roundRect">
            <a:avLst>
              <a:gd name="adj" fmla="val 6154"/>
            </a:avLst>
          </a:prstGeom>
          <a:solidFill>
            <a:schemeClr val="bg2"/>
          </a:solidFill>
          <a:ln/>
        </p:spPr>
      </p:sp>
      <p:sp>
        <p:nvSpPr>
          <p:cNvPr id="21" name="disque LuTarget"/>
          <p:cNvSpPr/>
          <p:nvPr/>
        </p:nvSpPr>
        <p:spPr>
          <a:xfrm>
            <a:off x="5486400" y="3749040"/>
            <a:ext cx="640080" cy="640080"/>
          </a:xfrm>
          <a:prstGeom prst="ellipse">
            <a:avLst/>
          </a:prstGeom>
          <a:solidFill>
            <a:schemeClr val="tx1"/>
          </a:solidFill>
          <a:ln/>
        </p:spPr>
      </p:sp>
      <p:pic>
        <p:nvPicPr>
          <p:cNvPr id="22" name="icone LuTarget" descr="preencoded.png">    </p:cNvPr>
          <p:cNvPicPr>
            <a:picLocks noChangeAspect="1"/>
          </p:cNvPicPr>
          <p:nvPr/>
        </p:nvPicPr>
        <p:blipFill>
          <a:blip r:embed="rId2"/>
          <a:stretch>
            <a:fillRect/>
          </a:stretch>
        </p:blipFill>
        <p:spPr>
          <a:xfrm>
            <a:off x="5640019" y="3902659"/>
            <a:ext cx="332842" cy="332842"/>
          </a:xfrm>
          <a:prstGeom prst="rect">
            <a:avLst/>
          </a:prstGeom>
        </p:spPr>
      </p:pic>
      <p:sp>
        <p:nvSpPr>
          <p:cNvPr id="23" name="Text 19"/>
          <p:cNvSpPr txBox="1"/>
          <p:nvPr/>
        </p:nvSpPr>
        <p:spPr>
          <a:xfrm>
            <a:off x="6355080" y="3657600"/>
            <a:ext cx="5120640" cy="365760"/>
          </a:xfrm>
          <a:prstGeom prst="rect">
            <a:avLst/>
          </a:prstGeom>
          <a:noFill/>
          <a:ln/>
        </p:spPr>
        <p:txBody>
          <a:bodyPr wrap="square" lIns="0" tIns="0" rIns="0" bIns="0" rtlCol="0" anchor="t"/>
          <a:lstStyle/>
          <a:p>
            <a:pPr indent="0" marL="0">
              <a:buNone/>
            </a:pPr>
            <a:r>
              <a:rPr lang="en-US" sz="1700" b="1" dirty="0">
                <a:solidFill>
                  <a:schemeClr val="tx1"/>
                </a:solidFill>
              </a:rPr>
              <a:t>Un modèle simple détecte 3 départs sur 4</a:t>
            </a:r>
            <a:endParaRPr lang="en-US" sz="1700" dirty="0"/>
          </a:p>
        </p:txBody>
      </p:sp>
      <p:sp>
        <p:nvSpPr>
          <p:cNvPr id="24" name="Text 20"/>
          <p:cNvSpPr txBox="1"/>
          <p:nvPr/>
        </p:nvSpPr>
        <p:spPr>
          <a:xfrm>
            <a:off x="6355080" y="4041648"/>
            <a:ext cx="5120640" cy="548640"/>
          </a:xfrm>
          <a:prstGeom prst="rect">
            <a:avLst/>
          </a:prstGeom>
          <a:noFill/>
          <a:ln/>
        </p:spPr>
        <p:txBody>
          <a:bodyPr wrap="square" lIns="0" tIns="0" rIns="0" bIns="0" rtlCol="0" anchor="t"/>
          <a:lstStyle/>
          <a:p>
            <a:pPr indent="0" marL="0">
              <a:buNone/>
            </a:pPr>
            <a:r>
              <a:rPr lang="en-US" sz="1400" dirty="0">
                <a:solidFill>
                  <a:schemeClr val="accent5"/>
                </a:solidFill>
              </a:rPr>
              <a:t>Régression logistique pondérée : 36 départs détectés sur 47 sur le jeu de test</a:t>
            </a:r>
            <a:endParaRPr lang="en-US" sz="1400" dirty="0"/>
          </a:p>
        </p:txBody>
      </p:sp>
      <p:sp>
        <p:nvSpPr>
          <p:cNvPr id="25" name="message 3"/>
          <p:cNvSpPr/>
          <p:nvPr/>
        </p:nvSpPr>
        <p:spPr>
          <a:xfrm>
            <a:off x="5257800" y="4846320"/>
            <a:ext cx="6382512" cy="1188720"/>
          </a:xfrm>
          <a:prstGeom prst="roundRect">
            <a:avLst>
              <a:gd name="adj" fmla="val 6154"/>
            </a:avLst>
          </a:prstGeom>
          <a:solidFill>
            <a:schemeClr val="bg2"/>
          </a:solidFill>
          <a:ln/>
        </p:spPr>
      </p:sp>
      <p:sp>
        <p:nvSpPr>
          <p:cNvPr id="26" name="disque LuMessageSquare"/>
          <p:cNvSpPr/>
          <p:nvPr/>
        </p:nvSpPr>
        <p:spPr>
          <a:xfrm>
            <a:off x="5486400" y="5120640"/>
            <a:ext cx="640080" cy="640080"/>
          </a:xfrm>
          <a:prstGeom prst="ellipse">
            <a:avLst/>
          </a:prstGeom>
          <a:solidFill>
            <a:schemeClr val="tx1"/>
          </a:solidFill>
          <a:ln/>
        </p:spPr>
      </p:sp>
      <p:pic>
        <p:nvPicPr>
          <p:cNvPr id="27" name="icone LuMessageSquare" descr="preencoded.png">    </p:cNvPr>
          <p:cNvPicPr>
            <a:picLocks noChangeAspect="1"/>
          </p:cNvPicPr>
          <p:nvPr/>
        </p:nvPicPr>
        <p:blipFill>
          <a:blip r:embed="rId3"/>
          <a:stretch>
            <a:fillRect/>
          </a:stretch>
        </p:blipFill>
        <p:spPr>
          <a:xfrm>
            <a:off x="5640019" y="5274259"/>
            <a:ext cx="332842" cy="332842"/>
          </a:xfrm>
          <a:prstGeom prst="rect">
            <a:avLst/>
          </a:prstGeom>
        </p:spPr>
      </p:pic>
      <p:sp>
        <p:nvSpPr>
          <p:cNvPr id="28" name="Text 23"/>
          <p:cNvSpPr txBox="1"/>
          <p:nvPr/>
        </p:nvSpPr>
        <p:spPr>
          <a:xfrm>
            <a:off x="6355080" y="5029200"/>
            <a:ext cx="5120640" cy="365760"/>
          </a:xfrm>
          <a:prstGeom prst="rect">
            <a:avLst/>
          </a:prstGeom>
          <a:noFill/>
          <a:ln/>
        </p:spPr>
        <p:txBody>
          <a:bodyPr wrap="square" lIns="0" tIns="0" rIns="0" bIns="0" rtlCol="0" anchor="t"/>
          <a:lstStyle/>
          <a:p>
            <a:pPr indent="0" marL="0">
              <a:buNone/>
            </a:pPr>
            <a:r>
              <a:rPr lang="en-US" sz="1700" b="1" dirty="0">
                <a:solidFill>
                  <a:schemeClr val="tx1"/>
                </a:solidFill>
              </a:rPr>
              <a:t>Chaque alerte devient un entretien préparé</a:t>
            </a:r>
            <a:endParaRPr lang="en-US" sz="1700" dirty="0"/>
          </a:p>
        </p:txBody>
      </p:sp>
      <p:sp>
        <p:nvSpPr>
          <p:cNvPr id="29" name="Text 24"/>
          <p:cNvSpPr txBox="1"/>
          <p:nvPr/>
        </p:nvSpPr>
        <p:spPr>
          <a:xfrm>
            <a:off x="6355080" y="5413248"/>
            <a:ext cx="5120640" cy="548640"/>
          </a:xfrm>
          <a:prstGeom prst="rect">
            <a:avLst/>
          </a:prstGeom>
          <a:noFill/>
          <a:ln/>
        </p:spPr>
        <p:txBody>
          <a:bodyPr wrap="square" lIns="0" tIns="0" rIns="0" bIns="0" rtlCol="0" anchor="t"/>
          <a:lstStyle/>
          <a:p>
            <a:pPr indent="0" marL="0">
              <a:buNone/>
            </a:pPr>
            <a:r>
              <a:rPr lang="en-US" sz="1400" dirty="0">
                <a:solidFill>
                  <a:schemeClr val="accent5"/>
                </a:solidFill>
              </a:rPr>
              <a:t>Une fiche par collaborateur, leviers RH en vert, variables sensibles jamais affichées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CONTEXTE ET DONNÉES</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Trois sources, 1 470 collaborateurs</a:t>
            </a:r>
            <a:endParaRPr lang="en-US" sz="3400" dirty="0"/>
          </a:p>
        </p:txBody>
      </p:sp>
      <p:sp>
        <p:nvSpPr>
          <p:cNvPr id="4" name="source 1"/>
          <p:cNvSpPr/>
          <p:nvPr/>
        </p:nvSpPr>
        <p:spPr>
          <a:xfrm>
            <a:off x="548640" y="1600200"/>
            <a:ext cx="3566160" cy="1234440"/>
          </a:xfrm>
          <a:prstGeom prst="roundRect">
            <a:avLst>
              <a:gd name="adj" fmla="val 5926"/>
            </a:avLst>
          </a:prstGeom>
          <a:solidFill>
            <a:schemeClr val="bg2"/>
          </a:solidFill>
          <a:ln/>
        </p:spPr>
      </p:sp>
      <p:sp>
        <p:nvSpPr>
          <p:cNvPr id="5" name="Text 3"/>
          <p:cNvSpPr txBox="1"/>
          <p:nvPr/>
        </p:nvSpPr>
        <p:spPr>
          <a:xfrm>
            <a:off x="731520" y="1737360"/>
            <a:ext cx="3200400" cy="320040"/>
          </a:xfrm>
          <a:prstGeom prst="rect">
            <a:avLst/>
          </a:prstGeom>
          <a:noFill/>
          <a:ln/>
        </p:spPr>
        <p:txBody>
          <a:bodyPr wrap="square" lIns="0" tIns="0" rIns="0" bIns="0" rtlCol="0" anchor="t"/>
          <a:lstStyle/>
          <a:p>
            <a:pPr indent="0" marL="0">
              <a:buNone/>
            </a:pPr>
            <a:r>
              <a:rPr lang="en-US" sz="1600" b="1" dirty="0">
                <a:solidFill>
                  <a:schemeClr val="tx1"/>
                </a:solidFill>
              </a:rPr>
              <a:t>Extrait SIRH</a:t>
            </a:r>
            <a:endParaRPr lang="en-US" sz="1600" dirty="0"/>
          </a:p>
        </p:txBody>
      </p:sp>
      <p:sp>
        <p:nvSpPr>
          <p:cNvPr id="6" name="Text 4"/>
          <p:cNvSpPr txBox="1"/>
          <p:nvPr/>
        </p:nvSpPr>
        <p:spPr>
          <a:xfrm>
            <a:off x="731520" y="2075688"/>
            <a:ext cx="3200400" cy="365760"/>
          </a:xfrm>
          <a:prstGeom prst="rect">
            <a:avLst/>
          </a:prstGeom>
          <a:noFill/>
          <a:ln/>
        </p:spPr>
        <p:txBody>
          <a:bodyPr wrap="square" lIns="0" tIns="0" rIns="0" bIns="0" rtlCol="0" anchor="t"/>
          <a:lstStyle/>
          <a:p>
            <a:pPr indent="0" marL="0">
              <a:buNone/>
            </a:pPr>
            <a:r>
              <a:rPr lang="en-US" sz="1400" dirty="0">
                <a:solidFill>
                  <a:schemeClr val="tx1"/>
                </a:solidFill>
              </a:rPr>
              <a:t>12 colonnes : poste, salaire, ancienneté</a:t>
            </a:r>
            <a:endParaRPr lang="en-US" sz="1400" dirty="0"/>
          </a:p>
        </p:txBody>
      </p:sp>
      <p:sp>
        <p:nvSpPr>
          <p:cNvPr id="7" name="Text 5"/>
          <p:cNvSpPr txBox="1"/>
          <p:nvPr/>
        </p:nvSpPr>
        <p:spPr>
          <a:xfrm>
            <a:off x="731520" y="2441448"/>
            <a:ext cx="3200400" cy="274320"/>
          </a:xfrm>
          <a:prstGeom prst="rect">
            <a:avLst/>
          </a:prstGeom>
          <a:noFill/>
          <a:ln/>
        </p:spPr>
        <p:txBody>
          <a:bodyPr wrap="square" lIns="0" tIns="0" rIns="0" bIns="0" rtlCol="0" anchor="t"/>
          <a:lstStyle/>
          <a:p>
            <a:pPr indent="0" marL="0">
              <a:buNone/>
            </a:pPr>
            <a:r>
              <a:rPr lang="en-US" sz="1200" i="1" dirty="0">
                <a:solidFill>
                  <a:schemeClr val="accent5"/>
                </a:solidFill>
              </a:rPr>
              <a:t>clé id_employee</a:t>
            </a:r>
            <a:endParaRPr lang="en-US" sz="1200" dirty="0"/>
          </a:p>
        </p:txBody>
      </p:sp>
      <p:sp>
        <p:nvSpPr>
          <p:cNvPr id="8" name="liaison 1"/>
          <p:cNvSpPr/>
          <p:nvPr/>
        </p:nvSpPr>
        <p:spPr>
          <a:xfrm>
            <a:off x="4114800" y="2217420"/>
            <a:ext cx="274320" cy="0"/>
          </a:xfrm>
          <a:prstGeom prst="line">
            <a:avLst/>
          </a:prstGeom>
          <a:noFill/>
          <a:ln w="15875">
            <a:solidFill>
              <a:schemeClr val="accent5"/>
            </a:solidFill>
            <a:prstDash val="solid"/>
          </a:ln>
        </p:spPr>
      </p:sp>
      <p:sp>
        <p:nvSpPr>
          <p:cNvPr id="9" name="source 2"/>
          <p:cNvSpPr/>
          <p:nvPr/>
        </p:nvSpPr>
        <p:spPr>
          <a:xfrm>
            <a:off x="548640" y="3063240"/>
            <a:ext cx="3566160" cy="1234440"/>
          </a:xfrm>
          <a:prstGeom prst="roundRect">
            <a:avLst>
              <a:gd name="adj" fmla="val 5926"/>
            </a:avLst>
          </a:prstGeom>
          <a:solidFill>
            <a:schemeClr val="bg2"/>
          </a:solidFill>
          <a:ln/>
        </p:spPr>
      </p:sp>
      <p:sp>
        <p:nvSpPr>
          <p:cNvPr id="10" name="Text 8"/>
          <p:cNvSpPr txBox="1"/>
          <p:nvPr/>
        </p:nvSpPr>
        <p:spPr>
          <a:xfrm>
            <a:off x="731520" y="3200400"/>
            <a:ext cx="3200400" cy="320040"/>
          </a:xfrm>
          <a:prstGeom prst="rect">
            <a:avLst/>
          </a:prstGeom>
          <a:noFill/>
          <a:ln/>
        </p:spPr>
        <p:txBody>
          <a:bodyPr wrap="square" lIns="0" tIns="0" rIns="0" bIns="0" rtlCol="0" anchor="t"/>
          <a:lstStyle/>
          <a:p>
            <a:pPr indent="0" marL="0">
              <a:buNone/>
            </a:pPr>
            <a:r>
              <a:rPr lang="en-US" sz="1600" b="1" dirty="0">
                <a:solidFill>
                  <a:schemeClr val="tx1"/>
                </a:solidFill>
              </a:rPr>
              <a:t>Évaluations annuelles</a:t>
            </a:r>
            <a:endParaRPr lang="en-US" sz="1600" dirty="0"/>
          </a:p>
        </p:txBody>
      </p:sp>
      <p:sp>
        <p:nvSpPr>
          <p:cNvPr id="11" name="Text 9"/>
          <p:cNvSpPr txBox="1"/>
          <p:nvPr/>
        </p:nvSpPr>
        <p:spPr>
          <a:xfrm>
            <a:off x="731520" y="3538728"/>
            <a:ext cx="3200400" cy="365760"/>
          </a:xfrm>
          <a:prstGeom prst="rect">
            <a:avLst/>
          </a:prstGeom>
          <a:noFill/>
          <a:ln/>
        </p:spPr>
        <p:txBody>
          <a:bodyPr wrap="square" lIns="0" tIns="0" rIns="0" bIns="0" rtlCol="0" anchor="t"/>
          <a:lstStyle/>
          <a:p>
            <a:pPr indent="0" marL="0">
              <a:buNone/>
            </a:pPr>
            <a:r>
              <a:rPr lang="en-US" sz="1400" dirty="0">
                <a:solidFill>
                  <a:schemeClr val="tx1"/>
                </a:solidFill>
              </a:rPr>
              <a:t>10 colonnes : notes, satisfaction</a:t>
            </a:r>
            <a:endParaRPr lang="en-US" sz="1400" dirty="0"/>
          </a:p>
        </p:txBody>
      </p:sp>
      <p:sp>
        <p:nvSpPr>
          <p:cNvPr id="12" name="Text 10"/>
          <p:cNvSpPr txBox="1"/>
          <p:nvPr/>
        </p:nvSpPr>
        <p:spPr>
          <a:xfrm>
            <a:off x="731520" y="3904488"/>
            <a:ext cx="3200400" cy="274320"/>
          </a:xfrm>
          <a:prstGeom prst="rect">
            <a:avLst/>
          </a:prstGeom>
          <a:noFill/>
          <a:ln/>
        </p:spPr>
        <p:txBody>
          <a:bodyPr wrap="square" lIns="0" tIns="0" rIns="0" bIns="0" rtlCol="0" anchor="t"/>
          <a:lstStyle/>
          <a:p>
            <a:pPr indent="0" marL="0">
              <a:buNone/>
            </a:pPr>
            <a:r>
              <a:rPr lang="en-US" sz="1200" i="1" dirty="0">
                <a:solidFill>
                  <a:schemeClr val="accent5"/>
                </a:solidFill>
              </a:rPr>
              <a:t>clé eval_number « E_1 » → 1</a:t>
            </a:r>
            <a:endParaRPr lang="en-US" sz="1200" dirty="0"/>
          </a:p>
        </p:txBody>
      </p:sp>
      <p:sp>
        <p:nvSpPr>
          <p:cNvPr id="13" name="liaison 2"/>
          <p:cNvSpPr/>
          <p:nvPr/>
        </p:nvSpPr>
        <p:spPr>
          <a:xfrm>
            <a:off x="4114800" y="3680460"/>
            <a:ext cx="274320" cy="0"/>
          </a:xfrm>
          <a:prstGeom prst="line">
            <a:avLst/>
          </a:prstGeom>
          <a:noFill/>
          <a:ln w="15875">
            <a:solidFill>
              <a:schemeClr val="accent5"/>
            </a:solidFill>
            <a:prstDash val="solid"/>
          </a:ln>
        </p:spPr>
      </p:sp>
      <p:sp>
        <p:nvSpPr>
          <p:cNvPr id="14" name="source 3"/>
          <p:cNvSpPr/>
          <p:nvPr/>
        </p:nvSpPr>
        <p:spPr>
          <a:xfrm>
            <a:off x="548640" y="4526280"/>
            <a:ext cx="3566160" cy="1234440"/>
          </a:xfrm>
          <a:prstGeom prst="roundRect">
            <a:avLst>
              <a:gd name="adj" fmla="val 5926"/>
            </a:avLst>
          </a:prstGeom>
          <a:solidFill>
            <a:schemeClr val="bg2"/>
          </a:solidFill>
          <a:ln/>
        </p:spPr>
      </p:sp>
      <p:sp>
        <p:nvSpPr>
          <p:cNvPr id="15" name="Text 13"/>
          <p:cNvSpPr txBox="1"/>
          <p:nvPr/>
        </p:nvSpPr>
        <p:spPr>
          <a:xfrm>
            <a:off x="731520" y="4663440"/>
            <a:ext cx="3200400" cy="320040"/>
          </a:xfrm>
          <a:prstGeom prst="rect">
            <a:avLst/>
          </a:prstGeom>
          <a:noFill/>
          <a:ln/>
        </p:spPr>
        <p:txBody>
          <a:bodyPr wrap="square" lIns="0" tIns="0" rIns="0" bIns="0" rtlCol="0" anchor="t"/>
          <a:lstStyle/>
          <a:p>
            <a:pPr indent="0" marL="0">
              <a:buNone/>
            </a:pPr>
            <a:r>
              <a:rPr lang="en-US" sz="1600" b="1" dirty="0">
                <a:solidFill>
                  <a:schemeClr val="tx1"/>
                </a:solidFill>
              </a:rPr>
              <a:t>Sondage bien-être</a:t>
            </a:r>
            <a:endParaRPr lang="en-US" sz="1600" dirty="0"/>
          </a:p>
        </p:txBody>
      </p:sp>
      <p:sp>
        <p:nvSpPr>
          <p:cNvPr id="16" name="Text 14"/>
          <p:cNvSpPr txBox="1"/>
          <p:nvPr/>
        </p:nvSpPr>
        <p:spPr>
          <a:xfrm>
            <a:off x="731520" y="5001768"/>
            <a:ext cx="3200400" cy="365760"/>
          </a:xfrm>
          <a:prstGeom prst="rect">
            <a:avLst/>
          </a:prstGeom>
          <a:noFill/>
          <a:ln/>
        </p:spPr>
        <p:txBody>
          <a:bodyPr wrap="square" lIns="0" tIns="0" rIns="0" bIns="0" rtlCol="0" anchor="t"/>
          <a:lstStyle/>
          <a:p>
            <a:pPr indent="0" marL="0">
              <a:buNone/>
            </a:pPr>
            <a:r>
              <a:rPr lang="en-US" sz="1400" dirty="0">
                <a:solidFill>
                  <a:schemeClr val="tx1"/>
                </a:solidFill>
              </a:rPr>
              <a:t>12 colonnes : PEE, trajet, cible</a:t>
            </a:r>
            <a:endParaRPr lang="en-US" sz="1400" dirty="0"/>
          </a:p>
        </p:txBody>
      </p:sp>
      <p:sp>
        <p:nvSpPr>
          <p:cNvPr id="17" name="Text 15"/>
          <p:cNvSpPr txBox="1"/>
          <p:nvPr/>
        </p:nvSpPr>
        <p:spPr>
          <a:xfrm>
            <a:off x="731520" y="5367528"/>
            <a:ext cx="3200400" cy="274320"/>
          </a:xfrm>
          <a:prstGeom prst="rect">
            <a:avLst/>
          </a:prstGeom>
          <a:noFill/>
          <a:ln/>
        </p:spPr>
        <p:txBody>
          <a:bodyPr wrap="square" lIns="0" tIns="0" rIns="0" bIns="0" rtlCol="0" anchor="t"/>
          <a:lstStyle/>
          <a:p>
            <a:pPr indent="0" marL="0">
              <a:buNone/>
            </a:pPr>
            <a:r>
              <a:rPr lang="en-US" sz="1200" i="1" dirty="0">
                <a:solidFill>
                  <a:schemeClr val="accent5"/>
                </a:solidFill>
              </a:rPr>
              <a:t>clé code_sondage</a:t>
            </a:r>
            <a:endParaRPr lang="en-US" sz="1200" dirty="0"/>
          </a:p>
        </p:txBody>
      </p:sp>
      <p:sp>
        <p:nvSpPr>
          <p:cNvPr id="18" name="liaison 3"/>
          <p:cNvSpPr/>
          <p:nvPr/>
        </p:nvSpPr>
        <p:spPr>
          <a:xfrm>
            <a:off x="4114800" y="5143500"/>
            <a:ext cx="274320" cy="0"/>
          </a:xfrm>
          <a:prstGeom prst="line">
            <a:avLst/>
          </a:prstGeom>
          <a:noFill/>
          <a:ln w="15875">
            <a:solidFill>
              <a:schemeClr val="accent5"/>
            </a:solidFill>
            <a:prstDash val="solid"/>
          </a:ln>
        </p:spPr>
      </p:sp>
      <p:sp>
        <p:nvSpPr>
          <p:cNvPr id="19" name="bus jointure"/>
          <p:cNvSpPr/>
          <p:nvPr/>
        </p:nvSpPr>
        <p:spPr>
          <a:xfrm>
            <a:off x="4389120" y="2217420"/>
            <a:ext cx="0" cy="2926080"/>
          </a:xfrm>
          <a:prstGeom prst="line">
            <a:avLst/>
          </a:prstGeom>
          <a:noFill/>
          <a:ln w="15875">
            <a:solidFill>
              <a:schemeClr val="accent5"/>
            </a:solidFill>
            <a:prstDash val="solid"/>
          </a:ln>
        </p:spPr>
      </p:sp>
      <p:sp>
        <p:nvSpPr>
          <p:cNvPr id="20" name="fleche jointure"/>
          <p:cNvSpPr/>
          <p:nvPr/>
        </p:nvSpPr>
        <p:spPr>
          <a:xfrm>
            <a:off x="4389120" y="3680460"/>
            <a:ext cx="320040" cy="0"/>
          </a:xfrm>
          <a:prstGeom prst="line">
            <a:avLst/>
          </a:prstGeom>
          <a:noFill/>
          <a:ln w="15875">
            <a:solidFill>
              <a:schemeClr val="accent5"/>
            </a:solidFill>
            <a:prstDash val="solid"/>
            <a:tailEnd type="triangle"/>
          </a:ln>
        </p:spPr>
      </p:sp>
      <p:sp>
        <p:nvSpPr>
          <p:cNvPr id="21" name="table centrale"/>
          <p:cNvSpPr/>
          <p:nvPr/>
        </p:nvSpPr>
        <p:spPr>
          <a:xfrm>
            <a:off x="4754880" y="2697480"/>
            <a:ext cx="2926080" cy="1965960"/>
          </a:xfrm>
          <a:prstGeom prst="roundRect">
            <a:avLst>
              <a:gd name="adj" fmla="val 3721"/>
            </a:avLst>
          </a:prstGeom>
          <a:solidFill>
            <a:schemeClr val="tx1"/>
          </a:solidFill>
          <a:ln/>
        </p:spPr>
      </p:sp>
      <p:sp>
        <p:nvSpPr>
          <p:cNvPr id="22" name="Text 20"/>
          <p:cNvSpPr txBox="1"/>
          <p:nvPr/>
        </p:nvSpPr>
        <p:spPr>
          <a:xfrm>
            <a:off x="4983480" y="2880360"/>
            <a:ext cx="2468880" cy="365760"/>
          </a:xfrm>
          <a:prstGeom prst="rect">
            <a:avLst/>
          </a:prstGeom>
          <a:noFill/>
          <a:ln/>
        </p:spPr>
        <p:txBody>
          <a:bodyPr wrap="square" lIns="0" tIns="0" rIns="0" bIns="0" rtlCol="0" anchor="t"/>
          <a:lstStyle/>
          <a:p>
            <a:pPr indent="0" marL="0">
              <a:buNone/>
            </a:pPr>
            <a:r>
              <a:rPr lang="en-US" sz="1700" b="1" dirty="0">
                <a:solidFill>
                  <a:schemeClr val="bg1"/>
                </a:solidFill>
              </a:rPr>
              <a:t>Table centrale</a:t>
            </a:r>
            <a:endParaRPr lang="en-US" sz="1700" dirty="0"/>
          </a:p>
        </p:txBody>
      </p:sp>
      <p:sp>
        <p:nvSpPr>
          <p:cNvPr id="23" name="Text 21"/>
          <p:cNvSpPr txBox="1"/>
          <p:nvPr/>
        </p:nvSpPr>
        <p:spPr>
          <a:xfrm>
            <a:off x="4983480" y="3291840"/>
            <a:ext cx="2468880" cy="640080"/>
          </a:xfrm>
          <a:prstGeom prst="rect">
            <a:avLst/>
          </a:prstGeom>
          <a:noFill/>
          <a:ln/>
        </p:spPr>
        <p:txBody>
          <a:bodyPr wrap="square" lIns="0" tIns="0" rIns="0" bIns="0" rtlCol="0" anchor="t"/>
          <a:lstStyle/>
          <a:p>
            <a:pPr indent="0" marL="0">
              <a:buNone/>
            </a:pPr>
            <a:r>
              <a:rPr lang="en-US" sz="1500" dirty="0">
                <a:solidFill>
                  <a:schemeClr val="bg1"/>
                </a:solidFill>
              </a:rPr>
              <a:t>1 470 lignes × 27 variables explicatives</a:t>
            </a:r>
            <a:endParaRPr lang="en-US" sz="1500" dirty="0"/>
          </a:p>
        </p:txBody>
      </p:sp>
      <p:sp>
        <p:nvSpPr>
          <p:cNvPr id="24" name="Text 22"/>
          <p:cNvSpPr txBox="1"/>
          <p:nvPr/>
        </p:nvSpPr>
        <p:spPr>
          <a:xfrm>
            <a:off x="4983480" y="3931920"/>
            <a:ext cx="2468880" cy="594360"/>
          </a:xfrm>
          <a:prstGeom prst="rect">
            <a:avLst/>
          </a:prstGeom>
          <a:noFill/>
          <a:ln/>
        </p:spPr>
        <p:txBody>
          <a:bodyPr wrap="square" lIns="0" tIns="0" rIns="0" bIns="0" rtlCol="0" anchor="t"/>
          <a:lstStyle/>
          <a:p>
            <a:pPr indent="0" marL="0">
              <a:buNone/>
            </a:pPr>
            <a:r>
              <a:rPr lang="en-US" sz="1300" dirty="0">
                <a:solidFill>
                  <a:schemeClr val="bg2"/>
                </a:solidFill>
              </a:rPr>
              <a:t>Jointure interne un-à-un sur id_employee</a:t>
            </a:r>
            <a:endParaRPr lang="en-US" sz="1300" dirty="0"/>
          </a:p>
        </p:txBody>
      </p:sp>
      <p:sp>
        <p:nvSpPr>
          <p:cNvPr id="25" name="Text 23"/>
          <p:cNvSpPr txBox="1"/>
          <p:nvPr/>
        </p:nvSpPr>
        <p:spPr>
          <a:xfrm>
            <a:off x="8092440" y="1554480"/>
            <a:ext cx="35661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16,1 %</a:t>
            </a:r>
            <a:endParaRPr lang="en-US" sz="5400" dirty="0"/>
          </a:p>
        </p:txBody>
      </p:sp>
      <p:sp>
        <p:nvSpPr>
          <p:cNvPr id="26" name="Text 24"/>
          <p:cNvSpPr txBox="1"/>
          <p:nvPr/>
        </p:nvSpPr>
        <p:spPr>
          <a:xfrm>
            <a:off x="8092440" y="2468880"/>
            <a:ext cx="3547872" cy="594360"/>
          </a:xfrm>
          <a:prstGeom prst="rect">
            <a:avLst/>
          </a:prstGeom>
          <a:noFill/>
          <a:ln/>
        </p:spPr>
        <p:txBody>
          <a:bodyPr wrap="square" lIns="0" tIns="0" rIns="0" bIns="0" rtlCol="0" anchor="t"/>
          <a:lstStyle/>
          <a:p>
            <a:pPr indent="0" marL="0">
              <a:buNone/>
            </a:pPr>
            <a:r>
              <a:rPr lang="en-US" sz="1400" dirty="0">
                <a:solidFill>
                  <a:schemeClr val="accent5"/>
                </a:solidFill>
              </a:rPr>
              <a:t>de départs : 237 collaborateurs sur 1 470, des classes déséquilibrées</a:t>
            </a:r>
            <a:endParaRPr lang="en-US" sz="1400" dirty="0"/>
          </a:p>
        </p:txBody>
      </p:sp>
      <p:pic>
        <p:nvPicPr>
          <p:cNvPr id="27" name="coche 1" descr="preencoded.png">    </p:cNvPr>
          <p:cNvPicPr>
            <a:picLocks noChangeAspect="1"/>
          </p:cNvPicPr>
          <p:nvPr/>
        </p:nvPicPr>
        <p:blipFill>
          <a:blip r:embed="rId1"/>
          <a:stretch>
            <a:fillRect/>
          </a:stretch>
        </p:blipFill>
        <p:spPr>
          <a:xfrm>
            <a:off x="8092440" y="3264408"/>
            <a:ext cx="274320" cy="274320"/>
          </a:xfrm>
          <a:prstGeom prst="rect">
            <a:avLst/>
          </a:prstGeom>
        </p:spPr>
      </p:pic>
      <p:sp>
        <p:nvSpPr>
          <p:cNvPr id="28" name="Text 25"/>
          <p:cNvSpPr txBox="1"/>
          <p:nvPr/>
        </p:nvSpPr>
        <p:spPr>
          <a:xfrm>
            <a:off x="8503920" y="3246120"/>
            <a:ext cx="3136392" cy="640080"/>
          </a:xfrm>
          <a:prstGeom prst="rect">
            <a:avLst/>
          </a:prstGeom>
          <a:noFill/>
          <a:ln/>
        </p:spPr>
        <p:txBody>
          <a:bodyPr wrap="square" lIns="0" tIns="0" rIns="0" bIns="0" rtlCol="0" anchor="t"/>
          <a:lstStyle/>
          <a:p>
            <a:pPr indent="0" marL="0">
              <a:buNone/>
            </a:pPr>
            <a:r>
              <a:rPr lang="en-US" sz="1400" dirty="0">
                <a:solidFill>
                  <a:schemeClr val="tx1"/>
                </a:solidFill>
              </a:rPr>
              <a:t>0 valeur manquante, 0 doublon</a:t>
            </a:r>
            <a:endParaRPr lang="en-US" sz="1400" dirty="0"/>
          </a:p>
        </p:txBody>
      </p:sp>
      <p:pic>
        <p:nvPicPr>
          <p:cNvPr id="29" name="coche 2" descr="preencoded.png">    </p:cNvPr>
          <p:cNvPicPr>
            <a:picLocks noChangeAspect="1"/>
          </p:cNvPicPr>
          <p:nvPr/>
        </p:nvPicPr>
        <p:blipFill>
          <a:blip r:embed="rId2"/>
          <a:stretch>
            <a:fillRect/>
          </a:stretch>
        </p:blipFill>
        <p:spPr>
          <a:xfrm>
            <a:off x="8092440" y="3977640"/>
            <a:ext cx="274320" cy="274320"/>
          </a:xfrm>
          <a:prstGeom prst="rect">
            <a:avLst/>
          </a:prstGeom>
        </p:spPr>
      </p:pic>
      <p:sp>
        <p:nvSpPr>
          <p:cNvPr id="30" name="Text 26"/>
          <p:cNvSpPr txBox="1"/>
          <p:nvPr/>
        </p:nvSpPr>
        <p:spPr>
          <a:xfrm>
            <a:off x="8503920" y="3959352"/>
            <a:ext cx="3136392" cy="640080"/>
          </a:xfrm>
          <a:prstGeom prst="rect">
            <a:avLst/>
          </a:prstGeom>
          <a:noFill/>
          <a:ln/>
        </p:spPr>
        <p:txBody>
          <a:bodyPr wrap="square" lIns="0" tIns="0" rIns="0" bIns="0" rtlCol="0" anchor="t"/>
          <a:lstStyle/>
          <a:p>
            <a:pPr indent="0" marL="0">
              <a:buNone/>
            </a:pPr>
            <a:r>
              <a:rPr lang="en-US" sz="1400" dirty="0">
                <a:solidFill>
                  <a:schemeClr val="tx1"/>
                </a:solidFill>
              </a:rPr>
              <a:t>Mêmes 1 470 identifiants dans les 3 sources : pas de biais de non-réponse</a:t>
            </a:r>
            <a:endParaRPr lang="en-US" sz="1400" dirty="0"/>
          </a:p>
        </p:txBody>
      </p:sp>
      <p:pic>
        <p:nvPicPr>
          <p:cNvPr id="31" name="coche 3" descr="preencoded.png">    </p:cNvPr>
          <p:cNvPicPr>
            <a:picLocks noChangeAspect="1"/>
          </p:cNvPicPr>
          <p:nvPr/>
        </p:nvPicPr>
        <p:blipFill>
          <a:blip r:embed="rId3"/>
          <a:stretch>
            <a:fillRect/>
          </a:stretch>
        </p:blipFill>
        <p:spPr>
          <a:xfrm>
            <a:off x="8092440" y="4690872"/>
            <a:ext cx="274320" cy="274320"/>
          </a:xfrm>
          <a:prstGeom prst="rect">
            <a:avLst/>
          </a:prstGeom>
        </p:spPr>
      </p:pic>
      <p:sp>
        <p:nvSpPr>
          <p:cNvPr id="32" name="Text 27"/>
          <p:cNvSpPr txBox="1"/>
          <p:nvPr/>
        </p:nvSpPr>
        <p:spPr>
          <a:xfrm>
            <a:off x="8503920" y="4672584"/>
            <a:ext cx="3136392" cy="640080"/>
          </a:xfrm>
          <a:prstGeom prst="rect">
            <a:avLst/>
          </a:prstGeom>
          <a:noFill/>
          <a:ln/>
        </p:spPr>
        <p:txBody>
          <a:bodyPr wrap="square" lIns="0" tIns="0" rIns="0" bIns="0" rtlCol="0" anchor="t"/>
          <a:lstStyle/>
          <a:p>
            <a:pPr indent="0" marL="0">
              <a:buNone/>
            </a:pPr>
            <a:r>
              <a:rPr lang="en-US" sz="1400" dirty="0">
                <a:solidFill>
                  <a:schemeClr val="tx1"/>
                </a:solidFill>
              </a:rPr>
              <a:t>6 contrôles de cohérence métier : 0 violation</a:t>
            </a:r>
            <a:endParaRPr lang="en-US" sz="1400" dirty="0"/>
          </a:p>
        </p:txBody>
      </p:sp>
      <p:pic>
        <p:nvPicPr>
          <p:cNvPr id="33" name="coche 4" descr="preencoded.png">    </p:cNvPr>
          <p:cNvPicPr>
            <a:picLocks noChangeAspect="1"/>
          </p:cNvPicPr>
          <p:nvPr/>
        </p:nvPicPr>
        <p:blipFill>
          <a:blip r:embed="rId4"/>
          <a:stretch>
            <a:fillRect/>
          </a:stretch>
        </p:blipFill>
        <p:spPr>
          <a:xfrm>
            <a:off x="8092440" y="5404104"/>
            <a:ext cx="274320" cy="274320"/>
          </a:xfrm>
          <a:prstGeom prst="rect">
            <a:avLst/>
          </a:prstGeom>
        </p:spPr>
      </p:pic>
      <p:sp>
        <p:nvSpPr>
          <p:cNvPr id="34" name="Text 28"/>
          <p:cNvSpPr txBox="1"/>
          <p:nvPr/>
        </p:nvSpPr>
        <p:spPr>
          <a:xfrm>
            <a:off x="8503920" y="5385816"/>
            <a:ext cx="3136392" cy="640080"/>
          </a:xfrm>
          <a:prstGeom prst="rect">
            <a:avLst/>
          </a:prstGeom>
          <a:noFill/>
          <a:ln/>
        </p:spPr>
        <p:txBody>
          <a:bodyPr wrap="square" lIns="0" tIns="0" rIns="0" bIns="0" rtlCol="0" anchor="t"/>
          <a:lstStyle/>
          <a:p>
            <a:pPr indent="0" marL="0">
              <a:buNone/>
            </a:pPr>
            <a:r>
              <a:rPr lang="en-US" sz="1400" dirty="0">
                <a:solidFill>
                  <a:schemeClr val="tx1"/>
                </a:solidFill>
              </a:rPr>
              <a:t>3 colonnes constantes retirées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ANALYSE EXPLORATOIRE  ·  PROFIL</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Partants : plus jeunes, moins payés, récents</a:t>
            </a:r>
            <a:endParaRPr lang="en-US" sz="3400" dirty="0"/>
          </a:p>
        </p:txBody>
      </p:sp>
      <p:sp>
        <p:nvSpPr>
          <p:cNvPr id="4" name="mediane 1"/>
          <p:cNvSpPr/>
          <p:nvPr/>
        </p:nvSpPr>
        <p:spPr>
          <a:xfrm>
            <a:off x="548640" y="1600200"/>
            <a:ext cx="2567864" cy="1417320"/>
          </a:xfrm>
          <a:prstGeom prst="roundRect">
            <a:avLst>
              <a:gd name="adj" fmla="val 5161"/>
            </a:avLst>
          </a:prstGeom>
          <a:solidFill>
            <a:schemeClr val="bg2"/>
          </a:solidFill>
          <a:ln/>
        </p:spPr>
      </p:sp>
      <p:sp>
        <p:nvSpPr>
          <p:cNvPr id="5" name="Text 3"/>
          <p:cNvSpPr txBox="1"/>
          <p:nvPr/>
        </p:nvSpPr>
        <p:spPr>
          <a:xfrm>
            <a:off x="731520" y="1737360"/>
            <a:ext cx="2202104" cy="320040"/>
          </a:xfrm>
          <a:prstGeom prst="rect">
            <a:avLst/>
          </a:prstGeom>
          <a:noFill/>
          <a:ln/>
        </p:spPr>
        <p:txBody>
          <a:bodyPr wrap="square" lIns="0" tIns="0" rIns="0" bIns="0" rtlCol="0" anchor="t"/>
          <a:lstStyle/>
          <a:p>
            <a:pPr indent="0" marL="0">
              <a:buNone/>
            </a:pPr>
            <a:r>
              <a:rPr lang="en-US" sz="1400" b="1" dirty="0">
                <a:solidFill>
                  <a:schemeClr val="tx1"/>
                </a:solidFill>
              </a:rPr>
              <a:t>Revenu mensuel médian</a:t>
            </a:r>
            <a:endParaRPr lang="en-US" sz="1400" dirty="0"/>
          </a:p>
        </p:txBody>
      </p:sp>
      <p:sp>
        <p:nvSpPr>
          <p:cNvPr id="6" name="Text 4"/>
          <p:cNvSpPr txBox="1"/>
          <p:nvPr/>
        </p:nvSpPr>
        <p:spPr>
          <a:xfrm>
            <a:off x="731520" y="2130552"/>
            <a:ext cx="2202104" cy="365760"/>
          </a:xfrm>
          <a:prstGeom prst="rect">
            <a:avLst/>
          </a:prstGeom>
          <a:noFill/>
          <a:ln/>
        </p:spPr>
        <p:txBody>
          <a:bodyPr wrap="square" lIns="0" tIns="0" rIns="0" bIns="0" rtlCol="0" anchor="t"/>
          <a:lstStyle/>
          <a:p>
            <a:pPr indent="0" marL="0">
              <a:buNone/>
            </a:pPr>
            <a:r>
              <a:rPr lang="en-US" sz="2000" b="1" dirty="0">
                <a:solidFill>
                  <a:schemeClr val="accent2"/>
                </a:solidFill>
              </a:rPr>
              <a:t>5 204 €</a:t>
            </a:r>
            <a:pPr indent="0" marL="0">
              <a:buNone/>
            </a:pPr>
            <a:r>
              <a:rPr lang="en-US" sz="1200" dirty="0">
                <a:solidFill>
                  <a:schemeClr val="accent5"/>
                </a:solidFill>
              </a:rPr>
              <a:t>  restés</a:t>
            </a:r>
            <a:endParaRPr lang="en-US" sz="2000" dirty="0"/>
          </a:p>
        </p:txBody>
      </p:sp>
      <p:sp>
        <p:nvSpPr>
          <p:cNvPr id="7" name="Text 5"/>
          <p:cNvSpPr txBox="1"/>
          <p:nvPr/>
        </p:nvSpPr>
        <p:spPr>
          <a:xfrm>
            <a:off x="731520" y="2514600"/>
            <a:ext cx="2202104" cy="365760"/>
          </a:xfrm>
          <a:prstGeom prst="rect">
            <a:avLst/>
          </a:prstGeom>
          <a:noFill/>
          <a:ln/>
        </p:spPr>
        <p:txBody>
          <a:bodyPr wrap="square" lIns="0" tIns="0" rIns="0" bIns="0" rtlCol="0" anchor="t"/>
          <a:lstStyle/>
          <a:p>
            <a:pPr indent="0" marL="0">
              <a:buNone/>
            </a:pPr>
            <a:r>
              <a:rPr lang="en-US" sz="2000" b="1" dirty="0">
                <a:solidFill>
                  <a:schemeClr val="accent1"/>
                </a:solidFill>
              </a:rPr>
              <a:t>3 202 €</a:t>
            </a:r>
            <a:pPr indent="0" marL="0">
              <a:buNone/>
            </a:pPr>
            <a:r>
              <a:rPr lang="en-US" sz="1200" dirty="0">
                <a:solidFill>
                  <a:schemeClr val="accent5"/>
                </a:solidFill>
              </a:rPr>
              <a:t>  partis</a:t>
            </a:r>
            <a:endParaRPr lang="en-US" sz="2000" dirty="0"/>
          </a:p>
        </p:txBody>
      </p:sp>
      <p:sp>
        <p:nvSpPr>
          <p:cNvPr id="8" name="mediane 2"/>
          <p:cNvSpPr/>
          <p:nvPr/>
        </p:nvSpPr>
        <p:spPr>
          <a:xfrm>
            <a:off x="3390824" y="1600200"/>
            <a:ext cx="2567864" cy="1417320"/>
          </a:xfrm>
          <a:prstGeom prst="roundRect">
            <a:avLst>
              <a:gd name="adj" fmla="val 5161"/>
            </a:avLst>
          </a:prstGeom>
          <a:solidFill>
            <a:schemeClr val="bg2"/>
          </a:solidFill>
          <a:ln/>
        </p:spPr>
      </p:sp>
      <p:sp>
        <p:nvSpPr>
          <p:cNvPr id="9" name="Text 7"/>
          <p:cNvSpPr txBox="1"/>
          <p:nvPr/>
        </p:nvSpPr>
        <p:spPr>
          <a:xfrm>
            <a:off x="3573704" y="1737360"/>
            <a:ext cx="2202104" cy="320040"/>
          </a:xfrm>
          <a:prstGeom prst="rect">
            <a:avLst/>
          </a:prstGeom>
          <a:noFill/>
          <a:ln/>
        </p:spPr>
        <p:txBody>
          <a:bodyPr wrap="square" lIns="0" tIns="0" rIns="0" bIns="0" rtlCol="0" anchor="t"/>
          <a:lstStyle/>
          <a:p>
            <a:pPr indent="0" marL="0">
              <a:buNone/>
            </a:pPr>
            <a:r>
              <a:rPr lang="en-US" sz="1400" b="1" dirty="0">
                <a:solidFill>
                  <a:schemeClr val="tx1"/>
                </a:solidFill>
              </a:rPr>
              <a:t>Ancienneté médiane</a:t>
            </a:r>
            <a:endParaRPr lang="en-US" sz="1400" dirty="0"/>
          </a:p>
        </p:txBody>
      </p:sp>
      <p:sp>
        <p:nvSpPr>
          <p:cNvPr id="10" name="Text 8"/>
          <p:cNvSpPr txBox="1"/>
          <p:nvPr/>
        </p:nvSpPr>
        <p:spPr>
          <a:xfrm>
            <a:off x="3573704" y="2130552"/>
            <a:ext cx="2202104" cy="365760"/>
          </a:xfrm>
          <a:prstGeom prst="rect">
            <a:avLst/>
          </a:prstGeom>
          <a:noFill/>
          <a:ln/>
        </p:spPr>
        <p:txBody>
          <a:bodyPr wrap="square" lIns="0" tIns="0" rIns="0" bIns="0" rtlCol="0" anchor="t"/>
          <a:lstStyle/>
          <a:p>
            <a:pPr indent="0" marL="0">
              <a:buNone/>
            </a:pPr>
            <a:r>
              <a:rPr lang="en-US" sz="2000" b="1" dirty="0">
                <a:solidFill>
                  <a:schemeClr val="accent2"/>
                </a:solidFill>
              </a:rPr>
              <a:t>6 ans</a:t>
            </a:r>
            <a:pPr indent="0" marL="0">
              <a:buNone/>
            </a:pPr>
            <a:r>
              <a:rPr lang="en-US" sz="1200" dirty="0">
                <a:solidFill>
                  <a:schemeClr val="accent5"/>
                </a:solidFill>
              </a:rPr>
              <a:t>  restés</a:t>
            </a:r>
            <a:endParaRPr lang="en-US" sz="2000" dirty="0"/>
          </a:p>
        </p:txBody>
      </p:sp>
      <p:sp>
        <p:nvSpPr>
          <p:cNvPr id="11" name="Text 9"/>
          <p:cNvSpPr txBox="1"/>
          <p:nvPr/>
        </p:nvSpPr>
        <p:spPr>
          <a:xfrm>
            <a:off x="3573704" y="2514600"/>
            <a:ext cx="2202104" cy="365760"/>
          </a:xfrm>
          <a:prstGeom prst="rect">
            <a:avLst/>
          </a:prstGeom>
          <a:noFill/>
          <a:ln/>
        </p:spPr>
        <p:txBody>
          <a:bodyPr wrap="square" lIns="0" tIns="0" rIns="0" bIns="0" rtlCol="0" anchor="t"/>
          <a:lstStyle/>
          <a:p>
            <a:pPr indent="0" marL="0">
              <a:buNone/>
            </a:pPr>
            <a:r>
              <a:rPr lang="en-US" sz="2000" b="1" dirty="0">
                <a:solidFill>
                  <a:schemeClr val="accent1"/>
                </a:solidFill>
              </a:rPr>
              <a:t>3 ans</a:t>
            </a:r>
            <a:pPr indent="0" marL="0">
              <a:buNone/>
            </a:pPr>
            <a:r>
              <a:rPr lang="en-US" sz="1200" dirty="0">
                <a:solidFill>
                  <a:schemeClr val="accent5"/>
                </a:solidFill>
              </a:rPr>
              <a:t>  partis</a:t>
            </a:r>
            <a:endParaRPr lang="en-US" sz="2000" dirty="0"/>
          </a:p>
        </p:txBody>
      </p:sp>
      <p:sp>
        <p:nvSpPr>
          <p:cNvPr id="12" name="mediane 3"/>
          <p:cNvSpPr/>
          <p:nvPr/>
        </p:nvSpPr>
        <p:spPr>
          <a:xfrm>
            <a:off x="6233008" y="1600200"/>
            <a:ext cx="2567864" cy="1417320"/>
          </a:xfrm>
          <a:prstGeom prst="roundRect">
            <a:avLst>
              <a:gd name="adj" fmla="val 5161"/>
            </a:avLst>
          </a:prstGeom>
          <a:solidFill>
            <a:schemeClr val="bg2"/>
          </a:solidFill>
          <a:ln/>
        </p:spPr>
      </p:sp>
      <p:sp>
        <p:nvSpPr>
          <p:cNvPr id="13" name="Text 11"/>
          <p:cNvSpPr txBox="1"/>
          <p:nvPr/>
        </p:nvSpPr>
        <p:spPr>
          <a:xfrm>
            <a:off x="6415888" y="1737360"/>
            <a:ext cx="2202104" cy="320040"/>
          </a:xfrm>
          <a:prstGeom prst="rect">
            <a:avLst/>
          </a:prstGeom>
          <a:noFill/>
          <a:ln/>
        </p:spPr>
        <p:txBody>
          <a:bodyPr wrap="square" lIns="0" tIns="0" rIns="0" bIns="0" rtlCol="0" anchor="t"/>
          <a:lstStyle/>
          <a:p>
            <a:pPr indent="0" marL="0">
              <a:buNone/>
            </a:pPr>
            <a:r>
              <a:rPr lang="en-US" sz="1400" b="1" dirty="0">
                <a:solidFill>
                  <a:schemeClr val="tx1"/>
                </a:solidFill>
              </a:rPr>
              <a:t>Expérience totale médiane</a:t>
            </a:r>
            <a:endParaRPr lang="en-US" sz="1400" dirty="0"/>
          </a:p>
        </p:txBody>
      </p:sp>
      <p:sp>
        <p:nvSpPr>
          <p:cNvPr id="14" name="Text 12"/>
          <p:cNvSpPr txBox="1"/>
          <p:nvPr/>
        </p:nvSpPr>
        <p:spPr>
          <a:xfrm>
            <a:off x="6415888" y="2130552"/>
            <a:ext cx="2202104" cy="365760"/>
          </a:xfrm>
          <a:prstGeom prst="rect">
            <a:avLst/>
          </a:prstGeom>
          <a:noFill/>
          <a:ln/>
        </p:spPr>
        <p:txBody>
          <a:bodyPr wrap="square" lIns="0" tIns="0" rIns="0" bIns="0" rtlCol="0" anchor="t"/>
          <a:lstStyle/>
          <a:p>
            <a:pPr indent="0" marL="0">
              <a:buNone/>
            </a:pPr>
            <a:r>
              <a:rPr lang="en-US" sz="2000" b="1" dirty="0">
                <a:solidFill>
                  <a:schemeClr val="accent2"/>
                </a:solidFill>
              </a:rPr>
              <a:t>10 ans</a:t>
            </a:r>
            <a:pPr indent="0" marL="0">
              <a:buNone/>
            </a:pPr>
            <a:r>
              <a:rPr lang="en-US" sz="1200" dirty="0">
                <a:solidFill>
                  <a:schemeClr val="accent5"/>
                </a:solidFill>
              </a:rPr>
              <a:t>  restés</a:t>
            </a:r>
            <a:endParaRPr lang="en-US" sz="2000" dirty="0"/>
          </a:p>
        </p:txBody>
      </p:sp>
      <p:sp>
        <p:nvSpPr>
          <p:cNvPr id="15" name="Text 13"/>
          <p:cNvSpPr txBox="1"/>
          <p:nvPr/>
        </p:nvSpPr>
        <p:spPr>
          <a:xfrm>
            <a:off x="6415888" y="2514600"/>
            <a:ext cx="2202104" cy="365760"/>
          </a:xfrm>
          <a:prstGeom prst="rect">
            <a:avLst/>
          </a:prstGeom>
          <a:noFill/>
          <a:ln/>
        </p:spPr>
        <p:txBody>
          <a:bodyPr wrap="square" lIns="0" tIns="0" rIns="0" bIns="0" rtlCol="0" anchor="t"/>
          <a:lstStyle/>
          <a:p>
            <a:pPr indent="0" marL="0">
              <a:buNone/>
            </a:pPr>
            <a:r>
              <a:rPr lang="en-US" sz="2000" b="1" dirty="0">
                <a:solidFill>
                  <a:schemeClr val="accent1"/>
                </a:solidFill>
              </a:rPr>
              <a:t>7 ans</a:t>
            </a:r>
            <a:pPr indent="0" marL="0">
              <a:buNone/>
            </a:pPr>
            <a:r>
              <a:rPr lang="en-US" sz="1200" dirty="0">
                <a:solidFill>
                  <a:schemeClr val="accent5"/>
                </a:solidFill>
              </a:rPr>
              <a:t>  partis</a:t>
            </a:r>
            <a:endParaRPr lang="en-US" sz="2000" dirty="0"/>
          </a:p>
        </p:txBody>
      </p:sp>
      <p:sp>
        <p:nvSpPr>
          <p:cNvPr id="16" name="mediane 4"/>
          <p:cNvSpPr/>
          <p:nvPr/>
        </p:nvSpPr>
        <p:spPr>
          <a:xfrm>
            <a:off x="9075191" y="1600200"/>
            <a:ext cx="2567864" cy="1417320"/>
          </a:xfrm>
          <a:prstGeom prst="roundRect">
            <a:avLst>
              <a:gd name="adj" fmla="val 5161"/>
            </a:avLst>
          </a:prstGeom>
          <a:solidFill>
            <a:schemeClr val="bg2"/>
          </a:solidFill>
          <a:ln/>
        </p:spPr>
      </p:sp>
      <p:sp>
        <p:nvSpPr>
          <p:cNvPr id="17" name="Text 15"/>
          <p:cNvSpPr txBox="1"/>
          <p:nvPr/>
        </p:nvSpPr>
        <p:spPr>
          <a:xfrm>
            <a:off x="9258071" y="1737360"/>
            <a:ext cx="2202104" cy="320040"/>
          </a:xfrm>
          <a:prstGeom prst="rect">
            <a:avLst/>
          </a:prstGeom>
          <a:noFill/>
          <a:ln/>
        </p:spPr>
        <p:txBody>
          <a:bodyPr wrap="square" lIns="0" tIns="0" rIns="0" bIns="0" rtlCol="0" anchor="t"/>
          <a:lstStyle/>
          <a:p>
            <a:pPr indent="0" marL="0">
              <a:buNone/>
            </a:pPr>
            <a:r>
              <a:rPr lang="en-US" sz="1400" b="1" dirty="0">
                <a:solidFill>
                  <a:schemeClr val="tx1"/>
                </a:solidFill>
              </a:rPr>
              <a:t>Âge médian</a:t>
            </a:r>
            <a:endParaRPr lang="en-US" sz="1400" dirty="0"/>
          </a:p>
        </p:txBody>
      </p:sp>
      <p:sp>
        <p:nvSpPr>
          <p:cNvPr id="18" name="Text 16"/>
          <p:cNvSpPr txBox="1"/>
          <p:nvPr/>
        </p:nvSpPr>
        <p:spPr>
          <a:xfrm>
            <a:off x="9258071" y="2130552"/>
            <a:ext cx="2202104" cy="365760"/>
          </a:xfrm>
          <a:prstGeom prst="rect">
            <a:avLst/>
          </a:prstGeom>
          <a:noFill/>
          <a:ln/>
        </p:spPr>
        <p:txBody>
          <a:bodyPr wrap="square" lIns="0" tIns="0" rIns="0" bIns="0" rtlCol="0" anchor="t"/>
          <a:lstStyle/>
          <a:p>
            <a:pPr indent="0" marL="0">
              <a:buNone/>
            </a:pPr>
            <a:r>
              <a:rPr lang="en-US" sz="2000" b="1" dirty="0">
                <a:solidFill>
                  <a:schemeClr val="accent2"/>
                </a:solidFill>
              </a:rPr>
              <a:t>36 ans</a:t>
            </a:r>
            <a:pPr indent="0" marL="0">
              <a:buNone/>
            </a:pPr>
            <a:r>
              <a:rPr lang="en-US" sz="1200" dirty="0">
                <a:solidFill>
                  <a:schemeClr val="accent5"/>
                </a:solidFill>
              </a:rPr>
              <a:t>  restés</a:t>
            </a:r>
            <a:endParaRPr lang="en-US" sz="2000" dirty="0"/>
          </a:p>
        </p:txBody>
      </p:sp>
      <p:sp>
        <p:nvSpPr>
          <p:cNvPr id="19" name="Text 17"/>
          <p:cNvSpPr txBox="1"/>
          <p:nvPr/>
        </p:nvSpPr>
        <p:spPr>
          <a:xfrm>
            <a:off x="9258071" y="2514600"/>
            <a:ext cx="2202104" cy="365760"/>
          </a:xfrm>
          <a:prstGeom prst="rect">
            <a:avLst/>
          </a:prstGeom>
          <a:noFill/>
          <a:ln/>
        </p:spPr>
        <p:txBody>
          <a:bodyPr wrap="square" lIns="0" tIns="0" rIns="0" bIns="0" rtlCol="0" anchor="t"/>
          <a:lstStyle/>
          <a:p>
            <a:pPr indent="0" marL="0">
              <a:buNone/>
            </a:pPr>
            <a:r>
              <a:rPr lang="en-US" sz="2000" b="1" dirty="0">
                <a:solidFill>
                  <a:schemeClr val="accent1"/>
                </a:solidFill>
              </a:rPr>
              <a:t>32 ans</a:t>
            </a:r>
            <a:pPr indent="0" marL="0">
              <a:buNone/>
            </a:pPr>
            <a:r>
              <a:rPr lang="en-US" sz="1200" dirty="0">
                <a:solidFill>
                  <a:schemeClr val="accent5"/>
                </a:solidFill>
              </a:rPr>
              <a:t>  partis</a:t>
            </a:r>
            <a:endParaRPr lang="en-US" sz="2000" dirty="0"/>
          </a:p>
        </p:txBody>
      </p:sp>
      <p:pic>
        <p:nvPicPr>
          <p:cNvPr id="20" name="boites a moustaches" descr="Boîtes à moustaches du revenu, de l'expérience et de l'ancienneté, restés en bleu et partis en rouge">    </p:cNvPr>
          <p:cNvPicPr>
            <a:picLocks noChangeAspect="1"/>
          </p:cNvPicPr>
          <p:nvPr/>
        </p:nvPicPr>
        <p:blipFill>
          <a:blip r:embed="rId1"/>
          <a:stretch>
            <a:fillRect/>
          </a:stretch>
        </p:blipFill>
        <p:spPr>
          <a:xfrm>
            <a:off x="548640" y="3291840"/>
            <a:ext cx="9692640" cy="2050240"/>
          </a:xfrm>
          <a:prstGeom prst="rect">
            <a:avLst/>
          </a:prstGeom>
        </p:spPr>
      </p:pic>
      <p:sp>
        <p:nvSpPr>
          <p:cNvPr id="21" name="Text 18"/>
          <p:cNvSpPr txBox="1"/>
          <p:nvPr/>
        </p:nvSpPr>
        <p:spPr>
          <a:xfrm>
            <a:off x="10469880" y="3429000"/>
            <a:ext cx="1143000" cy="640080"/>
          </a:xfrm>
          <a:prstGeom prst="rect">
            <a:avLst/>
          </a:prstGeom>
          <a:noFill/>
          <a:ln/>
        </p:spPr>
        <p:txBody>
          <a:bodyPr wrap="square" lIns="0" tIns="0" rIns="0" bIns="0" rtlCol="0" anchor="t"/>
          <a:lstStyle/>
          <a:p>
            <a:pPr indent="0" marL="0">
              <a:buNone/>
            </a:pPr>
            <a:r>
              <a:rPr lang="en-US" sz="1200" b="1" dirty="0">
                <a:solidFill>
                  <a:schemeClr val="accent2"/>
                </a:solidFill>
              </a:rPr>
              <a:t>Non</a:t>
            </a:r>
            <a:pPr indent="0" marL="0">
              <a:buNone/>
            </a:pPr>
            <a:r>
              <a:rPr lang="en-US" sz="1200" dirty="0">
                <a:solidFill>
                  <a:schemeClr val="accent5"/>
                </a:solidFill>
              </a:rPr>
              <a:t> : restés</a:t>
            </a:r>
            <a:endParaRPr lang="en-US" sz="1200" dirty="0"/>
          </a:p>
          <a:p>
            <a:pPr indent="0" marL="0">
              <a:buNone/>
            </a:pPr>
            <a:r>
              <a:rPr lang="en-US" sz="1200" b="1" dirty="0">
                <a:solidFill>
                  <a:schemeClr val="accent1"/>
                </a:solidFill>
              </a:rPr>
              <a:t>Oui</a:t>
            </a:r>
            <a:pPr indent="0" marL="0">
              <a:buNone/>
            </a:pPr>
            <a:r>
              <a:rPr lang="en-US" sz="1200" dirty="0">
                <a:solidFill>
                  <a:schemeClr val="accent5"/>
                </a:solidFill>
              </a:rPr>
              <a:t> : partis</a:t>
            </a:r>
            <a:endParaRPr lang="en-US" sz="1200" dirty="0"/>
          </a:p>
        </p:txBody>
      </p:sp>
      <p:sp>
        <p:nvSpPr>
          <p:cNvPr id="22" name="Text 19"/>
          <p:cNvSpPr txBox="1"/>
          <p:nvPr/>
        </p:nvSpPr>
        <p:spPr>
          <a:xfrm>
            <a:off x="548640" y="5532120"/>
            <a:ext cx="11094415" cy="640080"/>
          </a:xfrm>
          <a:prstGeom prst="rect">
            <a:avLst/>
          </a:prstGeom>
          <a:noFill/>
          <a:ln/>
        </p:spPr>
        <p:txBody>
          <a:bodyPr wrap="square" lIns="0" tIns="0" rIns="0" bIns="0" rtlCol="0" anchor="t"/>
          <a:lstStyle/>
          <a:p>
            <a:pPr indent="0" marL="0">
              <a:buNone/>
            </a:pPr>
            <a:r>
              <a:rPr lang="en-US" sz="1400" dirty="0">
                <a:solidFill>
                  <a:schemeClr val="accent5"/>
                </a:solidFill>
              </a:rPr>
              <a:t>Les distributions se chevauchent largement : aucune de ces variables ne suffit seule à repérer un partant. Ce profil, que les RH ne pilotent pas, délimite la population à suivre.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ANALYSE EXPLORATOIRE  ·  CONDITIONS DE TRAVAIL</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Les conditions de travail font la différence</a:t>
            </a:r>
            <a:endParaRPr lang="en-US" sz="3400" dirty="0"/>
          </a:p>
        </p:txBody>
      </p:sp>
      <p:graphicFrame>
        <p:nvGraphicFramePr>
          <p:cNvPr id="4" name="taux de depart par modalite" descr=""/>
          <p:cNvGraphicFramePr/>
          <p:nvPr/>
        </p:nvGraphicFramePr>
        <p:xfrm>
          <a:off x="548640" y="1600200"/>
          <a:ext cx="6309360" cy="4480560"/>
        </p:xfrm>
        <a:graphic xmlns:a="http://schemas.openxmlformats.org/drawingml/2006/main">
          <a:graphicData uri="http://schemas.openxmlformats.org/drawingml/2006/chart">
            <c:chart xmlns:c="http://schemas.openxmlformats.org/drawingml/2006/chart" r:id="rId1"/>
          </a:graphicData>
        </a:graphic>
      </p:graphicFrame>
      <p:pic>
        <p:nvPicPr>
          <p:cNvPr id="5" name="carte de chaleur poste heures sup" descr="Taux de départ par poste, avec et sans heures supplémentaires">    </p:cNvPr>
          <p:cNvPicPr>
            <a:picLocks noChangeAspect="1"/>
          </p:cNvPicPr>
          <p:nvPr/>
        </p:nvPicPr>
        <p:blipFill>
          <a:blip r:embed="rId2"/>
          <a:stretch>
            <a:fillRect/>
          </a:stretch>
        </p:blipFill>
        <p:spPr>
          <a:xfrm>
            <a:off x="7223760" y="1600200"/>
            <a:ext cx="3931920" cy="3327886"/>
          </a:xfrm>
          <a:prstGeom prst="rect">
            <a:avLst/>
          </a:prstGeom>
        </p:spPr>
      </p:pic>
      <p:sp>
        <p:nvSpPr>
          <p:cNvPr id="6" name="Text 2"/>
          <p:cNvSpPr txBox="1"/>
          <p:nvPr/>
        </p:nvSpPr>
        <p:spPr>
          <a:xfrm>
            <a:off x="7223760" y="5029200"/>
            <a:ext cx="4416552" cy="1188720"/>
          </a:xfrm>
          <a:prstGeom prst="rect">
            <a:avLst/>
          </a:prstGeom>
          <a:noFill/>
          <a:ln/>
        </p:spPr>
        <p:txBody>
          <a:bodyPr wrap="square" lIns="0" tIns="0" rIns="0" bIns="0" rtlCol="0" anchor="t"/>
          <a:lstStyle/>
          <a:p>
            <a:pPr indent="0" marL="0">
              <a:buNone/>
            </a:pPr>
            <a:r>
              <a:rPr lang="en-US" sz="1400" dirty="0">
                <a:solidFill>
                  <a:schemeClr val="tx1"/>
                </a:solidFill>
              </a:rPr>
              <a:t>Les heures supplémentaires font monter le taux de départ dans presque tous les postes : de 29 % à 67 % chez les représentants commerciaux, de 16 % à 50 % chez les consultants. C'est un facteur transversal, et un levier direct.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PRÉPARATION DES FEATURES  ·  ÉTAPE 2</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Trois features métier, trois actions RH</a:t>
            </a:r>
            <a:endParaRPr lang="en-US" sz="3400" dirty="0"/>
          </a:p>
        </p:txBody>
      </p:sp>
      <p:sp>
        <p:nvSpPr>
          <p:cNvPr id="4" name="feature debut_de_carriere"/>
          <p:cNvSpPr/>
          <p:nvPr/>
        </p:nvSpPr>
        <p:spPr>
          <a:xfrm>
            <a:off x="548640" y="1600200"/>
            <a:ext cx="3515258" cy="3794760"/>
          </a:xfrm>
          <a:prstGeom prst="roundRect">
            <a:avLst>
              <a:gd name="adj" fmla="val 2081"/>
            </a:avLst>
          </a:prstGeom>
          <a:solidFill>
            <a:schemeClr val="bg2"/>
          </a:solidFill>
          <a:ln/>
        </p:spPr>
      </p:sp>
      <p:sp>
        <p:nvSpPr>
          <p:cNvPr id="5" name="Text 3"/>
          <p:cNvSpPr txBox="1"/>
          <p:nvPr/>
        </p:nvSpPr>
        <p:spPr>
          <a:xfrm>
            <a:off x="777240" y="1783080"/>
            <a:ext cx="3058058" cy="365760"/>
          </a:xfrm>
          <a:prstGeom prst="rect">
            <a:avLst/>
          </a:prstGeom>
          <a:noFill/>
          <a:ln/>
        </p:spPr>
        <p:txBody>
          <a:bodyPr wrap="square" lIns="0" tIns="0" rIns="0" bIns="0" rtlCol="0" anchor="t"/>
          <a:lstStyle/>
          <a:p>
            <a:pPr indent="0" marL="0">
              <a:buNone/>
            </a:pPr>
            <a:r>
              <a:rPr lang="en-US" sz="1700" b="1" dirty="0">
                <a:solidFill>
                  <a:schemeClr val="tx1"/>
                </a:solidFill>
                <a:latin typeface="Courier New" pitchFamily="34" charset="0"/>
                <a:ea typeface="Courier New" pitchFamily="34" charset="-122"/>
                <a:cs typeface="Courier New" pitchFamily="34" charset="-120"/>
              </a:rPr>
              <a:t>debut_de_carriere</a:t>
            </a:r>
            <a:endParaRPr lang="en-US" sz="1700" dirty="0"/>
          </a:p>
        </p:txBody>
      </p:sp>
      <p:sp>
        <p:nvSpPr>
          <p:cNvPr id="6" name="Text 4"/>
          <p:cNvSpPr txBox="1"/>
          <p:nvPr/>
        </p:nvSpPr>
        <p:spPr>
          <a:xfrm>
            <a:off x="777240" y="2194560"/>
            <a:ext cx="3058058" cy="365760"/>
          </a:xfrm>
          <a:prstGeom prst="rect">
            <a:avLst/>
          </a:prstGeom>
          <a:noFill/>
          <a:ln/>
        </p:spPr>
        <p:txBody>
          <a:bodyPr wrap="square" lIns="0" tIns="0" rIns="0" bIns="0" rtlCol="0" anchor="t"/>
          <a:lstStyle/>
          <a:p>
            <a:pPr indent="0" marL="0">
              <a:buNone/>
            </a:pPr>
            <a:r>
              <a:rPr lang="en-US" sz="1400" dirty="0">
                <a:solidFill>
                  <a:schemeClr val="accent5"/>
                </a:solidFill>
              </a:rPr>
              <a:t>Expérience totale de 2 ans ou moins</a:t>
            </a:r>
            <a:endParaRPr lang="en-US" sz="1400" dirty="0"/>
          </a:p>
        </p:txBody>
      </p:sp>
      <p:sp>
        <p:nvSpPr>
          <p:cNvPr id="7" name="Text 5"/>
          <p:cNvSpPr txBox="1"/>
          <p:nvPr/>
        </p:nvSpPr>
        <p:spPr>
          <a:xfrm>
            <a:off x="777240" y="2651760"/>
            <a:ext cx="3058058"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43,9 %</a:t>
            </a:r>
            <a:endParaRPr lang="en-US" sz="4400" dirty="0"/>
          </a:p>
        </p:txBody>
      </p:sp>
      <p:sp>
        <p:nvSpPr>
          <p:cNvPr id="8" name="Text 6"/>
          <p:cNvSpPr txBox="1"/>
          <p:nvPr/>
        </p:nvSpPr>
        <p:spPr>
          <a:xfrm>
            <a:off x="777240" y="3410712"/>
            <a:ext cx="3058058" cy="274320"/>
          </a:xfrm>
          <a:prstGeom prst="rect">
            <a:avLst/>
          </a:prstGeom>
          <a:noFill/>
          <a:ln/>
        </p:spPr>
        <p:txBody>
          <a:bodyPr wrap="square" lIns="0" tIns="0" rIns="0" bIns="0" rtlCol="0" anchor="t"/>
          <a:lstStyle/>
          <a:p>
            <a:pPr indent="0" marL="0">
              <a:buNone/>
            </a:pPr>
            <a:r>
              <a:rPr lang="en-US" sz="1400" b="1" dirty="0">
                <a:solidFill>
                  <a:schemeClr val="tx1"/>
                </a:solidFill>
              </a:rPr>
              <a:t>de départs</a:t>
            </a:r>
            <a:endParaRPr lang="en-US" sz="1400" dirty="0"/>
          </a:p>
        </p:txBody>
      </p:sp>
      <p:sp>
        <p:nvSpPr>
          <p:cNvPr id="9" name="Text 7"/>
          <p:cNvSpPr txBox="1"/>
          <p:nvPr/>
        </p:nvSpPr>
        <p:spPr>
          <a:xfrm>
            <a:off x="777240" y="3703320"/>
            <a:ext cx="3058058" cy="548640"/>
          </a:xfrm>
          <a:prstGeom prst="rect">
            <a:avLst/>
          </a:prstGeom>
          <a:noFill/>
          <a:ln/>
        </p:spPr>
        <p:txBody>
          <a:bodyPr wrap="square" lIns="0" tIns="0" rIns="0" bIns="0" rtlCol="0" anchor="t"/>
          <a:lstStyle/>
          <a:p>
            <a:pPr indent="0" marL="0">
              <a:buNone/>
            </a:pPr>
            <a:r>
              <a:rPr lang="en-US" sz="1300" dirty="0">
                <a:solidFill>
                  <a:schemeClr val="accent5"/>
                </a:solidFill>
              </a:rPr>
              <a:t>13,6 % pour les autres  ·  123 collaborateurs</a:t>
            </a:r>
            <a:endParaRPr lang="en-US" sz="1300" dirty="0"/>
          </a:p>
        </p:txBody>
      </p:sp>
      <p:pic>
        <p:nvPicPr>
          <p:cNvPr id="10" name="fleche debut_de_carriere" descr="preencoded.png">    </p:cNvPr>
          <p:cNvPicPr>
            <a:picLocks noChangeAspect="1"/>
          </p:cNvPicPr>
          <p:nvPr/>
        </p:nvPicPr>
        <p:blipFill>
          <a:blip r:embed="rId1"/>
          <a:stretch>
            <a:fillRect/>
          </a:stretch>
        </p:blipFill>
        <p:spPr>
          <a:xfrm>
            <a:off x="777240" y="4498848"/>
            <a:ext cx="274320" cy="274320"/>
          </a:xfrm>
          <a:prstGeom prst="rect">
            <a:avLst/>
          </a:prstGeom>
        </p:spPr>
      </p:pic>
      <p:sp>
        <p:nvSpPr>
          <p:cNvPr id="11" name="Text 8"/>
          <p:cNvSpPr txBox="1"/>
          <p:nvPr/>
        </p:nvSpPr>
        <p:spPr>
          <a:xfrm>
            <a:off x="1188720" y="4453128"/>
            <a:ext cx="2646578" cy="731520"/>
          </a:xfrm>
          <a:prstGeom prst="rect">
            <a:avLst/>
          </a:prstGeom>
          <a:noFill/>
          <a:ln/>
        </p:spPr>
        <p:txBody>
          <a:bodyPr wrap="square" lIns="0" tIns="0" rIns="0" bIns="0" rtlCol="0" anchor="t"/>
          <a:lstStyle/>
          <a:p>
            <a:pPr indent="0" marL="0">
              <a:buNone/>
            </a:pPr>
            <a:r>
              <a:rPr lang="en-US" sz="1400" b="1" dirty="0">
                <a:solidFill>
                  <a:schemeClr val="accent3"/>
                </a:solidFill>
              </a:rPr>
              <a:t>Parcours d'intégration et de fidélisation des débutants</a:t>
            </a:r>
            <a:endParaRPr lang="en-US" sz="1400" dirty="0"/>
          </a:p>
        </p:txBody>
      </p:sp>
      <p:sp>
        <p:nvSpPr>
          <p:cNvPr id="12" name="feature nouveau_responsable"/>
          <p:cNvSpPr/>
          <p:nvPr/>
        </p:nvSpPr>
        <p:spPr>
          <a:xfrm>
            <a:off x="4338218" y="1600200"/>
            <a:ext cx="3515258" cy="3794760"/>
          </a:xfrm>
          <a:prstGeom prst="roundRect">
            <a:avLst>
              <a:gd name="adj" fmla="val 2081"/>
            </a:avLst>
          </a:prstGeom>
          <a:solidFill>
            <a:schemeClr val="bg2"/>
          </a:solidFill>
          <a:ln/>
        </p:spPr>
      </p:sp>
      <p:sp>
        <p:nvSpPr>
          <p:cNvPr id="13" name="Text 10"/>
          <p:cNvSpPr txBox="1"/>
          <p:nvPr/>
        </p:nvSpPr>
        <p:spPr>
          <a:xfrm>
            <a:off x="4566818" y="1783080"/>
            <a:ext cx="3058058" cy="365760"/>
          </a:xfrm>
          <a:prstGeom prst="rect">
            <a:avLst/>
          </a:prstGeom>
          <a:noFill/>
          <a:ln/>
        </p:spPr>
        <p:txBody>
          <a:bodyPr wrap="square" lIns="0" tIns="0" rIns="0" bIns="0" rtlCol="0" anchor="t"/>
          <a:lstStyle/>
          <a:p>
            <a:pPr indent="0" marL="0">
              <a:buNone/>
            </a:pPr>
            <a:r>
              <a:rPr lang="en-US" sz="1700" b="1" dirty="0">
                <a:solidFill>
                  <a:schemeClr val="tx1"/>
                </a:solidFill>
                <a:latin typeface="Courier New" pitchFamily="34" charset="0"/>
                <a:ea typeface="Courier New" pitchFamily="34" charset="-122"/>
                <a:cs typeface="Courier New" pitchFamily="34" charset="-120"/>
              </a:rPr>
              <a:t>nouveau_responsable</a:t>
            </a:r>
            <a:endParaRPr lang="en-US" sz="1700" dirty="0"/>
          </a:p>
        </p:txBody>
      </p:sp>
      <p:sp>
        <p:nvSpPr>
          <p:cNvPr id="14" name="Text 11"/>
          <p:cNvSpPr txBox="1"/>
          <p:nvPr/>
        </p:nvSpPr>
        <p:spPr>
          <a:xfrm>
            <a:off x="4566818" y="2194560"/>
            <a:ext cx="3058058" cy="365760"/>
          </a:xfrm>
          <a:prstGeom prst="rect">
            <a:avLst/>
          </a:prstGeom>
          <a:noFill/>
          <a:ln/>
        </p:spPr>
        <p:txBody>
          <a:bodyPr wrap="square" lIns="0" tIns="0" rIns="0" bIns="0" rtlCol="0" anchor="t"/>
          <a:lstStyle/>
          <a:p>
            <a:pPr indent="0" marL="0">
              <a:buNone/>
            </a:pPr>
            <a:r>
              <a:rPr lang="en-US" sz="1400" dirty="0">
                <a:solidFill>
                  <a:schemeClr val="accent5"/>
                </a:solidFill>
              </a:rPr>
              <a:t>Moins d'un an sous le responsable actuel</a:t>
            </a:r>
            <a:endParaRPr lang="en-US" sz="1400" dirty="0"/>
          </a:p>
        </p:txBody>
      </p:sp>
      <p:sp>
        <p:nvSpPr>
          <p:cNvPr id="15" name="Text 12"/>
          <p:cNvSpPr txBox="1"/>
          <p:nvPr/>
        </p:nvSpPr>
        <p:spPr>
          <a:xfrm>
            <a:off x="4566818" y="2651760"/>
            <a:ext cx="3058058"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32,3 %</a:t>
            </a:r>
            <a:endParaRPr lang="en-US" sz="4400" dirty="0"/>
          </a:p>
        </p:txBody>
      </p:sp>
      <p:sp>
        <p:nvSpPr>
          <p:cNvPr id="16" name="Text 13"/>
          <p:cNvSpPr txBox="1"/>
          <p:nvPr/>
        </p:nvSpPr>
        <p:spPr>
          <a:xfrm>
            <a:off x="4566818" y="3410712"/>
            <a:ext cx="3058058" cy="274320"/>
          </a:xfrm>
          <a:prstGeom prst="rect">
            <a:avLst/>
          </a:prstGeom>
          <a:noFill/>
          <a:ln/>
        </p:spPr>
        <p:txBody>
          <a:bodyPr wrap="square" lIns="0" tIns="0" rIns="0" bIns="0" rtlCol="0" anchor="t"/>
          <a:lstStyle/>
          <a:p>
            <a:pPr indent="0" marL="0">
              <a:buNone/>
            </a:pPr>
            <a:r>
              <a:rPr lang="en-US" sz="1400" b="1" dirty="0">
                <a:solidFill>
                  <a:schemeClr val="tx1"/>
                </a:solidFill>
              </a:rPr>
              <a:t>de départs</a:t>
            </a:r>
            <a:endParaRPr lang="en-US" sz="1400" dirty="0"/>
          </a:p>
        </p:txBody>
      </p:sp>
      <p:sp>
        <p:nvSpPr>
          <p:cNvPr id="17" name="Text 14"/>
          <p:cNvSpPr txBox="1"/>
          <p:nvPr/>
        </p:nvSpPr>
        <p:spPr>
          <a:xfrm>
            <a:off x="4566818" y="3703320"/>
            <a:ext cx="3058058" cy="548640"/>
          </a:xfrm>
          <a:prstGeom prst="rect">
            <a:avLst/>
          </a:prstGeom>
          <a:noFill/>
          <a:ln/>
        </p:spPr>
        <p:txBody>
          <a:bodyPr wrap="square" lIns="0" tIns="0" rIns="0" bIns="0" rtlCol="0" anchor="t"/>
          <a:lstStyle/>
          <a:p>
            <a:pPr indent="0" marL="0">
              <a:buNone/>
            </a:pPr>
            <a:r>
              <a:rPr lang="en-US" sz="1300" dirty="0">
                <a:solidFill>
                  <a:schemeClr val="accent5"/>
                </a:solidFill>
              </a:rPr>
              <a:t>12,6 % pour les autres  ·  263 collaborateurs</a:t>
            </a:r>
            <a:endParaRPr lang="en-US" sz="1300" dirty="0"/>
          </a:p>
        </p:txBody>
      </p:sp>
      <p:pic>
        <p:nvPicPr>
          <p:cNvPr id="18" name="fleche nouveau_responsable" descr="preencoded.png">    </p:cNvPr>
          <p:cNvPicPr>
            <a:picLocks noChangeAspect="1"/>
          </p:cNvPicPr>
          <p:nvPr/>
        </p:nvPicPr>
        <p:blipFill>
          <a:blip r:embed="rId2"/>
          <a:stretch>
            <a:fillRect/>
          </a:stretch>
        </p:blipFill>
        <p:spPr>
          <a:xfrm>
            <a:off x="4566818" y="4498848"/>
            <a:ext cx="274320" cy="274320"/>
          </a:xfrm>
          <a:prstGeom prst="rect">
            <a:avLst/>
          </a:prstGeom>
        </p:spPr>
      </p:pic>
      <p:sp>
        <p:nvSpPr>
          <p:cNvPr id="19" name="Text 15"/>
          <p:cNvSpPr txBox="1"/>
          <p:nvPr/>
        </p:nvSpPr>
        <p:spPr>
          <a:xfrm>
            <a:off x="4978298" y="4453128"/>
            <a:ext cx="2646578" cy="731520"/>
          </a:xfrm>
          <a:prstGeom prst="rect">
            <a:avLst/>
          </a:prstGeom>
          <a:noFill/>
          <a:ln/>
        </p:spPr>
        <p:txBody>
          <a:bodyPr wrap="square" lIns="0" tIns="0" rIns="0" bIns="0" rtlCol="0" anchor="t"/>
          <a:lstStyle/>
          <a:p>
            <a:pPr indent="0" marL="0">
              <a:buNone/>
            </a:pPr>
            <a:r>
              <a:rPr lang="en-US" sz="1400" b="1" dirty="0">
                <a:solidFill>
                  <a:schemeClr val="accent3"/>
                </a:solidFill>
              </a:rPr>
              <a:t>Point de suivi après chaque changement de responsable</a:t>
            </a:r>
            <a:endParaRPr lang="en-US" sz="1400" dirty="0"/>
          </a:p>
        </p:txBody>
      </p:sp>
      <p:sp>
        <p:nvSpPr>
          <p:cNvPr id="20" name="feature satisfaction_minimale"/>
          <p:cNvSpPr/>
          <p:nvPr/>
        </p:nvSpPr>
        <p:spPr>
          <a:xfrm>
            <a:off x="8127797" y="1600200"/>
            <a:ext cx="3515258" cy="3794760"/>
          </a:xfrm>
          <a:prstGeom prst="roundRect">
            <a:avLst>
              <a:gd name="adj" fmla="val 2081"/>
            </a:avLst>
          </a:prstGeom>
          <a:solidFill>
            <a:schemeClr val="bg2"/>
          </a:solidFill>
          <a:ln/>
        </p:spPr>
      </p:sp>
      <p:sp>
        <p:nvSpPr>
          <p:cNvPr id="21" name="Text 17"/>
          <p:cNvSpPr txBox="1"/>
          <p:nvPr/>
        </p:nvSpPr>
        <p:spPr>
          <a:xfrm>
            <a:off x="8356397" y="1783080"/>
            <a:ext cx="3058058" cy="365760"/>
          </a:xfrm>
          <a:prstGeom prst="rect">
            <a:avLst/>
          </a:prstGeom>
          <a:noFill/>
          <a:ln/>
        </p:spPr>
        <p:txBody>
          <a:bodyPr wrap="square" lIns="0" tIns="0" rIns="0" bIns="0" rtlCol="0" anchor="t"/>
          <a:lstStyle/>
          <a:p>
            <a:pPr indent="0" marL="0">
              <a:buNone/>
            </a:pPr>
            <a:r>
              <a:rPr lang="en-US" sz="1700" b="1" dirty="0">
                <a:solidFill>
                  <a:schemeClr val="tx1"/>
                </a:solidFill>
                <a:latin typeface="Courier New" pitchFamily="34" charset="0"/>
                <a:ea typeface="Courier New" pitchFamily="34" charset="-122"/>
                <a:cs typeface="Courier New" pitchFamily="34" charset="-120"/>
              </a:rPr>
              <a:t>satisfaction_minimale</a:t>
            </a:r>
            <a:endParaRPr lang="en-US" sz="1700" dirty="0"/>
          </a:p>
        </p:txBody>
      </p:sp>
      <p:sp>
        <p:nvSpPr>
          <p:cNvPr id="22" name="Text 18"/>
          <p:cNvSpPr txBox="1"/>
          <p:nvPr/>
        </p:nvSpPr>
        <p:spPr>
          <a:xfrm>
            <a:off x="8356397" y="2194560"/>
            <a:ext cx="3058058" cy="365760"/>
          </a:xfrm>
          <a:prstGeom prst="rect">
            <a:avLst/>
          </a:prstGeom>
          <a:noFill/>
          <a:ln/>
        </p:spPr>
        <p:txBody>
          <a:bodyPr wrap="square" lIns="0" tIns="0" rIns="0" bIns="0" rtlCol="0" anchor="t"/>
          <a:lstStyle/>
          <a:p>
            <a:pPr indent="0" marL="0">
              <a:buNone/>
            </a:pPr>
            <a:r>
              <a:rPr lang="en-US" sz="1400" dirty="0">
                <a:solidFill>
                  <a:schemeClr val="accent5"/>
                </a:solidFill>
              </a:rPr>
              <a:t>La plus basse des 4 notes de satisfaction</a:t>
            </a:r>
            <a:endParaRPr lang="en-US" sz="1400" dirty="0"/>
          </a:p>
        </p:txBody>
      </p:sp>
      <p:sp>
        <p:nvSpPr>
          <p:cNvPr id="23" name="Text 19"/>
          <p:cNvSpPr txBox="1"/>
          <p:nvPr/>
        </p:nvSpPr>
        <p:spPr>
          <a:xfrm>
            <a:off x="8356397" y="2651760"/>
            <a:ext cx="3058058"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21,2 %</a:t>
            </a:r>
            <a:endParaRPr lang="en-US" sz="4400" dirty="0"/>
          </a:p>
        </p:txBody>
      </p:sp>
      <p:sp>
        <p:nvSpPr>
          <p:cNvPr id="24" name="Text 20"/>
          <p:cNvSpPr txBox="1"/>
          <p:nvPr/>
        </p:nvSpPr>
        <p:spPr>
          <a:xfrm>
            <a:off x="8356397" y="3410712"/>
            <a:ext cx="3058058" cy="274320"/>
          </a:xfrm>
          <a:prstGeom prst="rect">
            <a:avLst/>
          </a:prstGeom>
          <a:noFill/>
          <a:ln/>
        </p:spPr>
        <p:txBody>
          <a:bodyPr wrap="square" lIns="0" tIns="0" rIns="0" bIns="0" rtlCol="0" anchor="t"/>
          <a:lstStyle/>
          <a:p>
            <a:pPr indent="0" marL="0">
              <a:buNone/>
            </a:pPr>
            <a:r>
              <a:rPr lang="en-US" sz="1400" b="1" dirty="0">
                <a:solidFill>
                  <a:schemeClr val="tx1"/>
                </a:solidFill>
              </a:rPr>
              <a:t>de départs</a:t>
            </a:r>
            <a:endParaRPr lang="en-US" sz="1400" dirty="0"/>
          </a:p>
        </p:txBody>
      </p:sp>
      <p:sp>
        <p:nvSpPr>
          <p:cNvPr id="25" name="Text 21"/>
          <p:cNvSpPr txBox="1"/>
          <p:nvPr/>
        </p:nvSpPr>
        <p:spPr>
          <a:xfrm>
            <a:off x="8356397" y="3703320"/>
            <a:ext cx="3058058" cy="548640"/>
          </a:xfrm>
          <a:prstGeom prst="rect">
            <a:avLst/>
          </a:prstGeom>
          <a:noFill/>
          <a:ln/>
        </p:spPr>
        <p:txBody>
          <a:bodyPr wrap="square" lIns="0" tIns="0" rIns="0" bIns="0" rtlCol="0" anchor="t"/>
          <a:lstStyle/>
          <a:p>
            <a:pPr indent="0" marL="0">
              <a:buNone/>
            </a:pPr>
            <a:r>
              <a:rPr lang="en-US" sz="1300" dirty="0">
                <a:solidFill>
                  <a:schemeClr val="accent5"/>
                </a:solidFill>
              </a:rPr>
              <a:t>8,6 % si toutes sont à 3 ou plus  ·  737 collaborateurs ont une note à 1</a:t>
            </a:r>
            <a:endParaRPr lang="en-US" sz="1300" dirty="0"/>
          </a:p>
        </p:txBody>
      </p:sp>
      <p:pic>
        <p:nvPicPr>
          <p:cNvPr id="26" name="fleche satisfaction_minimale" descr="preencoded.png">    </p:cNvPr>
          <p:cNvPicPr>
            <a:picLocks noChangeAspect="1"/>
          </p:cNvPicPr>
          <p:nvPr/>
        </p:nvPicPr>
        <p:blipFill>
          <a:blip r:embed="rId3"/>
          <a:stretch>
            <a:fillRect/>
          </a:stretch>
        </p:blipFill>
        <p:spPr>
          <a:xfrm>
            <a:off x="8356397" y="4498848"/>
            <a:ext cx="274320" cy="274320"/>
          </a:xfrm>
          <a:prstGeom prst="rect">
            <a:avLst/>
          </a:prstGeom>
        </p:spPr>
      </p:pic>
      <p:sp>
        <p:nvSpPr>
          <p:cNvPr id="27" name="Text 22"/>
          <p:cNvSpPr txBox="1"/>
          <p:nvPr/>
        </p:nvSpPr>
        <p:spPr>
          <a:xfrm>
            <a:off x="8767877" y="4453128"/>
            <a:ext cx="2646578" cy="731520"/>
          </a:xfrm>
          <a:prstGeom prst="rect">
            <a:avLst/>
          </a:prstGeom>
          <a:noFill/>
          <a:ln/>
        </p:spPr>
        <p:txBody>
          <a:bodyPr wrap="square" lIns="0" tIns="0" rIns="0" bIns="0" rtlCol="0" anchor="t"/>
          <a:lstStyle/>
          <a:p>
            <a:pPr indent="0" marL="0">
              <a:buNone/>
            </a:pPr>
            <a:r>
              <a:rPr lang="en-US" sz="1400" b="1" dirty="0">
                <a:solidFill>
                  <a:schemeClr val="accent3"/>
                </a:solidFill>
              </a:rPr>
              <a:t>Échange dès qu'une dimension est notée 1</a:t>
            </a:r>
            <a:endParaRPr lang="en-US" sz="1400" dirty="0"/>
          </a:p>
        </p:txBody>
      </p:sp>
      <p:sp>
        <p:nvSpPr>
          <p:cNvPr id="28" name="Text 23"/>
          <p:cNvSpPr txBox="1"/>
          <p:nvPr/>
        </p:nvSpPr>
        <p:spPr>
          <a:xfrm>
            <a:off x="548640" y="5577840"/>
            <a:ext cx="11094415" cy="640080"/>
          </a:xfrm>
          <a:prstGeom prst="rect">
            <a:avLst/>
          </a:prstGeom>
          <a:noFill/>
          <a:ln/>
        </p:spPr>
        <p:txBody>
          <a:bodyPr wrap="square" lIns="0" tIns="0" rIns="0" bIns="0" rtlCol="0" anchor="t"/>
          <a:lstStyle/>
          <a:p>
            <a:pPr indent="0" marL="0">
              <a:buNone/>
            </a:pPr>
            <a:r>
              <a:rPr lang="en-US" sz="1400" dirty="0">
                <a:solidFill>
                  <a:schemeClr val="accent5"/>
                </a:solidFill>
              </a:rPr>
              <a:t>Calculées ligne par ligne, sans statistique apprise ni cible : pas de fuite, création possible avant le découpage. Le début de carrière repose sur l'expérience, pas sur l'âge, qui est une variable sensible.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PRÉPARATION DES FEATURES  ·  ÉTAPE 2</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Encodage sans fuite, redondance retirée</a:t>
            </a:r>
            <a:endParaRPr lang="en-US" sz="3400" dirty="0"/>
          </a:p>
        </p:txBody>
      </p:sp>
      <p:graphicFrame>
        <p:nvGraphicFramePr>
          <p:cNvPr id="8" name="tableau encodage"/>
          <p:cNvGraphicFramePr>
            <a:graphicFrameLocks noGrp="1"/>
          </p:cNvGraphicFramePr>
          <p:nvPr>
            <p:extLst>
              <p:ext uri="{D42A27DB-BD31-4B8C-83A1-F6EECF244321}">
                <p14:modId xmlns:p14="http://schemas.microsoft.com/office/powerpoint/2010/main" val="1579011935"/>
              </p:ext>
            </p:extLst>
          </p:nvPr>
        </p:nvGraphicFramePr>
        <p:xfrm>
          <a:off x="548640" y="1600200"/>
          <a:ext cx="6858000" cy="914400"/>
        </p:xfrm>
        <a:graphic>
          <a:graphicData uri="http://schemas.openxmlformats.org/drawingml/2006/table">
            <a:tbl>
              <a:tblPr/>
              <a:tblGrid>
                <a:gridCol w="1737360"/>
                <a:gridCol w="2926080"/>
                <a:gridCol w="2194560"/>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Nature</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Variables</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Encodage</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56692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Binaire</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genre, heures supplémentaires</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0 / 1</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Ordinale en texte</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fréquence de déplacement</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Aucun 0, Occasionnel 1, Fréquent 2</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Ordinale numérique</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satisfactions, notes, niveau d'études</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conservées telles quelles</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692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Nominale</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département, poste, statut marital, domaine d'études</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one-hot</a:t>
                      </a:r>
                      <a:endParaRPr lang="en-US" sz="14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5" name="Text 2"/>
          <p:cNvSpPr txBox="1"/>
          <p:nvPr/>
        </p:nvSpPr>
        <p:spPr>
          <a:xfrm>
            <a:off x="548640" y="4663440"/>
            <a:ext cx="6858000" cy="128016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rPr>
              <a:t>Correspondances fixes, écrites à la main : aucun fit(), donc aucune fuite avant le découpage.</a:t>
            </a:r>
            <a:endParaRPr lang="en-US" sz="1400" dirty="0"/>
          </a:p>
          <a:p>
            <a:pPr indent="0" marL="0">
              <a:spcAft>
                <a:spcPts val="600"/>
              </a:spcAft>
              <a:buNone/>
            </a:pPr>
            <a:r>
              <a:rPr lang="en-US" sz="1400" dirty="0">
                <a:solidFill>
                  <a:schemeClr val="accent5"/>
                </a:solidFill>
              </a:rPr>
              <a:t>La mise à l'échelle (StandardScaler) apprend une moyenne et un écart-type : elle est ajustée plus tard, dans le pipeline, sur l'entraînement seul.</a:t>
            </a:r>
            <a:endParaRPr lang="en-US" sz="1400" dirty="0"/>
          </a:p>
        </p:txBody>
      </p:sp>
      <p:sp>
        <p:nvSpPr>
          <p:cNvPr id="6" name="pearson"/>
          <p:cNvSpPr/>
          <p:nvPr/>
        </p:nvSpPr>
        <p:spPr>
          <a:xfrm>
            <a:off x="7772400" y="1600200"/>
            <a:ext cx="3870655" cy="1417320"/>
          </a:xfrm>
          <a:prstGeom prst="roundRect">
            <a:avLst>
              <a:gd name="adj" fmla="val 5161"/>
            </a:avLst>
          </a:prstGeom>
          <a:solidFill>
            <a:schemeClr val="bg2"/>
          </a:solidFill>
          <a:ln/>
        </p:spPr>
      </p:sp>
      <p:sp>
        <p:nvSpPr>
          <p:cNvPr id="7" name="Text 4"/>
          <p:cNvSpPr txBox="1"/>
          <p:nvPr/>
        </p:nvSpPr>
        <p:spPr>
          <a:xfrm>
            <a:off x="8001000" y="1709928"/>
            <a:ext cx="14630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0,95</a:t>
            </a:r>
            <a:endParaRPr lang="en-US" sz="4000" dirty="0"/>
          </a:p>
        </p:txBody>
      </p:sp>
      <p:sp>
        <p:nvSpPr>
          <p:cNvPr id="8" name="Text 5"/>
          <p:cNvSpPr txBox="1"/>
          <p:nvPr/>
        </p:nvSpPr>
        <p:spPr>
          <a:xfrm>
            <a:off x="9509760" y="1764792"/>
            <a:ext cx="1950415" cy="1143000"/>
          </a:xfrm>
          <a:prstGeom prst="rect">
            <a:avLst/>
          </a:prstGeom>
          <a:noFill/>
          <a:ln/>
        </p:spPr>
        <p:txBody>
          <a:bodyPr wrap="square" lIns="0" tIns="0" rIns="0" bIns="0" rtlCol="0" anchor="t"/>
          <a:lstStyle/>
          <a:p>
            <a:pPr indent="0" marL="0">
              <a:buNone/>
            </a:pPr>
            <a:r>
              <a:rPr lang="en-US" sz="1300" dirty="0">
                <a:solidFill>
                  <a:schemeClr val="tx1"/>
                </a:solidFill>
              </a:rPr>
              <a:t>Pearson entre revenu et niveau hiérarchique : niveau hiérarchique retiré, revenu conservé (plus fin, actionnable)</a:t>
            </a:r>
            <a:endParaRPr lang="en-US" sz="1300" dirty="0"/>
          </a:p>
        </p:txBody>
      </p:sp>
      <p:sp>
        <p:nvSpPr>
          <p:cNvPr id="9" name="spearman"/>
          <p:cNvSpPr/>
          <p:nvPr/>
        </p:nvSpPr>
        <p:spPr>
          <a:xfrm>
            <a:off x="7772400" y="3246120"/>
            <a:ext cx="3870655" cy="1417320"/>
          </a:xfrm>
          <a:prstGeom prst="roundRect">
            <a:avLst>
              <a:gd name="adj" fmla="val 5161"/>
            </a:avLst>
          </a:prstGeom>
          <a:solidFill>
            <a:schemeClr val="bg2"/>
          </a:solidFill>
          <a:ln/>
        </p:spPr>
      </p:sp>
      <p:sp>
        <p:nvSpPr>
          <p:cNvPr id="10" name="Text 7"/>
          <p:cNvSpPr txBox="1"/>
          <p:nvPr/>
        </p:nvSpPr>
        <p:spPr>
          <a:xfrm>
            <a:off x="8001000" y="3355848"/>
            <a:ext cx="146304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0,85</a:t>
            </a:r>
            <a:endParaRPr lang="en-US" sz="4000" dirty="0"/>
          </a:p>
        </p:txBody>
      </p:sp>
      <p:sp>
        <p:nvSpPr>
          <p:cNvPr id="11" name="Text 8"/>
          <p:cNvSpPr txBox="1"/>
          <p:nvPr/>
        </p:nvSpPr>
        <p:spPr>
          <a:xfrm>
            <a:off x="9509760" y="3410712"/>
            <a:ext cx="1950415" cy="1143000"/>
          </a:xfrm>
          <a:prstGeom prst="rect">
            <a:avLst/>
          </a:prstGeom>
          <a:noFill/>
          <a:ln/>
        </p:spPr>
        <p:txBody>
          <a:bodyPr wrap="square" lIns="0" tIns="0" rIns="0" bIns="0" rtlCol="0" anchor="t"/>
          <a:lstStyle/>
          <a:p>
            <a:pPr indent="0" marL="0">
              <a:buNone/>
            </a:pPr>
            <a:r>
              <a:rPr lang="en-US" sz="1300" dirty="0">
                <a:solidFill>
                  <a:schemeClr val="tx1"/>
                </a:solidFill>
              </a:rPr>
              <a:t>Spearman entre ancienneté entreprise et poste (Pearson 0,76) : lien non linéaire, variables gardées et lues en bloc</a:t>
            </a:r>
            <a:endParaRPr lang="en-US" sz="1300" dirty="0"/>
          </a:p>
        </p:txBody>
      </p:sp>
      <p:sp>
        <p:nvSpPr>
          <p:cNvPr id="12" name="livrable X y"/>
          <p:cNvSpPr/>
          <p:nvPr/>
        </p:nvSpPr>
        <p:spPr>
          <a:xfrm>
            <a:off x="7772400" y="4892040"/>
            <a:ext cx="3870655" cy="1051560"/>
          </a:xfrm>
          <a:prstGeom prst="roundRect">
            <a:avLst>
              <a:gd name="adj" fmla="val 6957"/>
            </a:avLst>
          </a:prstGeom>
          <a:solidFill>
            <a:schemeClr val="tx1"/>
          </a:solidFill>
          <a:ln/>
        </p:spPr>
      </p:sp>
      <p:sp>
        <p:nvSpPr>
          <p:cNvPr id="13" name="Text 10"/>
          <p:cNvSpPr txBox="1"/>
          <p:nvPr/>
        </p:nvSpPr>
        <p:spPr>
          <a:xfrm>
            <a:off x="8001000" y="5056632"/>
            <a:ext cx="3413455" cy="731520"/>
          </a:xfrm>
          <a:prstGeom prst="rect">
            <a:avLst/>
          </a:prstGeom>
          <a:noFill/>
          <a:ln/>
        </p:spPr>
        <p:txBody>
          <a:bodyPr wrap="square" lIns="0" tIns="0" rIns="0" bIns="0" rtlCol="0" anchor="t"/>
          <a:lstStyle/>
          <a:p>
            <a:pPr indent="0" marL="0">
              <a:buNone/>
            </a:pPr>
            <a:r>
              <a:rPr lang="en-US" sz="1500" b="1" dirty="0">
                <a:solidFill>
                  <a:schemeClr val="bg1"/>
                </a:solidFill>
              </a:rPr>
              <a:t>X : 1 470 × 46 features</a:t>
            </a:r>
            <a:endParaRPr lang="en-US" sz="1500" dirty="0"/>
          </a:p>
          <a:p>
            <a:pPr indent="0" marL="0">
              <a:buNone/>
            </a:pPr>
            <a:r>
              <a:rPr lang="en-US" sz="1500" dirty="0">
                <a:solidFill>
                  <a:schemeClr val="bg1"/>
                </a:solidFill>
              </a:rPr>
              <a:t>y : 16,1 % de départs  ·  check_X_y validé</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MODÉLISATION  ·  PROTOCOLE</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Un protocole qui protège le jeu de test</a:t>
            </a:r>
            <a:endParaRPr lang="en-US" sz="3400" dirty="0"/>
          </a:p>
        </p:txBody>
      </p:sp>
      <p:sp>
        <p:nvSpPr>
          <p:cNvPr id="4" name="jeu 1"/>
          <p:cNvSpPr/>
          <p:nvPr/>
        </p:nvSpPr>
        <p:spPr>
          <a:xfrm>
            <a:off x="548640" y="1600200"/>
            <a:ext cx="6583497" cy="1325880"/>
          </a:xfrm>
          <a:prstGeom prst="roundRect">
            <a:avLst>
              <a:gd name="adj" fmla="val 4138"/>
            </a:avLst>
          </a:prstGeom>
          <a:solidFill>
            <a:schemeClr val="tx1"/>
          </a:solidFill>
          <a:ln/>
        </p:spPr>
      </p:sp>
      <p:sp>
        <p:nvSpPr>
          <p:cNvPr id="5" name="Text 3"/>
          <p:cNvSpPr txBox="1"/>
          <p:nvPr/>
        </p:nvSpPr>
        <p:spPr>
          <a:xfrm>
            <a:off x="731520" y="1737360"/>
            <a:ext cx="6217737" cy="1097280"/>
          </a:xfrm>
          <a:prstGeom prst="rect">
            <a:avLst/>
          </a:prstGeom>
          <a:noFill/>
          <a:ln/>
        </p:spPr>
        <p:txBody>
          <a:bodyPr wrap="square" lIns="0" tIns="0" rIns="0" bIns="0" rtlCol="0" anchor="t"/>
          <a:lstStyle/>
          <a:p>
            <a:pPr indent="0" marL="0">
              <a:buNone/>
            </a:pPr>
            <a:r>
              <a:rPr lang="en-US" sz="1600" b="1" dirty="0">
                <a:solidFill>
                  <a:schemeClr val="bg1"/>
                </a:solidFill>
              </a:rPr>
              <a:t>Entraînement 60 %</a:t>
            </a:r>
            <a:endParaRPr lang="en-US" sz="1300" dirty="0"/>
          </a:p>
          <a:p>
            <a:pPr indent="0" marL="0">
              <a:buNone/>
            </a:pPr>
            <a:r>
              <a:rPr lang="en-US" sz="1300" dirty="0">
                <a:solidFill>
                  <a:schemeClr val="bg1"/>
                </a:solidFill>
              </a:rPr>
              <a:t>882 collaborateurs · 143 départs</a:t>
            </a:r>
            <a:endParaRPr lang="en-US" sz="1300" dirty="0"/>
          </a:p>
          <a:p>
            <a:pPr indent="0" marL="0">
              <a:buNone/>
            </a:pPr>
            <a:r>
              <a:rPr lang="en-US" sz="1300" i="1" dirty="0">
                <a:solidFill>
                  <a:schemeClr val="bg1"/>
                </a:solidFill>
              </a:rPr>
              <a:t>fit et validation croisée 5 plis</a:t>
            </a:r>
            <a:endParaRPr lang="en-US" sz="1300" dirty="0"/>
          </a:p>
        </p:txBody>
      </p:sp>
      <p:sp>
        <p:nvSpPr>
          <p:cNvPr id="6" name="jeu 2"/>
          <p:cNvSpPr/>
          <p:nvPr/>
        </p:nvSpPr>
        <p:spPr>
          <a:xfrm>
            <a:off x="7205289" y="1600200"/>
            <a:ext cx="2145731" cy="1325880"/>
          </a:xfrm>
          <a:prstGeom prst="roundRect">
            <a:avLst>
              <a:gd name="adj" fmla="val 4138"/>
            </a:avLst>
          </a:prstGeom>
          <a:solidFill>
            <a:schemeClr val="accent5"/>
          </a:solidFill>
          <a:ln/>
        </p:spPr>
      </p:sp>
      <p:sp>
        <p:nvSpPr>
          <p:cNvPr id="7" name="Text 5"/>
          <p:cNvSpPr txBox="1"/>
          <p:nvPr/>
        </p:nvSpPr>
        <p:spPr>
          <a:xfrm>
            <a:off x="7388169" y="1737360"/>
            <a:ext cx="1779971" cy="1097280"/>
          </a:xfrm>
          <a:prstGeom prst="rect">
            <a:avLst/>
          </a:prstGeom>
          <a:noFill/>
          <a:ln/>
        </p:spPr>
        <p:txBody>
          <a:bodyPr wrap="square" lIns="0" tIns="0" rIns="0" bIns="0" rtlCol="0" anchor="t"/>
          <a:lstStyle/>
          <a:p>
            <a:pPr indent="0" marL="0">
              <a:buNone/>
            </a:pPr>
            <a:r>
              <a:rPr lang="en-US" sz="1600" b="1" dirty="0">
                <a:solidFill>
                  <a:schemeClr val="bg1"/>
                </a:solidFill>
              </a:rPr>
              <a:t>Validation 20 %</a:t>
            </a:r>
            <a:endParaRPr lang="en-US" sz="1300" dirty="0"/>
          </a:p>
          <a:p>
            <a:pPr indent="0" marL="0">
              <a:buNone/>
            </a:pPr>
            <a:r>
              <a:rPr lang="en-US" sz="1300" dirty="0">
                <a:solidFill>
                  <a:schemeClr val="bg1"/>
                </a:solidFill>
              </a:rPr>
              <a:t>294 · 47 départs</a:t>
            </a:r>
            <a:endParaRPr lang="en-US" sz="1300" dirty="0"/>
          </a:p>
          <a:p>
            <a:pPr indent="0" marL="0">
              <a:buNone/>
            </a:pPr>
            <a:r>
              <a:rPr lang="en-US" sz="1300" i="1" dirty="0">
                <a:solidFill>
                  <a:schemeClr val="bg1"/>
                </a:solidFill>
              </a:rPr>
              <a:t>comparer les modèles</a:t>
            </a:r>
            <a:endParaRPr lang="en-US" sz="1300" dirty="0"/>
          </a:p>
        </p:txBody>
      </p:sp>
      <p:sp>
        <p:nvSpPr>
          <p:cNvPr id="8" name="jeu 3"/>
          <p:cNvSpPr/>
          <p:nvPr/>
        </p:nvSpPr>
        <p:spPr>
          <a:xfrm>
            <a:off x="9424172" y="1600200"/>
            <a:ext cx="2218883" cy="1325880"/>
          </a:xfrm>
          <a:prstGeom prst="roundRect">
            <a:avLst>
              <a:gd name="adj" fmla="val 4138"/>
            </a:avLst>
          </a:prstGeom>
          <a:solidFill>
            <a:schemeClr val="accent6"/>
          </a:solidFill>
          <a:ln/>
        </p:spPr>
      </p:sp>
      <p:sp>
        <p:nvSpPr>
          <p:cNvPr id="9" name="Text 7"/>
          <p:cNvSpPr txBox="1"/>
          <p:nvPr/>
        </p:nvSpPr>
        <p:spPr>
          <a:xfrm>
            <a:off x="9607052" y="1737360"/>
            <a:ext cx="1853123" cy="1097280"/>
          </a:xfrm>
          <a:prstGeom prst="rect">
            <a:avLst/>
          </a:prstGeom>
          <a:noFill/>
          <a:ln/>
        </p:spPr>
        <p:txBody>
          <a:bodyPr wrap="square" lIns="0" tIns="0" rIns="0" bIns="0" rtlCol="0" anchor="t"/>
          <a:lstStyle/>
          <a:p>
            <a:pPr indent="0" marL="0">
              <a:buNone/>
            </a:pPr>
            <a:r>
              <a:rPr lang="en-US" sz="1600" b="1" dirty="0">
                <a:solidFill>
                  <a:schemeClr val="bg1"/>
                </a:solidFill>
              </a:rPr>
              <a:t>Test 20 %</a:t>
            </a:r>
            <a:endParaRPr lang="en-US" sz="1300" dirty="0"/>
          </a:p>
          <a:p>
            <a:pPr indent="0" marL="0">
              <a:buNone/>
            </a:pPr>
            <a:r>
              <a:rPr lang="en-US" sz="1300" dirty="0">
                <a:solidFill>
                  <a:schemeClr val="bg1"/>
                </a:solidFill>
              </a:rPr>
              <a:t>294 · 47 départs</a:t>
            </a:r>
            <a:endParaRPr lang="en-US" sz="1300" dirty="0"/>
          </a:p>
          <a:p>
            <a:pPr indent="0" marL="0">
              <a:buNone/>
            </a:pPr>
            <a:r>
              <a:rPr lang="en-US" sz="1300" i="1" dirty="0">
                <a:solidFill>
                  <a:schemeClr val="bg1"/>
                </a:solidFill>
              </a:rPr>
              <a:t>ouvert une seule fois, à la fin</a:t>
            </a:r>
            <a:endParaRPr lang="en-US" sz="1300" dirty="0"/>
          </a:p>
        </p:txBody>
      </p:sp>
      <p:sp>
        <p:nvSpPr>
          <p:cNvPr id="10" name="Text 8"/>
          <p:cNvSpPr txBox="1"/>
          <p:nvPr/>
        </p:nvSpPr>
        <p:spPr>
          <a:xfrm>
            <a:off x="548640" y="3035808"/>
            <a:ext cx="11094415" cy="320040"/>
          </a:xfrm>
          <a:prstGeom prst="rect">
            <a:avLst/>
          </a:prstGeom>
          <a:noFill/>
          <a:ln/>
        </p:spPr>
        <p:txBody>
          <a:bodyPr wrap="square" lIns="0" tIns="0" rIns="0" bIns="0" rtlCol="0" anchor="t"/>
          <a:lstStyle/>
          <a:p>
            <a:pPr indent="0" marL="0">
              <a:buNone/>
            </a:pPr>
            <a:r>
              <a:rPr lang="en-US" sz="1400" dirty="0">
                <a:solidFill>
                  <a:schemeClr val="accent5"/>
                </a:solidFill>
              </a:rPr>
              <a:t>Découpage stratifié : le taux de départ reste à 16 % dans les trois jeux. Le scaler et les modèles ne voient que l'entraînement.</a:t>
            </a:r>
            <a:endParaRPr lang="en-US" sz="1400" dirty="0"/>
          </a:p>
        </p:txBody>
      </p:sp>
      <p:sp>
        <p:nvSpPr>
          <p:cNvPr id="11" name="cout des erreurs"/>
          <p:cNvSpPr/>
          <p:nvPr/>
        </p:nvSpPr>
        <p:spPr>
          <a:xfrm>
            <a:off x="548640" y="3611880"/>
            <a:ext cx="5120640" cy="2606040"/>
          </a:xfrm>
          <a:prstGeom prst="roundRect">
            <a:avLst>
              <a:gd name="adj" fmla="val 2807"/>
            </a:avLst>
          </a:prstGeom>
          <a:solidFill>
            <a:schemeClr val="bg2"/>
          </a:solidFill>
          <a:ln/>
        </p:spPr>
      </p:sp>
      <p:sp>
        <p:nvSpPr>
          <p:cNvPr id="12" name="Text 10"/>
          <p:cNvSpPr txBox="1"/>
          <p:nvPr/>
        </p:nvSpPr>
        <p:spPr>
          <a:xfrm>
            <a:off x="777240" y="3794760"/>
            <a:ext cx="4663440" cy="365760"/>
          </a:xfrm>
          <a:prstGeom prst="rect">
            <a:avLst/>
          </a:prstGeom>
          <a:noFill/>
          <a:ln/>
        </p:spPr>
        <p:txBody>
          <a:bodyPr wrap="square" lIns="0" tIns="0" rIns="0" bIns="0" rtlCol="0" anchor="t"/>
          <a:lstStyle/>
          <a:p>
            <a:pPr indent="0" marL="0">
              <a:buNone/>
            </a:pPr>
            <a:r>
              <a:rPr lang="en-US" sz="1700" b="1" dirty="0">
                <a:solidFill>
                  <a:schemeClr val="tx1"/>
                </a:solidFill>
              </a:rPr>
              <a:t>Deux erreurs, deux coûts</a:t>
            </a:r>
            <a:endParaRPr lang="en-US" sz="1700" dirty="0"/>
          </a:p>
        </p:txBody>
      </p:sp>
      <p:sp>
        <p:nvSpPr>
          <p:cNvPr id="13" name="Text 11"/>
          <p:cNvSpPr txBox="1"/>
          <p:nvPr/>
        </p:nvSpPr>
        <p:spPr>
          <a:xfrm>
            <a:off x="777240" y="4297680"/>
            <a:ext cx="4663440" cy="1783080"/>
          </a:xfrm>
          <a:prstGeom prst="rect">
            <a:avLst/>
          </a:prstGeom>
          <a:noFill/>
          <a:ln/>
        </p:spPr>
        <p:txBody>
          <a:bodyPr wrap="square" lIns="0" tIns="0" rIns="0" bIns="0" rtlCol="0" anchor="t"/>
          <a:lstStyle/>
          <a:p>
            <a:pPr indent="0" marL="0">
              <a:spcAft>
                <a:spcPts val="1200"/>
              </a:spcAft>
              <a:buNone/>
            </a:pPr>
            <a:r>
              <a:rPr lang="en-US" sz="1500" b="1" dirty="0">
                <a:solidFill>
                  <a:schemeClr val="accent1"/>
                </a:solidFill>
              </a:rPr>
              <a:t>Départ manqué</a:t>
            </a:r>
            <a:pPr indent="0" marL="0">
              <a:spcAft>
                <a:spcPts val="1200"/>
              </a:spcAft>
              <a:buNone/>
            </a:pPr>
            <a:r>
              <a:rPr lang="en-US" sz="1500" dirty="0">
                <a:solidFill>
                  <a:schemeClr val="tx1"/>
                </a:solidFill>
              </a:rPr>
              <a:t> : un remplacement à financer, recrutement et montée en compétence</a:t>
            </a:r>
            <a:endParaRPr lang="en-US" sz="1500" dirty="0"/>
          </a:p>
          <a:p>
            <a:pPr indent="0" marL="0">
              <a:spcAft>
                <a:spcPts val="1200"/>
              </a:spcAft>
              <a:buNone/>
            </a:pPr>
            <a:r>
              <a:rPr lang="en-US" sz="1500" b="1" dirty="0">
                <a:solidFill>
                  <a:schemeClr val="accent6"/>
                </a:solidFill>
              </a:rPr>
              <a:t>Fausse alerte</a:t>
            </a:r>
            <a:pPr indent="0" marL="0">
              <a:spcAft>
                <a:spcPts val="1200"/>
              </a:spcAft>
              <a:buNone/>
            </a:pPr>
            <a:r>
              <a:rPr lang="en-US" sz="1500" dirty="0">
                <a:solidFill>
                  <a:schemeClr val="tx1"/>
                </a:solidFill>
              </a:rPr>
              <a:t> : un entretien de rétention en trop</a:t>
            </a:r>
            <a:endParaRPr lang="en-US" sz="1500" dirty="0"/>
          </a:p>
          <a:p>
            <a:pPr indent="0" marL="0">
              <a:spcAft>
                <a:spcPts val="1200"/>
              </a:spcAft>
              <a:buNone/>
            </a:pPr>
            <a:r>
              <a:rPr lang="en-US" sz="1500" b="1" dirty="0">
                <a:solidFill>
                  <a:schemeClr val="tx1"/>
                </a:solidFill>
              </a:rPr>
              <a:t>Je privilégie donc le rappel, sans ignorer la précision.</a:t>
            </a:r>
            <a:endParaRPr lang="en-US" sz="1500" dirty="0"/>
          </a:p>
        </p:txBody>
      </p:sp>
      <p:sp>
        <p:nvSpPr>
          <p:cNvPr id="14" name="Text 12"/>
          <p:cNvSpPr txBox="1"/>
          <p:nvPr/>
        </p:nvSpPr>
        <p:spPr>
          <a:xfrm>
            <a:off x="5943600" y="3611880"/>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Rappel</a:t>
            </a:r>
            <a:endParaRPr lang="en-US" sz="1500" dirty="0"/>
          </a:p>
        </p:txBody>
      </p:sp>
      <p:sp>
        <p:nvSpPr>
          <p:cNvPr id="15" name="Text 13"/>
          <p:cNvSpPr txBox="1"/>
          <p:nvPr/>
        </p:nvSpPr>
        <p:spPr>
          <a:xfrm>
            <a:off x="7269480" y="3611880"/>
            <a:ext cx="4343400" cy="411480"/>
          </a:xfrm>
          <a:prstGeom prst="rect">
            <a:avLst/>
          </a:prstGeom>
          <a:noFill/>
          <a:ln/>
        </p:spPr>
        <p:txBody>
          <a:bodyPr wrap="square" lIns="0" tIns="0" rIns="0" bIns="0" rtlCol="0" anchor="ctr"/>
          <a:lstStyle/>
          <a:p>
            <a:pPr indent="0" marL="0">
              <a:buNone/>
            </a:pPr>
            <a:r>
              <a:rPr lang="en-US" sz="1500" dirty="0">
                <a:solidFill>
                  <a:schemeClr val="tx1"/>
                </a:solidFill>
              </a:rPr>
              <a:t>sur 100 départs, combien sont détectés</a:t>
            </a:r>
            <a:endParaRPr lang="en-US" sz="1500" dirty="0"/>
          </a:p>
        </p:txBody>
      </p:sp>
      <p:sp>
        <p:nvSpPr>
          <p:cNvPr id="16" name="Text 14"/>
          <p:cNvSpPr txBox="1"/>
          <p:nvPr/>
        </p:nvSpPr>
        <p:spPr>
          <a:xfrm>
            <a:off x="5943600" y="4114800"/>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Précision</a:t>
            </a:r>
            <a:endParaRPr lang="en-US" sz="1500" dirty="0"/>
          </a:p>
        </p:txBody>
      </p:sp>
      <p:sp>
        <p:nvSpPr>
          <p:cNvPr id="17" name="Text 15"/>
          <p:cNvSpPr txBox="1"/>
          <p:nvPr/>
        </p:nvSpPr>
        <p:spPr>
          <a:xfrm>
            <a:off x="7269480" y="4114800"/>
            <a:ext cx="4343400" cy="411480"/>
          </a:xfrm>
          <a:prstGeom prst="rect">
            <a:avLst/>
          </a:prstGeom>
          <a:noFill/>
          <a:ln/>
        </p:spPr>
        <p:txBody>
          <a:bodyPr wrap="square" lIns="0" tIns="0" rIns="0" bIns="0" rtlCol="0" anchor="ctr"/>
          <a:lstStyle/>
          <a:p>
            <a:pPr indent="0" marL="0">
              <a:buNone/>
            </a:pPr>
            <a:r>
              <a:rPr lang="en-US" sz="1500" dirty="0">
                <a:solidFill>
                  <a:schemeClr val="tx1"/>
                </a:solidFill>
              </a:rPr>
              <a:t>sur 100 alertes, combien sont justes</a:t>
            </a:r>
            <a:endParaRPr lang="en-US" sz="1500" dirty="0"/>
          </a:p>
        </p:txBody>
      </p:sp>
      <p:sp>
        <p:nvSpPr>
          <p:cNvPr id="18" name="Text 16"/>
          <p:cNvSpPr txBox="1"/>
          <p:nvPr/>
        </p:nvSpPr>
        <p:spPr>
          <a:xfrm>
            <a:off x="5943600" y="4617720"/>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F2</a:t>
            </a:r>
            <a:endParaRPr lang="en-US" sz="1500" dirty="0"/>
          </a:p>
        </p:txBody>
      </p:sp>
      <p:sp>
        <p:nvSpPr>
          <p:cNvPr id="19" name="Text 17"/>
          <p:cNvSpPr txBox="1"/>
          <p:nvPr/>
        </p:nvSpPr>
        <p:spPr>
          <a:xfrm>
            <a:off x="7269480" y="4617720"/>
            <a:ext cx="4343400" cy="411480"/>
          </a:xfrm>
          <a:prstGeom prst="rect">
            <a:avLst/>
          </a:prstGeom>
          <a:noFill/>
          <a:ln/>
        </p:spPr>
        <p:txBody>
          <a:bodyPr wrap="square" lIns="0" tIns="0" rIns="0" bIns="0" rtlCol="0" anchor="ctr"/>
          <a:lstStyle/>
          <a:p>
            <a:pPr indent="0" marL="0">
              <a:buNone/>
            </a:pPr>
            <a:r>
              <a:rPr lang="en-US" sz="1500" dirty="0">
                <a:solidFill>
                  <a:schemeClr val="tx1"/>
                </a:solidFill>
              </a:rPr>
              <a:t>synthèse qui donne plus de poids au rappel</a:t>
            </a:r>
            <a:endParaRPr lang="en-US" sz="1500" dirty="0"/>
          </a:p>
        </p:txBody>
      </p:sp>
      <p:sp>
        <p:nvSpPr>
          <p:cNvPr id="20" name="Text 18"/>
          <p:cNvSpPr txBox="1"/>
          <p:nvPr/>
        </p:nvSpPr>
        <p:spPr>
          <a:xfrm>
            <a:off x="5943600" y="5120640"/>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AUC-PR</a:t>
            </a:r>
            <a:endParaRPr lang="en-US" sz="1500" dirty="0"/>
          </a:p>
        </p:txBody>
      </p:sp>
      <p:sp>
        <p:nvSpPr>
          <p:cNvPr id="21" name="Text 19"/>
          <p:cNvSpPr txBox="1"/>
          <p:nvPr/>
        </p:nvSpPr>
        <p:spPr>
          <a:xfrm>
            <a:off x="7269480" y="5120640"/>
            <a:ext cx="4343400" cy="411480"/>
          </a:xfrm>
          <a:prstGeom prst="rect">
            <a:avLst/>
          </a:prstGeom>
          <a:noFill/>
          <a:ln/>
        </p:spPr>
        <p:txBody>
          <a:bodyPr wrap="square" lIns="0" tIns="0" rIns="0" bIns="0" rtlCol="0" anchor="ctr"/>
          <a:lstStyle/>
          <a:p>
            <a:pPr indent="0" marL="0">
              <a:buNone/>
            </a:pPr>
            <a:r>
              <a:rPr lang="en-US" sz="1500" dirty="0">
                <a:solidFill>
                  <a:schemeClr val="tx1"/>
                </a:solidFill>
              </a:rPr>
              <a:t>qualité du classement, quel que soit le seuil</a:t>
            </a:r>
            <a:endParaRPr lang="en-US" sz="1500" dirty="0"/>
          </a:p>
        </p:txBody>
      </p:sp>
      <p:sp>
        <p:nvSpPr>
          <p:cNvPr id="22" name="Text 20"/>
          <p:cNvSpPr txBox="1"/>
          <p:nvPr/>
        </p:nvSpPr>
        <p:spPr>
          <a:xfrm>
            <a:off x="5943600" y="5715000"/>
            <a:ext cx="5669280" cy="457200"/>
          </a:xfrm>
          <a:prstGeom prst="rect">
            <a:avLst/>
          </a:prstGeom>
          <a:noFill/>
          <a:ln/>
        </p:spPr>
        <p:txBody>
          <a:bodyPr wrap="square" lIns="0" tIns="0" rIns="0" bIns="0" rtlCol="0" anchor="t"/>
          <a:lstStyle/>
          <a:p>
            <a:pPr indent="0" marL="0">
              <a:buNone/>
            </a:pPr>
            <a:r>
              <a:rPr lang="en-US" sz="1400" b="1" dirty="0">
                <a:solidFill>
                  <a:schemeClr val="accent1"/>
                </a:solidFill>
              </a:rPr>
              <a:t>Accuracy trompeuse : </a:t>
            </a:r>
            <a:pPr indent="0" marL="0">
              <a:buNone/>
            </a:pPr>
            <a:r>
              <a:rPr lang="en-US" sz="1400" dirty="0">
                <a:solidFill>
                  <a:schemeClr val="accent1"/>
                </a:solidFill>
              </a:rPr>
              <a:t>le Dummy atteint 84 % sans détecter un seul départ.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MODÉLISATION  ·  ÉTAPE 3  ·  MODÈLES DE RÉFÉRENCE</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Le linéaire généralise, la forêt surapprend</a:t>
            </a:r>
            <a:endParaRPr lang="en-US" sz="3400" dirty="0"/>
          </a:p>
        </p:txBody>
      </p:sp>
      <p:graphicFrame>
        <p:nvGraphicFramePr>
          <p:cNvPr id="4" name="f2 entrainement validation" descr=""/>
          <p:cNvGraphicFramePr/>
          <p:nvPr/>
        </p:nvGraphicFramePr>
        <p:xfrm>
          <a:off x="548640" y="160020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constat Dummy"/>
          <p:cNvSpPr/>
          <p:nvPr/>
        </p:nvSpPr>
        <p:spPr>
          <a:xfrm>
            <a:off x="6949440" y="1600200"/>
            <a:ext cx="4693615" cy="1143000"/>
          </a:xfrm>
          <a:prstGeom prst="roundRect">
            <a:avLst>
              <a:gd name="adj" fmla="val 6400"/>
            </a:avLst>
          </a:prstGeom>
          <a:solidFill>
            <a:schemeClr val="bg2"/>
          </a:solidFill>
          <a:ln/>
        </p:spPr>
      </p:sp>
      <p:sp>
        <p:nvSpPr>
          <p:cNvPr id="6" name="Text 3"/>
          <p:cNvSpPr txBox="1"/>
          <p:nvPr/>
        </p:nvSpPr>
        <p:spPr>
          <a:xfrm>
            <a:off x="7178040" y="1709928"/>
            <a:ext cx="4236415" cy="320040"/>
          </a:xfrm>
          <a:prstGeom prst="rect">
            <a:avLst/>
          </a:prstGeom>
          <a:noFill/>
          <a:ln/>
        </p:spPr>
        <p:txBody>
          <a:bodyPr wrap="square" lIns="0" tIns="0" rIns="0" bIns="0" rtlCol="0" anchor="t"/>
          <a:lstStyle/>
          <a:p>
            <a:pPr indent="0" marL="0">
              <a:buNone/>
            </a:pPr>
            <a:r>
              <a:rPr lang="en-US" sz="1500" b="1" dirty="0">
                <a:solidFill>
                  <a:schemeClr val="accent5"/>
                </a:solidFill>
              </a:rPr>
              <a:t>Dummy</a:t>
            </a:r>
            <a:endParaRPr lang="en-US" sz="1500" dirty="0"/>
          </a:p>
        </p:txBody>
      </p:sp>
      <p:sp>
        <p:nvSpPr>
          <p:cNvPr id="7" name="Text 4"/>
          <p:cNvSpPr txBox="1"/>
          <p:nvPr/>
        </p:nvSpPr>
        <p:spPr>
          <a:xfrm>
            <a:off x="7178040" y="2039112"/>
            <a:ext cx="4236415" cy="658368"/>
          </a:xfrm>
          <a:prstGeom prst="rect">
            <a:avLst/>
          </a:prstGeom>
          <a:noFill/>
          <a:ln/>
        </p:spPr>
        <p:txBody>
          <a:bodyPr wrap="square" lIns="0" tIns="0" rIns="0" bIns="0" rtlCol="0" anchor="t"/>
          <a:lstStyle/>
          <a:p>
            <a:pPr indent="0" marL="0">
              <a:buNone/>
            </a:pPr>
            <a:r>
              <a:rPr lang="en-US" sz="1300" dirty="0">
                <a:solidFill>
                  <a:schemeClr val="tx1"/>
                </a:solidFill>
              </a:rPr>
              <a:t>84 % d'accuracy, 0 départ détecté sur 47 : le plancher à dépasser</a:t>
            </a:r>
            <a:endParaRPr lang="en-US" sz="1300" dirty="0"/>
          </a:p>
        </p:txBody>
      </p:sp>
      <p:sp>
        <p:nvSpPr>
          <p:cNvPr id="8" name="constat Régression logistique"/>
          <p:cNvSpPr/>
          <p:nvPr/>
        </p:nvSpPr>
        <p:spPr>
          <a:xfrm>
            <a:off x="6949440" y="2898648"/>
            <a:ext cx="4693615" cy="1143000"/>
          </a:xfrm>
          <a:prstGeom prst="roundRect">
            <a:avLst>
              <a:gd name="adj" fmla="val 6400"/>
            </a:avLst>
          </a:prstGeom>
          <a:solidFill>
            <a:schemeClr val="bg2"/>
          </a:solidFill>
          <a:ln/>
        </p:spPr>
      </p:sp>
      <p:sp>
        <p:nvSpPr>
          <p:cNvPr id="9" name="Text 6"/>
          <p:cNvSpPr txBox="1"/>
          <p:nvPr/>
        </p:nvSpPr>
        <p:spPr>
          <a:xfrm>
            <a:off x="7178040" y="3008376"/>
            <a:ext cx="4236415" cy="320040"/>
          </a:xfrm>
          <a:prstGeom prst="rect">
            <a:avLst/>
          </a:prstGeom>
          <a:noFill/>
          <a:ln/>
        </p:spPr>
        <p:txBody>
          <a:bodyPr wrap="square" lIns="0" tIns="0" rIns="0" bIns="0" rtlCol="0" anchor="t"/>
          <a:lstStyle/>
          <a:p>
            <a:pPr indent="0" marL="0">
              <a:buNone/>
            </a:pPr>
            <a:r>
              <a:rPr lang="en-US" sz="1500" b="1" dirty="0">
                <a:solidFill>
                  <a:schemeClr val="accent2"/>
                </a:solidFill>
              </a:rPr>
              <a:t>Régression logistique</a:t>
            </a:r>
            <a:endParaRPr lang="en-US" sz="1500" dirty="0"/>
          </a:p>
        </p:txBody>
      </p:sp>
      <p:sp>
        <p:nvSpPr>
          <p:cNvPr id="10" name="Text 7"/>
          <p:cNvSpPr txBox="1"/>
          <p:nvPr/>
        </p:nvSpPr>
        <p:spPr>
          <a:xfrm>
            <a:off x="7178040" y="3337560"/>
            <a:ext cx="4236415" cy="658368"/>
          </a:xfrm>
          <a:prstGeom prst="rect">
            <a:avLst/>
          </a:prstGeom>
          <a:noFill/>
          <a:ln/>
        </p:spPr>
        <p:txBody>
          <a:bodyPr wrap="square" lIns="0" tIns="0" rIns="0" bIns="0" rtlCol="0" anchor="t"/>
          <a:lstStyle/>
          <a:p>
            <a:pPr indent="0" marL="0">
              <a:buNone/>
            </a:pPr>
            <a:r>
              <a:rPr lang="en-US" sz="1300" dirty="0">
                <a:solidFill>
                  <a:schemeClr val="tx1"/>
                </a:solidFill>
              </a:rPr>
              <a:t>28 départs sur 47, F2 proches en entraînement et validation : elle généralise, mais reste trop prudente au seuil de 0,5</a:t>
            </a:r>
            <a:endParaRPr lang="en-US" sz="1300" dirty="0"/>
          </a:p>
        </p:txBody>
      </p:sp>
      <p:sp>
        <p:nvSpPr>
          <p:cNvPr id="11" name="constat Forêt aléatoire"/>
          <p:cNvSpPr/>
          <p:nvPr/>
        </p:nvSpPr>
        <p:spPr>
          <a:xfrm>
            <a:off x="6949440" y="4197096"/>
            <a:ext cx="4693615" cy="1143000"/>
          </a:xfrm>
          <a:prstGeom prst="roundRect">
            <a:avLst>
              <a:gd name="adj" fmla="val 6400"/>
            </a:avLst>
          </a:prstGeom>
          <a:solidFill>
            <a:schemeClr val="bg2"/>
          </a:solidFill>
          <a:ln/>
        </p:spPr>
      </p:sp>
      <p:sp>
        <p:nvSpPr>
          <p:cNvPr id="12" name="Text 9"/>
          <p:cNvSpPr txBox="1"/>
          <p:nvPr/>
        </p:nvSpPr>
        <p:spPr>
          <a:xfrm>
            <a:off x="7178040" y="4306824"/>
            <a:ext cx="4236415" cy="320040"/>
          </a:xfrm>
          <a:prstGeom prst="rect">
            <a:avLst/>
          </a:prstGeom>
          <a:noFill/>
          <a:ln/>
        </p:spPr>
        <p:txBody>
          <a:bodyPr wrap="square" lIns="0" tIns="0" rIns="0" bIns="0" rtlCol="0" anchor="t"/>
          <a:lstStyle/>
          <a:p>
            <a:pPr indent="0" marL="0">
              <a:buNone/>
            </a:pPr>
            <a:r>
              <a:rPr lang="en-US" sz="1500" b="1" dirty="0">
                <a:solidFill>
                  <a:schemeClr val="accent1"/>
                </a:solidFill>
              </a:rPr>
              <a:t>Forêt aléatoire</a:t>
            </a:r>
            <a:endParaRPr lang="en-US" sz="1500" dirty="0"/>
          </a:p>
        </p:txBody>
      </p:sp>
      <p:sp>
        <p:nvSpPr>
          <p:cNvPr id="13" name="Text 10"/>
          <p:cNvSpPr txBox="1"/>
          <p:nvPr/>
        </p:nvSpPr>
        <p:spPr>
          <a:xfrm>
            <a:off x="7178040" y="4636008"/>
            <a:ext cx="4236415" cy="658368"/>
          </a:xfrm>
          <a:prstGeom prst="rect">
            <a:avLst/>
          </a:prstGeom>
          <a:noFill/>
          <a:ln/>
        </p:spPr>
        <p:txBody>
          <a:bodyPr wrap="square" lIns="0" tIns="0" rIns="0" bIns="0" rtlCol="0" anchor="t"/>
          <a:lstStyle/>
          <a:p>
            <a:pPr indent="0" marL="0">
              <a:buNone/>
            </a:pPr>
            <a:r>
              <a:rPr lang="en-US" sz="1300" dirty="0">
                <a:solidFill>
                  <a:schemeClr val="tx1"/>
                </a:solidFill>
              </a:rPr>
              <a:t>1,000 sur l'entraînement, 13 départs sur 47 en validation : elle apprend les exemples par cœur</a:t>
            </a:r>
            <a:endParaRPr lang="en-US" sz="1300" dirty="0"/>
          </a:p>
        </p:txBody>
      </p:sp>
      <p:sp>
        <p:nvSpPr>
          <p:cNvPr id="14" name="Text 11"/>
          <p:cNvSpPr txBox="1"/>
          <p:nvPr/>
        </p:nvSpPr>
        <p:spPr>
          <a:xfrm>
            <a:off x="6949440" y="5532120"/>
            <a:ext cx="4693615" cy="640080"/>
          </a:xfrm>
          <a:prstGeom prst="rect">
            <a:avLst/>
          </a:prstGeom>
          <a:noFill/>
          <a:ln/>
        </p:spPr>
        <p:txBody>
          <a:bodyPr wrap="square" lIns="0" tIns="0" rIns="0" bIns="0" rtlCol="0" anchor="t"/>
          <a:lstStyle/>
          <a:p>
            <a:pPr indent="0" marL="0">
              <a:buNone/>
            </a:pPr>
            <a:r>
              <a:rPr lang="en-US" sz="1400" b="1" dirty="0">
                <a:solidFill>
                  <a:schemeClr val="tx1"/>
                </a:solidFill>
              </a:rPr>
              <a:t>Le signal est surtout linéaire : les vrais problèmes sont le déséquilibre et le surapprentissage.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MODÉLISATION  ·  ÉTAPE 4  ·  CLASSES DÉSÉQUILIBRÉES</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Déséquilibre : la pondération bat SMOTE</a:t>
            </a:r>
            <a:endParaRPr lang="en-US" sz="3400" dirty="0"/>
          </a:p>
        </p:txBody>
      </p:sp>
      <p:graphicFrame>
        <p:nvGraphicFramePr>
          <p:cNvPr id="4" name="f2 variantes desequilibre" descr=""/>
          <p:cNvGraphicFramePr/>
          <p:nvPr/>
        </p:nvGraphicFramePr>
        <p:xfrm>
          <a:off x="548640" y="1600200"/>
          <a:ext cx="6309360" cy="4206240"/>
        </p:xfrm>
        <a:graphic xmlns:a="http://schemas.openxmlformats.org/drawingml/2006/main">
          <a:graphicData uri="http://schemas.openxmlformats.org/drawingml/2006/chart">
            <c:chart xmlns:c="http://schemas.openxmlformats.org/drawingml/2006/chart" r:id="rId1"/>
          </a:graphicData>
        </a:graphic>
      </p:graphicFrame>
      <p:sp>
        <p:nvSpPr>
          <p:cNvPr id="5" name="point 1"/>
          <p:cNvSpPr/>
          <p:nvPr/>
        </p:nvSpPr>
        <p:spPr>
          <a:xfrm>
            <a:off x="7223760" y="1600200"/>
            <a:ext cx="4419295" cy="1298448"/>
          </a:xfrm>
          <a:prstGeom prst="roundRect">
            <a:avLst>
              <a:gd name="adj" fmla="val 5634"/>
            </a:avLst>
          </a:prstGeom>
          <a:solidFill>
            <a:schemeClr val="bg2"/>
          </a:solidFill>
          <a:ln/>
        </p:spPr>
      </p:sp>
      <p:sp>
        <p:nvSpPr>
          <p:cNvPr id="6" name="Text 3"/>
          <p:cNvSpPr txBox="1"/>
          <p:nvPr/>
        </p:nvSpPr>
        <p:spPr>
          <a:xfrm>
            <a:off x="7452360" y="1709928"/>
            <a:ext cx="3962095" cy="320040"/>
          </a:xfrm>
          <a:prstGeom prst="rect">
            <a:avLst/>
          </a:prstGeom>
          <a:noFill/>
          <a:ln/>
        </p:spPr>
        <p:txBody>
          <a:bodyPr wrap="square" lIns="0" tIns="0" rIns="0" bIns="0" rtlCol="0" anchor="t"/>
          <a:lstStyle/>
          <a:p>
            <a:pPr indent="0" marL="0">
              <a:buNone/>
            </a:pPr>
            <a:r>
              <a:rPr lang="en-US" sz="1500" b="1" dirty="0">
                <a:solidFill>
                  <a:schemeClr val="tx1"/>
                </a:solidFill>
              </a:rPr>
              <a:t>Pondération des classes</a:t>
            </a:r>
            <a:endParaRPr lang="en-US" sz="1500" dirty="0"/>
          </a:p>
        </p:txBody>
      </p:sp>
      <p:sp>
        <p:nvSpPr>
          <p:cNvPr id="7" name="Text 4"/>
          <p:cNvSpPr txBox="1"/>
          <p:nvPr/>
        </p:nvSpPr>
        <p:spPr>
          <a:xfrm>
            <a:off x="7452360" y="2057400"/>
            <a:ext cx="3962095" cy="777240"/>
          </a:xfrm>
          <a:prstGeom prst="rect">
            <a:avLst/>
          </a:prstGeom>
          <a:noFill/>
          <a:ln/>
        </p:spPr>
        <p:txBody>
          <a:bodyPr wrap="square" lIns="0" tIns="0" rIns="0" bIns="0" rtlCol="0" anchor="t"/>
          <a:lstStyle/>
          <a:p>
            <a:pPr indent="0" marL="0">
              <a:buNone/>
            </a:pPr>
            <a:r>
              <a:rPr lang="en-US" sz="1300" dirty="0">
                <a:solidFill>
                  <a:schemeClr val="tx1"/>
                </a:solidFill>
              </a:rPr>
              <a:t>class_weight = « balanced » : un départ pèse 5,17 fois plus, sans donnée artificielle. Elle n'agit vraiment qu'avec des feuilles contraintes.</a:t>
            </a:r>
            <a:endParaRPr lang="en-US" sz="1300" dirty="0"/>
          </a:p>
        </p:txBody>
      </p:sp>
      <p:sp>
        <p:nvSpPr>
          <p:cNvPr id="8" name="point 2"/>
          <p:cNvSpPr/>
          <p:nvPr/>
        </p:nvSpPr>
        <p:spPr>
          <a:xfrm>
            <a:off x="7223760" y="3063240"/>
            <a:ext cx="4419295" cy="1298448"/>
          </a:xfrm>
          <a:prstGeom prst="roundRect">
            <a:avLst>
              <a:gd name="adj" fmla="val 5634"/>
            </a:avLst>
          </a:prstGeom>
          <a:solidFill>
            <a:schemeClr val="bg2"/>
          </a:solidFill>
          <a:ln/>
        </p:spPr>
      </p:sp>
      <p:sp>
        <p:nvSpPr>
          <p:cNvPr id="9" name="Text 6"/>
          <p:cNvSpPr txBox="1"/>
          <p:nvPr/>
        </p:nvSpPr>
        <p:spPr>
          <a:xfrm>
            <a:off x="7452360" y="3172968"/>
            <a:ext cx="3962095" cy="320040"/>
          </a:xfrm>
          <a:prstGeom prst="rect">
            <a:avLst/>
          </a:prstGeom>
          <a:noFill/>
          <a:ln/>
        </p:spPr>
        <p:txBody>
          <a:bodyPr wrap="square" lIns="0" tIns="0" rIns="0" bIns="0" rtlCol="0" anchor="t"/>
          <a:lstStyle/>
          <a:p>
            <a:pPr indent="0" marL="0">
              <a:buNone/>
            </a:pPr>
            <a:r>
              <a:rPr lang="en-US" sz="1500" b="1" dirty="0">
                <a:solidFill>
                  <a:schemeClr val="accent6"/>
                </a:solidFill>
              </a:rPr>
              <a:t>SMOTE testé, puis écarté</a:t>
            </a:r>
            <a:endParaRPr lang="en-US" sz="1500" dirty="0"/>
          </a:p>
        </p:txBody>
      </p:sp>
      <p:sp>
        <p:nvSpPr>
          <p:cNvPr id="10" name="Text 7"/>
          <p:cNvSpPr txBox="1"/>
          <p:nvPr/>
        </p:nvSpPr>
        <p:spPr>
          <a:xfrm>
            <a:off x="7452360" y="3520440"/>
            <a:ext cx="3962095" cy="777240"/>
          </a:xfrm>
          <a:prstGeom prst="rect">
            <a:avLst/>
          </a:prstGeom>
          <a:noFill/>
          <a:ln/>
        </p:spPr>
        <p:txBody>
          <a:bodyPr wrap="square" lIns="0" tIns="0" rIns="0" bIns="0" rtlCol="0" anchor="t"/>
          <a:lstStyle/>
          <a:p>
            <a:pPr indent="0" marL="0">
              <a:buNone/>
            </a:pPr>
            <a:r>
              <a:rPr lang="en-US" sz="1300" dirty="0">
                <a:solidFill>
                  <a:schemeClr val="tx1"/>
                </a:solidFill>
              </a:rPr>
              <a:t>Dans un pipeline imblearn, sur les seuls plis d'entraînement. F2 0,466 contre 0,550, rappel 0,440 contre 0,552.</a:t>
            </a:r>
            <a:endParaRPr lang="en-US" sz="1300" dirty="0"/>
          </a:p>
        </p:txBody>
      </p:sp>
      <p:sp>
        <p:nvSpPr>
          <p:cNvPr id="11" name="point 3"/>
          <p:cNvSpPr/>
          <p:nvPr/>
        </p:nvSpPr>
        <p:spPr>
          <a:xfrm>
            <a:off x="7223760" y="4526280"/>
            <a:ext cx="4419295" cy="1298448"/>
          </a:xfrm>
          <a:prstGeom prst="roundRect">
            <a:avLst>
              <a:gd name="adj" fmla="val 5634"/>
            </a:avLst>
          </a:prstGeom>
          <a:solidFill>
            <a:schemeClr val="bg2"/>
          </a:solidFill>
          <a:ln/>
        </p:spPr>
      </p:sp>
      <p:sp>
        <p:nvSpPr>
          <p:cNvPr id="12" name="Text 9"/>
          <p:cNvSpPr txBox="1"/>
          <p:nvPr/>
        </p:nvSpPr>
        <p:spPr>
          <a:xfrm>
            <a:off x="7452360" y="4636008"/>
            <a:ext cx="3962095" cy="320040"/>
          </a:xfrm>
          <a:prstGeom prst="rect">
            <a:avLst/>
          </a:prstGeom>
          <a:noFill/>
          <a:ln/>
        </p:spPr>
        <p:txBody>
          <a:bodyPr wrap="square" lIns="0" tIns="0" rIns="0" bIns="0" rtlCol="0" anchor="t"/>
          <a:lstStyle/>
          <a:p>
            <a:pPr indent="0" marL="0">
              <a:buNone/>
            </a:pPr>
            <a:r>
              <a:rPr lang="en-US" sz="1500" b="1" dirty="0">
                <a:solidFill>
                  <a:schemeClr val="tx1"/>
                </a:solidFill>
              </a:rPr>
              <a:t>Features métier conservées</a:t>
            </a:r>
            <a:endParaRPr lang="en-US" sz="1500" dirty="0"/>
          </a:p>
        </p:txBody>
      </p:sp>
      <p:sp>
        <p:nvSpPr>
          <p:cNvPr id="13" name="Text 10"/>
          <p:cNvSpPr txBox="1"/>
          <p:nvPr/>
        </p:nvSpPr>
        <p:spPr>
          <a:xfrm>
            <a:off x="7452360" y="4983480"/>
            <a:ext cx="3962095" cy="777240"/>
          </a:xfrm>
          <a:prstGeom prst="rect">
            <a:avLst/>
          </a:prstGeom>
          <a:noFill/>
          <a:ln/>
        </p:spPr>
        <p:txBody>
          <a:bodyPr wrap="square" lIns="0" tIns="0" rIns="0" bIns="0" rtlCol="0" anchor="t"/>
          <a:lstStyle/>
          <a:p>
            <a:pPr indent="0" marL="0">
              <a:buNone/>
            </a:pPr>
            <a:r>
              <a:rPr lang="en-US" sz="1300" dirty="0">
                <a:solidFill>
                  <a:schemeClr val="tx1"/>
                </a:solidFill>
              </a:rPr>
              <a:t>AUC-PR + 1,2 point pour XGBoost, + 3,6 points pour la régression logistique.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MODÉLISATION  ·  ÉTAPE 4  ·  SEUIL DE DÉCISION</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Un seuil fixé par une règle métier : 0,418</a:t>
            </a:r>
            <a:endParaRPr lang="en-US" sz="3400" dirty="0"/>
          </a:p>
        </p:txBody>
      </p:sp>
      <p:pic>
        <p:nvPicPr>
          <p:cNvPr id="4" name="courbe precision rappel" descr="Courbe précision-rappel hors pli et métriques selon le seuil, seuil retenu 0,42">    </p:cNvPr>
          <p:cNvPicPr>
            <a:picLocks noChangeAspect="1"/>
          </p:cNvPicPr>
          <p:nvPr/>
        </p:nvPicPr>
        <p:blipFill>
          <a:blip r:embed="rId1"/>
          <a:stretch>
            <a:fillRect/>
          </a:stretch>
        </p:blipFill>
        <p:spPr>
          <a:xfrm>
            <a:off x="975208" y="1554480"/>
            <a:ext cx="10241280" cy="3581488"/>
          </a:xfrm>
          <a:prstGeom prst="rect">
            <a:avLst/>
          </a:prstGeom>
        </p:spPr>
      </p:pic>
      <p:sp>
        <p:nvSpPr>
          <p:cNvPr id="5" name="seuil 1"/>
          <p:cNvSpPr/>
          <p:nvPr/>
        </p:nvSpPr>
        <p:spPr>
          <a:xfrm>
            <a:off x="548640" y="5257800"/>
            <a:ext cx="3515258" cy="1005840"/>
          </a:xfrm>
          <a:prstGeom prst="roundRect">
            <a:avLst>
              <a:gd name="adj" fmla="val 7273"/>
            </a:avLst>
          </a:prstGeom>
          <a:solidFill>
            <a:schemeClr val="bg2"/>
          </a:solidFill>
          <a:ln/>
        </p:spPr>
      </p:sp>
      <p:sp>
        <p:nvSpPr>
          <p:cNvPr id="6" name="Text 3"/>
          <p:cNvSpPr txBox="1"/>
          <p:nvPr/>
        </p:nvSpPr>
        <p:spPr>
          <a:xfrm>
            <a:off x="731520" y="5349240"/>
            <a:ext cx="3149498" cy="320040"/>
          </a:xfrm>
          <a:prstGeom prst="rect">
            <a:avLst/>
          </a:prstGeom>
          <a:noFill/>
          <a:ln/>
        </p:spPr>
        <p:txBody>
          <a:bodyPr wrap="square" lIns="0" tIns="0" rIns="0" bIns="0" rtlCol="0" anchor="t"/>
          <a:lstStyle/>
          <a:p>
            <a:pPr indent="0" marL="0">
              <a:buNone/>
            </a:pPr>
            <a:r>
              <a:rPr lang="en-US" sz="1400" b="1" dirty="0">
                <a:solidFill>
                  <a:schemeClr val="tx1"/>
                </a:solidFill>
              </a:rPr>
              <a:t>Pourquoi pas 0,5 ?</a:t>
            </a:r>
            <a:endParaRPr lang="en-US" sz="1400" dirty="0"/>
          </a:p>
        </p:txBody>
      </p:sp>
      <p:sp>
        <p:nvSpPr>
          <p:cNvPr id="7" name="Text 4"/>
          <p:cNvSpPr txBox="1"/>
          <p:nvPr/>
        </p:nvSpPr>
        <p:spPr>
          <a:xfrm>
            <a:off x="731520" y="5669280"/>
            <a:ext cx="3149498" cy="548640"/>
          </a:xfrm>
          <a:prstGeom prst="rect">
            <a:avLst/>
          </a:prstGeom>
          <a:noFill/>
          <a:ln/>
        </p:spPr>
        <p:txBody>
          <a:bodyPr wrap="square" lIns="0" tIns="0" rIns="0" bIns="0" rtlCol="0" anchor="t"/>
          <a:lstStyle/>
          <a:p>
            <a:pPr indent="0" marL="0">
              <a:buNone/>
            </a:pPr>
            <a:r>
              <a:rPr lang="en-US" sz="1300" dirty="0">
                <a:solidFill>
                  <a:schemeClr val="tx1"/>
                </a:solidFill>
              </a:rPr>
              <a:t>Il suppose qu'un départ manqué coûte autant qu'une fausse alerte.</a:t>
            </a:r>
            <a:endParaRPr lang="en-US" sz="1300" dirty="0"/>
          </a:p>
        </p:txBody>
      </p:sp>
      <p:sp>
        <p:nvSpPr>
          <p:cNvPr id="8" name="seuil 2"/>
          <p:cNvSpPr/>
          <p:nvPr/>
        </p:nvSpPr>
        <p:spPr>
          <a:xfrm>
            <a:off x="4338218" y="5257800"/>
            <a:ext cx="3515258" cy="1005840"/>
          </a:xfrm>
          <a:prstGeom prst="roundRect">
            <a:avLst>
              <a:gd name="adj" fmla="val 7273"/>
            </a:avLst>
          </a:prstGeom>
          <a:solidFill>
            <a:schemeClr val="bg2"/>
          </a:solidFill>
          <a:ln/>
        </p:spPr>
      </p:sp>
      <p:sp>
        <p:nvSpPr>
          <p:cNvPr id="9" name="Text 6"/>
          <p:cNvSpPr txBox="1"/>
          <p:nvPr/>
        </p:nvSpPr>
        <p:spPr>
          <a:xfrm>
            <a:off x="4521098" y="5349240"/>
            <a:ext cx="3149498" cy="320040"/>
          </a:xfrm>
          <a:prstGeom prst="rect">
            <a:avLst/>
          </a:prstGeom>
          <a:noFill/>
          <a:ln/>
        </p:spPr>
        <p:txBody>
          <a:bodyPr wrap="square" lIns="0" tIns="0" rIns="0" bIns="0" rtlCol="0" anchor="t"/>
          <a:lstStyle/>
          <a:p>
            <a:pPr indent="0" marL="0">
              <a:buNone/>
            </a:pPr>
            <a:r>
              <a:rPr lang="en-US" sz="1400" b="1" dirty="0">
                <a:solidFill>
                  <a:schemeClr val="tx1"/>
                </a:solidFill>
              </a:rPr>
              <a:t>Sur quelles données ?</a:t>
            </a:r>
            <a:endParaRPr lang="en-US" sz="1400" dirty="0"/>
          </a:p>
        </p:txBody>
      </p:sp>
      <p:sp>
        <p:nvSpPr>
          <p:cNvPr id="10" name="Text 7"/>
          <p:cNvSpPr txBox="1"/>
          <p:nvPr/>
        </p:nvSpPr>
        <p:spPr>
          <a:xfrm>
            <a:off x="4521098" y="5669280"/>
            <a:ext cx="3149498" cy="548640"/>
          </a:xfrm>
          <a:prstGeom prst="rect">
            <a:avLst/>
          </a:prstGeom>
          <a:noFill/>
          <a:ln/>
        </p:spPr>
        <p:txBody>
          <a:bodyPr wrap="square" lIns="0" tIns="0" rIns="0" bIns="0" rtlCol="0" anchor="t"/>
          <a:lstStyle/>
          <a:p>
            <a:pPr indent="0" marL="0">
              <a:buNone/>
            </a:pPr>
            <a:r>
              <a:rPr lang="en-US" sz="1300" dirty="0">
                <a:solidFill>
                  <a:schemeClr val="tx1"/>
                </a:solidFill>
              </a:rPr>
              <a:t>Prédictions hors pli : 190 départs, plutôt que les 47 de la validation.</a:t>
            </a:r>
            <a:endParaRPr lang="en-US" sz="1300" dirty="0"/>
          </a:p>
        </p:txBody>
      </p:sp>
      <p:sp>
        <p:nvSpPr>
          <p:cNvPr id="11" name="seuil 3"/>
          <p:cNvSpPr/>
          <p:nvPr/>
        </p:nvSpPr>
        <p:spPr>
          <a:xfrm>
            <a:off x="8127797" y="5257800"/>
            <a:ext cx="3515258" cy="1005840"/>
          </a:xfrm>
          <a:prstGeom prst="roundRect">
            <a:avLst>
              <a:gd name="adj" fmla="val 7273"/>
            </a:avLst>
          </a:prstGeom>
          <a:solidFill>
            <a:schemeClr val="bg2"/>
          </a:solidFill>
          <a:ln/>
        </p:spPr>
      </p:sp>
      <p:sp>
        <p:nvSpPr>
          <p:cNvPr id="12" name="Text 9"/>
          <p:cNvSpPr txBox="1"/>
          <p:nvPr/>
        </p:nvSpPr>
        <p:spPr>
          <a:xfrm>
            <a:off x="8310677" y="5349240"/>
            <a:ext cx="3149498" cy="320040"/>
          </a:xfrm>
          <a:prstGeom prst="rect">
            <a:avLst/>
          </a:prstGeom>
          <a:noFill/>
          <a:ln/>
        </p:spPr>
        <p:txBody>
          <a:bodyPr wrap="square" lIns="0" tIns="0" rIns="0" bIns="0" rtlCol="0" anchor="t"/>
          <a:lstStyle/>
          <a:p>
            <a:pPr indent="0" marL="0">
              <a:buNone/>
            </a:pPr>
            <a:r>
              <a:rPr lang="en-US" sz="1400" b="1" dirty="0">
                <a:solidFill>
                  <a:schemeClr val="tx1"/>
                </a:solidFill>
              </a:rPr>
              <a:t>Quelle règle ?</a:t>
            </a:r>
            <a:endParaRPr lang="en-US" sz="1400" dirty="0"/>
          </a:p>
        </p:txBody>
      </p:sp>
      <p:sp>
        <p:nvSpPr>
          <p:cNvPr id="13" name="Text 10"/>
          <p:cNvSpPr txBox="1"/>
          <p:nvPr/>
        </p:nvSpPr>
        <p:spPr>
          <a:xfrm>
            <a:off x="8310677" y="5669280"/>
            <a:ext cx="3149498" cy="548640"/>
          </a:xfrm>
          <a:prstGeom prst="rect">
            <a:avLst/>
          </a:prstGeom>
          <a:noFill/>
          <a:ln/>
        </p:spPr>
        <p:txBody>
          <a:bodyPr wrap="square" lIns="0" tIns="0" rIns="0" bIns="0" rtlCol="0" anchor="t"/>
          <a:lstStyle/>
          <a:p>
            <a:pPr indent="0" marL="0">
              <a:buNone/>
            </a:pPr>
            <a:r>
              <a:rPr lang="en-US" sz="1300" dirty="0">
                <a:solidFill>
                  <a:schemeClr val="tx1"/>
                </a:solidFill>
              </a:rPr>
              <a:t>Le seuil le plus haut qui détecte au moins 80 % des départs.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MODÉLISATION  ·  ÉTAPE 5  ·  OPTIMISATION ET CHOIX</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Réglage fin, puis choix à détection égale</a:t>
            </a:r>
            <a:endParaRPr lang="en-US" sz="3400" dirty="0"/>
          </a:p>
        </p:txBody>
      </p:sp>
      <p:sp>
        <p:nvSpPr>
          <p:cNvPr id="4" name="reglage XGBoost pondéré"/>
          <p:cNvSpPr/>
          <p:nvPr/>
        </p:nvSpPr>
        <p:spPr>
          <a:xfrm>
            <a:off x="548640" y="1600200"/>
            <a:ext cx="4114800" cy="1691640"/>
          </a:xfrm>
          <a:prstGeom prst="roundRect">
            <a:avLst>
              <a:gd name="adj" fmla="val 4324"/>
            </a:avLst>
          </a:prstGeom>
          <a:solidFill>
            <a:schemeClr val="bg2"/>
          </a:solidFill>
          <a:ln/>
        </p:spPr>
      </p:sp>
      <p:sp>
        <p:nvSpPr>
          <p:cNvPr id="5" name="Text 3"/>
          <p:cNvSpPr txBox="1"/>
          <p:nvPr/>
        </p:nvSpPr>
        <p:spPr>
          <a:xfrm>
            <a:off x="777240" y="1737360"/>
            <a:ext cx="3657600" cy="320040"/>
          </a:xfrm>
          <a:prstGeom prst="rect">
            <a:avLst/>
          </a:prstGeom>
          <a:noFill/>
          <a:ln/>
        </p:spPr>
        <p:txBody>
          <a:bodyPr wrap="square" lIns="0" tIns="0" rIns="0" bIns="0" rtlCol="0" anchor="t"/>
          <a:lstStyle/>
          <a:p>
            <a:pPr indent="0" marL="0">
              <a:buNone/>
            </a:pPr>
            <a:r>
              <a:rPr lang="en-US" sz="1500" b="1" dirty="0">
                <a:solidFill>
                  <a:schemeClr val="tx1"/>
                </a:solidFill>
              </a:rPr>
              <a:t>XGBoost pondéré</a:t>
            </a:r>
            <a:pPr indent="0" marL="0">
              <a:buNone/>
            </a:pPr>
            <a:r>
              <a:rPr lang="en-US" sz="1200" dirty="0">
                <a:solidFill>
                  <a:schemeClr val="accent5"/>
                </a:solidFill>
              </a:rPr>
              <a:t>  ·  GridSearchCV, 144 combinaisons</a:t>
            </a:r>
            <a:endParaRPr lang="en-US" sz="1500" dirty="0"/>
          </a:p>
        </p:txBody>
      </p:sp>
      <p:sp>
        <p:nvSpPr>
          <p:cNvPr id="6" name="Text 4"/>
          <p:cNvSpPr txBox="1"/>
          <p:nvPr/>
        </p:nvSpPr>
        <p:spPr>
          <a:xfrm>
            <a:off x="777240" y="2057400"/>
            <a:ext cx="36576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0,590 → 0,658</a:t>
            </a:r>
            <a:endParaRPr lang="en-US" sz="3000" dirty="0"/>
          </a:p>
        </p:txBody>
      </p:sp>
      <p:sp>
        <p:nvSpPr>
          <p:cNvPr id="7" name="Text 5"/>
          <p:cNvSpPr txBox="1"/>
          <p:nvPr/>
        </p:nvSpPr>
        <p:spPr>
          <a:xfrm>
            <a:off x="777240" y="2606040"/>
            <a:ext cx="3657600" cy="640080"/>
          </a:xfrm>
          <a:prstGeom prst="rect">
            <a:avLst/>
          </a:prstGeom>
          <a:noFill/>
          <a:ln/>
        </p:spPr>
        <p:txBody>
          <a:bodyPr wrap="square" lIns="0" tIns="0" rIns="0" bIns="0" rtlCol="0" anchor="t"/>
          <a:lstStyle/>
          <a:p>
            <a:pPr indent="0" marL="0">
              <a:buNone/>
            </a:pPr>
            <a:r>
              <a:rPr lang="en-US" sz="1200" dirty="0">
                <a:solidFill>
                  <a:schemeClr val="accent5"/>
                </a:solidFill>
              </a:rPr>
              <a:t>AUC-PR en validation croisée</a:t>
            </a:r>
            <a:endParaRPr lang="en-US" sz="1200" dirty="0"/>
          </a:p>
          <a:p>
            <a:pPr indent="0" marL="0">
              <a:buNone/>
            </a:pPr>
            <a:r>
              <a:rPr lang="en-US" sz="1200" dirty="0">
                <a:solidFill>
                  <a:schemeClr val="tx1"/>
                </a:solidFill>
              </a:rPr>
              <a:t>profondeur 2, 400 arbres, pas de 0,05 : surapprentissage réduit</a:t>
            </a:r>
            <a:endParaRPr lang="en-US" sz="1200" dirty="0"/>
          </a:p>
        </p:txBody>
      </p:sp>
      <p:sp>
        <p:nvSpPr>
          <p:cNvPr id="8" name="reglage Régression logistique"/>
          <p:cNvSpPr/>
          <p:nvPr/>
        </p:nvSpPr>
        <p:spPr>
          <a:xfrm>
            <a:off x="548640" y="3474720"/>
            <a:ext cx="4114800" cy="1691640"/>
          </a:xfrm>
          <a:prstGeom prst="roundRect">
            <a:avLst>
              <a:gd name="adj" fmla="val 4324"/>
            </a:avLst>
          </a:prstGeom>
          <a:solidFill>
            <a:schemeClr val="bg2"/>
          </a:solidFill>
          <a:ln/>
        </p:spPr>
      </p:sp>
      <p:sp>
        <p:nvSpPr>
          <p:cNvPr id="9" name="Text 7"/>
          <p:cNvSpPr txBox="1"/>
          <p:nvPr/>
        </p:nvSpPr>
        <p:spPr>
          <a:xfrm>
            <a:off x="777240" y="3611880"/>
            <a:ext cx="3657600" cy="320040"/>
          </a:xfrm>
          <a:prstGeom prst="rect">
            <a:avLst/>
          </a:prstGeom>
          <a:noFill/>
          <a:ln/>
        </p:spPr>
        <p:txBody>
          <a:bodyPr wrap="square" lIns="0" tIns="0" rIns="0" bIns="0" rtlCol="0" anchor="t"/>
          <a:lstStyle/>
          <a:p>
            <a:pPr indent="0" marL="0">
              <a:buNone/>
            </a:pPr>
            <a:r>
              <a:rPr lang="en-US" sz="1500" b="1" dirty="0">
                <a:solidFill>
                  <a:schemeClr val="tx1"/>
                </a:solidFill>
              </a:rPr>
              <a:t>Régression logistique</a:t>
            </a:r>
            <a:pPr indent="0" marL="0">
              <a:buNone/>
            </a:pPr>
            <a:r>
              <a:rPr lang="en-US" sz="1200" dirty="0">
                <a:solidFill>
                  <a:schemeClr val="accent5"/>
                </a:solidFill>
              </a:rPr>
              <a:t>  ·  force de régularisation C</a:t>
            </a:r>
            <a:endParaRPr lang="en-US" sz="1500" dirty="0"/>
          </a:p>
        </p:txBody>
      </p:sp>
      <p:sp>
        <p:nvSpPr>
          <p:cNvPr id="10" name="Text 8"/>
          <p:cNvSpPr txBox="1"/>
          <p:nvPr/>
        </p:nvSpPr>
        <p:spPr>
          <a:xfrm>
            <a:off x="777240" y="3931920"/>
            <a:ext cx="365760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0,616 → 0,657</a:t>
            </a:r>
            <a:endParaRPr lang="en-US" sz="3000" dirty="0"/>
          </a:p>
        </p:txBody>
      </p:sp>
      <p:sp>
        <p:nvSpPr>
          <p:cNvPr id="11" name="Text 9"/>
          <p:cNvSpPr txBox="1"/>
          <p:nvPr/>
        </p:nvSpPr>
        <p:spPr>
          <a:xfrm>
            <a:off x="777240" y="4480560"/>
            <a:ext cx="3657600" cy="640080"/>
          </a:xfrm>
          <a:prstGeom prst="rect">
            <a:avLst/>
          </a:prstGeom>
          <a:noFill/>
          <a:ln/>
        </p:spPr>
        <p:txBody>
          <a:bodyPr wrap="square" lIns="0" tIns="0" rIns="0" bIns="0" rtlCol="0" anchor="t"/>
          <a:lstStyle/>
          <a:p>
            <a:pPr indent="0" marL="0">
              <a:buNone/>
            </a:pPr>
            <a:r>
              <a:rPr lang="en-US" sz="1200" dirty="0">
                <a:solidFill>
                  <a:schemeClr val="accent5"/>
                </a:solidFill>
              </a:rPr>
              <a:t>AUC-PR en validation croisée</a:t>
            </a:r>
            <a:endParaRPr lang="en-US" sz="1200" dirty="0"/>
          </a:p>
          <a:p>
            <a:pPr indent="0" marL="0">
              <a:buNone/>
            </a:pPr>
            <a:r>
              <a:rPr lang="en-US" sz="1200" dirty="0">
                <a:solidFill>
                  <a:schemeClr val="tx1"/>
                </a:solidFill>
              </a:rPr>
              <a:t>C = 0,01 : les deux modèles réglés se rejoignent</a:t>
            </a:r>
            <a:endParaRPr lang="en-US" sz="1200" dirty="0"/>
          </a:p>
        </p:txBody>
      </p:sp>
      <p:graphicFrame>
        <p:nvGraphicFramePr>
          <p:cNvPr id="12" name="fausses alertes par depart" descr=""/>
          <p:cNvGraphicFramePr/>
          <p:nvPr/>
        </p:nvGraphicFramePr>
        <p:xfrm>
          <a:off x="4937760" y="1600200"/>
          <a:ext cx="6702552" cy="36576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937760" y="5349240"/>
            <a:ext cx="6702552" cy="868680"/>
          </a:xfrm>
          <a:prstGeom prst="rect">
            <a:avLst/>
          </a:prstGeom>
          <a:noFill/>
          <a:ln/>
        </p:spPr>
        <p:txBody>
          <a:bodyPr wrap="square" lIns="0" tIns="0" rIns="0" bIns="0" rtlCol="0" anchor="t"/>
          <a:lstStyle/>
          <a:p>
            <a:pPr indent="0" marL="0">
              <a:buNone/>
            </a:pPr>
            <a:r>
              <a:rPr lang="en-US" sz="1400" b="1" dirty="0">
                <a:solidFill>
                  <a:schemeClr val="tx1"/>
                </a:solidFill>
              </a:rPr>
              <a:t>Retenu : régression logistique pondérée, seuil 0,418</a:t>
            </a:r>
            <a:endParaRPr lang="en-US" sz="1400" dirty="0"/>
          </a:p>
          <a:p>
            <a:pPr indent="0" marL="0">
              <a:buNone/>
            </a:pPr>
            <a:r>
              <a:rPr lang="en-US" sz="1400" dirty="0">
                <a:solidFill>
                  <a:schemeClr val="tx1"/>
                </a:solidFill>
              </a:rPr>
              <a:t>Réentraînée sur entraînement + validation (1 176 collaborateurs, 190 départs). À détection égale, le moins de fausses alertes, et la plus lisible pour un RH.</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RÉSULTATS  ·  JEU DE TEST, 294 COLLABORATEURS DONT 47 DÉPARTS</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Sur le test, 3 départs sur 4 détectés</a:t>
            </a:r>
            <a:endParaRPr lang="en-US" sz="3400" dirty="0"/>
          </a:p>
        </p:txBody>
      </p:sp>
      <p:sp>
        <p:nvSpPr>
          <p:cNvPr id="4" name="Text 2"/>
          <p:cNvSpPr txBox="1"/>
          <p:nvPr/>
        </p:nvSpPr>
        <p:spPr>
          <a:xfrm>
            <a:off x="1874520" y="1691640"/>
            <a:ext cx="2148840" cy="320040"/>
          </a:xfrm>
          <a:prstGeom prst="rect">
            <a:avLst/>
          </a:prstGeom>
          <a:noFill/>
          <a:ln/>
        </p:spPr>
        <p:txBody>
          <a:bodyPr wrap="square" lIns="0" tIns="0" rIns="0" bIns="0" rtlCol="0" anchor="t"/>
          <a:lstStyle/>
          <a:p>
            <a:pPr algn="ctr" indent="0" marL="0">
              <a:buNone/>
            </a:pPr>
            <a:r>
              <a:rPr lang="en-US" sz="1400" b="1" dirty="0">
                <a:solidFill>
                  <a:schemeClr val="tx1"/>
                </a:solidFill>
              </a:rPr>
              <a:t>Alerte</a:t>
            </a:r>
            <a:endParaRPr lang="en-US" sz="1400" dirty="0"/>
          </a:p>
        </p:txBody>
      </p:sp>
      <p:sp>
        <p:nvSpPr>
          <p:cNvPr id="5" name="Text 3"/>
          <p:cNvSpPr txBox="1"/>
          <p:nvPr/>
        </p:nvSpPr>
        <p:spPr>
          <a:xfrm>
            <a:off x="4133088" y="1691640"/>
            <a:ext cx="2148840" cy="320040"/>
          </a:xfrm>
          <a:prstGeom prst="rect">
            <a:avLst/>
          </a:prstGeom>
          <a:noFill/>
          <a:ln/>
        </p:spPr>
        <p:txBody>
          <a:bodyPr wrap="square" lIns="0" tIns="0" rIns="0" bIns="0" rtlCol="0" anchor="t"/>
          <a:lstStyle/>
          <a:p>
            <a:pPr algn="ctr" indent="0" marL="0">
              <a:buNone/>
            </a:pPr>
            <a:r>
              <a:rPr lang="en-US" sz="1400" b="1" dirty="0">
                <a:solidFill>
                  <a:schemeClr val="tx1"/>
                </a:solidFill>
              </a:rPr>
              <a:t>Pas d'alerte</a:t>
            </a:r>
            <a:endParaRPr lang="en-US" sz="1400" dirty="0"/>
          </a:p>
        </p:txBody>
      </p:sp>
      <p:sp>
        <p:nvSpPr>
          <p:cNvPr id="6" name="Text 4"/>
          <p:cNvSpPr txBox="1"/>
          <p:nvPr/>
        </p:nvSpPr>
        <p:spPr>
          <a:xfrm>
            <a:off x="548640" y="2720340"/>
            <a:ext cx="1188720" cy="365760"/>
          </a:xfrm>
          <a:prstGeom prst="rect">
            <a:avLst/>
          </a:prstGeom>
          <a:noFill/>
          <a:ln/>
        </p:spPr>
        <p:txBody>
          <a:bodyPr wrap="square" lIns="0" tIns="0" rIns="0" bIns="0" rtlCol="0" anchor="t"/>
          <a:lstStyle/>
          <a:p>
            <a:pPr algn="r" indent="0" marL="0">
              <a:buNone/>
            </a:pPr>
            <a:r>
              <a:rPr lang="en-US" sz="1400" b="1" dirty="0">
                <a:solidFill>
                  <a:schemeClr val="tx1"/>
                </a:solidFill>
              </a:rPr>
              <a:t>Parti</a:t>
            </a:r>
            <a:endParaRPr lang="en-US" sz="1400" dirty="0"/>
          </a:p>
        </p:txBody>
      </p:sp>
      <p:sp>
        <p:nvSpPr>
          <p:cNvPr id="7" name="Text 5"/>
          <p:cNvSpPr txBox="1"/>
          <p:nvPr/>
        </p:nvSpPr>
        <p:spPr>
          <a:xfrm>
            <a:off x="548640" y="4430268"/>
            <a:ext cx="1188720" cy="365760"/>
          </a:xfrm>
          <a:prstGeom prst="rect">
            <a:avLst/>
          </a:prstGeom>
          <a:noFill/>
          <a:ln/>
        </p:spPr>
        <p:txBody>
          <a:bodyPr wrap="square" lIns="0" tIns="0" rIns="0" bIns="0" rtlCol="0" anchor="t"/>
          <a:lstStyle/>
          <a:p>
            <a:pPr algn="r" indent="0" marL="0">
              <a:buNone/>
            </a:pPr>
            <a:r>
              <a:rPr lang="en-US" sz="1400" b="1" dirty="0">
                <a:solidFill>
                  <a:schemeClr val="tx1"/>
                </a:solidFill>
              </a:rPr>
              <a:t>Resté</a:t>
            </a:r>
            <a:endParaRPr lang="en-US" sz="1400" dirty="0"/>
          </a:p>
        </p:txBody>
      </p:sp>
      <p:sp>
        <p:nvSpPr>
          <p:cNvPr id="8" name="case départs détectés"/>
          <p:cNvSpPr/>
          <p:nvPr/>
        </p:nvSpPr>
        <p:spPr>
          <a:xfrm>
            <a:off x="1874520" y="2103120"/>
            <a:ext cx="2148840" cy="1600200"/>
          </a:xfrm>
          <a:prstGeom prst="roundRect">
            <a:avLst>
              <a:gd name="adj" fmla="val 4571"/>
            </a:avLst>
          </a:prstGeom>
          <a:solidFill>
            <a:schemeClr val="accent3"/>
          </a:solidFill>
          <a:ln/>
        </p:spPr>
      </p:sp>
      <p:sp>
        <p:nvSpPr>
          <p:cNvPr id="9" name="Text 7"/>
          <p:cNvSpPr txBox="1"/>
          <p:nvPr/>
        </p:nvSpPr>
        <p:spPr>
          <a:xfrm>
            <a:off x="1874520" y="2377440"/>
            <a:ext cx="2148840" cy="685800"/>
          </a:xfrm>
          <a:prstGeom prst="rect">
            <a:avLst/>
          </a:prstGeom>
          <a:noFill/>
          <a:ln/>
        </p:spPr>
        <p:txBody>
          <a:bodyPr wrap="square" lIns="0" tIns="0" rIns="0" bIns="0" rtlCol="0" anchor="t"/>
          <a:lstStyle/>
          <a:p>
            <a:pPr algn="ctr" indent="0" marL="0">
              <a:buNone/>
            </a:pPr>
            <a:r>
              <a:rPr lang="en-US" sz="4000" b="1" dirty="0">
                <a:solidFill>
                  <a:schemeClr val="bg1"/>
                </a:solidFill>
                <a:latin typeface="Cambria" pitchFamily="34" charset="0"/>
                <a:ea typeface="Cambria" pitchFamily="34" charset="-122"/>
                <a:cs typeface="Cambria" pitchFamily="34" charset="-120"/>
              </a:rPr>
              <a:t>36</a:t>
            </a:r>
            <a:endParaRPr lang="en-US" sz="4000" dirty="0"/>
          </a:p>
        </p:txBody>
      </p:sp>
      <p:sp>
        <p:nvSpPr>
          <p:cNvPr id="10" name="Text 8"/>
          <p:cNvSpPr txBox="1"/>
          <p:nvPr/>
        </p:nvSpPr>
        <p:spPr>
          <a:xfrm>
            <a:off x="1874520" y="3108960"/>
            <a:ext cx="2148840" cy="365760"/>
          </a:xfrm>
          <a:prstGeom prst="rect">
            <a:avLst/>
          </a:prstGeom>
          <a:noFill/>
          <a:ln/>
        </p:spPr>
        <p:txBody>
          <a:bodyPr wrap="square" lIns="0" tIns="0" rIns="0" bIns="0" rtlCol="0" anchor="t"/>
          <a:lstStyle/>
          <a:p>
            <a:pPr algn="ctr" indent="0" marL="0">
              <a:buNone/>
            </a:pPr>
            <a:r>
              <a:rPr lang="en-US" sz="1500" dirty="0">
                <a:solidFill>
                  <a:schemeClr val="bg1"/>
                </a:solidFill>
              </a:rPr>
              <a:t>départs détectés</a:t>
            </a:r>
            <a:endParaRPr lang="en-US" sz="1500" dirty="0"/>
          </a:p>
        </p:txBody>
      </p:sp>
      <p:sp>
        <p:nvSpPr>
          <p:cNvPr id="11" name="case départs manqués"/>
          <p:cNvSpPr/>
          <p:nvPr/>
        </p:nvSpPr>
        <p:spPr>
          <a:xfrm>
            <a:off x="4133088" y="2103120"/>
            <a:ext cx="2148840" cy="1600200"/>
          </a:xfrm>
          <a:prstGeom prst="roundRect">
            <a:avLst>
              <a:gd name="adj" fmla="val 4571"/>
            </a:avLst>
          </a:prstGeom>
          <a:solidFill>
            <a:schemeClr val="accent1"/>
          </a:solidFill>
          <a:ln/>
        </p:spPr>
      </p:sp>
      <p:sp>
        <p:nvSpPr>
          <p:cNvPr id="12" name="Text 10"/>
          <p:cNvSpPr txBox="1"/>
          <p:nvPr/>
        </p:nvSpPr>
        <p:spPr>
          <a:xfrm>
            <a:off x="4133088" y="2377440"/>
            <a:ext cx="2148840" cy="685800"/>
          </a:xfrm>
          <a:prstGeom prst="rect">
            <a:avLst/>
          </a:prstGeom>
          <a:noFill/>
          <a:ln/>
        </p:spPr>
        <p:txBody>
          <a:bodyPr wrap="square" lIns="0" tIns="0" rIns="0" bIns="0" rtlCol="0" anchor="t"/>
          <a:lstStyle/>
          <a:p>
            <a:pPr algn="ctr" indent="0" marL="0">
              <a:buNone/>
            </a:pPr>
            <a:r>
              <a:rPr lang="en-US" sz="4000" b="1" dirty="0">
                <a:solidFill>
                  <a:schemeClr val="bg1"/>
                </a:solidFill>
                <a:latin typeface="Cambria" pitchFamily="34" charset="0"/>
                <a:ea typeface="Cambria" pitchFamily="34" charset="-122"/>
                <a:cs typeface="Cambria" pitchFamily="34" charset="-120"/>
              </a:rPr>
              <a:t>11</a:t>
            </a:r>
            <a:endParaRPr lang="en-US" sz="4000" dirty="0"/>
          </a:p>
        </p:txBody>
      </p:sp>
      <p:sp>
        <p:nvSpPr>
          <p:cNvPr id="13" name="Text 11"/>
          <p:cNvSpPr txBox="1"/>
          <p:nvPr/>
        </p:nvSpPr>
        <p:spPr>
          <a:xfrm>
            <a:off x="4133088" y="3108960"/>
            <a:ext cx="2148840" cy="365760"/>
          </a:xfrm>
          <a:prstGeom prst="rect">
            <a:avLst/>
          </a:prstGeom>
          <a:noFill/>
          <a:ln/>
        </p:spPr>
        <p:txBody>
          <a:bodyPr wrap="square" lIns="0" tIns="0" rIns="0" bIns="0" rtlCol="0" anchor="t"/>
          <a:lstStyle/>
          <a:p>
            <a:pPr algn="ctr" indent="0" marL="0">
              <a:buNone/>
            </a:pPr>
            <a:r>
              <a:rPr lang="en-US" sz="1500" dirty="0">
                <a:solidFill>
                  <a:schemeClr val="bg1"/>
                </a:solidFill>
              </a:rPr>
              <a:t>départs manqués</a:t>
            </a:r>
            <a:endParaRPr lang="en-US" sz="1500" dirty="0"/>
          </a:p>
        </p:txBody>
      </p:sp>
      <p:sp>
        <p:nvSpPr>
          <p:cNvPr id="14" name="case fausses alertes"/>
          <p:cNvSpPr/>
          <p:nvPr/>
        </p:nvSpPr>
        <p:spPr>
          <a:xfrm>
            <a:off x="1874520" y="3813048"/>
            <a:ext cx="2148840" cy="1600200"/>
          </a:xfrm>
          <a:prstGeom prst="roundRect">
            <a:avLst>
              <a:gd name="adj" fmla="val 4571"/>
            </a:avLst>
          </a:prstGeom>
          <a:solidFill>
            <a:schemeClr val="accent6"/>
          </a:solidFill>
          <a:ln/>
        </p:spPr>
      </p:sp>
      <p:sp>
        <p:nvSpPr>
          <p:cNvPr id="15" name="Text 13"/>
          <p:cNvSpPr txBox="1"/>
          <p:nvPr/>
        </p:nvSpPr>
        <p:spPr>
          <a:xfrm>
            <a:off x="1874520" y="4087368"/>
            <a:ext cx="2148840" cy="685800"/>
          </a:xfrm>
          <a:prstGeom prst="rect">
            <a:avLst/>
          </a:prstGeom>
          <a:noFill/>
          <a:ln/>
        </p:spPr>
        <p:txBody>
          <a:bodyPr wrap="square" lIns="0" tIns="0" rIns="0" bIns="0" rtlCol="0" anchor="t"/>
          <a:lstStyle/>
          <a:p>
            <a:pPr algn="ctr" indent="0" marL="0">
              <a:buNone/>
            </a:pPr>
            <a:r>
              <a:rPr lang="en-US" sz="4000" b="1" dirty="0">
                <a:solidFill>
                  <a:schemeClr val="bg1"/>
                </a:solidFill>
                <a:latin typeface="Cambria" pitchFamily="34" charset="0"/>
                <a:ea typeface="Cambria" pitchFamily="34" charset="-122"/>
                <a:cs typeface="Cambria" pitchFamily="34" charset="-120"/>
              </a:rPr>
              <a:t>63</a:t>
            </a:r>
            <a:endParaRPr lang="en-US" sz="4000" dirty="0"/>
          </a:p>
        </p:txBody>
      </p:sp>
      <p:sp>
        <p:nvSpPr>
          <p:cNvPr id="16" name="Text 14"/>
          <p:cNvSpPr txBox="1"/>
          <p:nvPr/>
        </p:nvSpPr>
        <p:spPr>
          <a:xfrm>
            <a:off x="1874520" y="4818888"/>
            <a:ext cx="2148840" cy="365760"/>
          </a:xfrm>
          <a:prstGeom prst="rect">
            <a:avLst/>
          </a:prstGeom>
          <a:noFill/>
          <a:ln/>
        </p:spPr>
        <p:txBody>
          <a:bodyPr wrap="square" lIns="0" tIns="0" rIns="0" bIns="0" rtlCol="0" anchor="t"/>
          <a:lstStyle/>
          <a:p>
            <a:pPr algn="ctr" indent="0" marL="0">
              <a:buNone/>
            </a:pPr>
            <a:r>
              <a:rPr lang="en-US" sz="1500" dirty="0">
                <a:solidFill>
                  <a:schemeClr val="bg1"/>
                </a:solidFill>
              </a:rPr>
              <a:t>fausses alertes</a:t>
            </a:r>
            <a:endParaRPr lang="en-US" sz="1500" dirty="0"/>
          </a:p>
        </p:txBody>
      </p:sp>
      <p:sp>
        <p:nvSpPr>
          <p:cNvPr id="17" name="case maintiens prévus"/>
          <p:cNvSpPr/>
          <p:nvPr/>
        </p:nvSpPr>
        <p:spPr>
          <a:xfrm>
            <a:off x="4133088" y="3813048"/>
            <a:ext cx="2148840" cy="1600200"/>
          </a:xfrm>
          <a:prstGeom prst="roundRect">
            <a:avLst>
              <a:gd name="adj" fmla="val 4571"/>
            </a:avLst>
          </a:prstGeom>
          <a:solidFill>
            <a:schemeClr val="accent5"/>
          </a:solidFill>
          <a:ln/>
        </p:spPr>
      </p:sp>
      <p:sp>
        <p:nvSpPr>
          <p:cNvPr id="18" name="Text 16"/>
          <p:cNvSpPr txBox="1"/>
          <p:nvPr/>
        </p:nvSpPr>
        <p:spPr>
          <a:xfrm>
            <a:off x="4133088" y="4087368"/>
            <a:ext cx="2148840" cy="685800"/>
          </a:xfrm>
          <a:prstGeom prst="rect">
            <a:avLst/>
          </a:prstGeom>
          <a:noFill/>
          <a:ln/>
        </p:spPr>
        <p:txBody>
          <a:bodyPr wrap="square" lIns="0" tIns="0" rIns="0" bIns="0" rtlCol="0" anchor="t"/>
          <a:lstStyle/>
          <a:p>
            <a:pPr algn="ctr" indent="0" marL="0">
              <a:buNone/>
            </a:pPr>
            <a:r>
              <a:rPr lang="en-US" sz="4000" b="1" dirty="0">
                <a:solidFill>
                  <a:schemeClr val="bg1"/>
                </a:solidFill>
                <a:latin typeface="Cambria" pitchFamily="34" charset="0"/>
                <a:ea typeface="Cambria" pitchFamily="34" charset="-122"/>
                <a:cs typeface="Cambria" pitchFamily="34" charset="-120"/>
              </a:rPr>
              <a:t>184</a:t>
            </a:r>
            <a:endParaRPr lang="en-US" sz="4000" dirty="0"/>
          </a:p>
        </p:txBody>
      </p:sp>
      <p:sp>
        <p:nvSpPr>
          <p:cNvPr id="19" name="Text 17"/>
          <p:cNvSpPr txBox="1"/>
          <p:nvPr/>
        </p:nvSpPr>
        <p:spPr>
          <a:xfrm>
            <a:off x="4133088" y="4818888"/>
            <a:ext cx="2148840" cy="365760"/>
          </a:xfrm>
          <a:prstGeom prst="rect">
            <a:avLst/>
          </a:prstGeom>
          <a:noFill/>
          <a:ln/>
        </p:spPr>
        <p:txBody>
          <a:bodyPr wrap="square" lIns="0" tIns="0" rIns="0" bIns="0" rtlCol="0" anchor="t"/>
          <a:lstStyle/>
          <a:p>
            <a:pPr algn="ctr" indent="0" marL="0">
              <a:buNone/>
            </a:pPr>
            <a:r>
              <a:rPr lang="en-US" sz="1500" dirty="0">
                <a:solidFill>
                  <a:schemeClr val="bg1"/>
                </a:solidFill>
              </a:rPr>
              <a:t>maintiens prévus</a:t>
            </a:r>
            <a:endParaRPr lang="en-US" sz="1500" dirty="0"/>
          </a:p>
        </p:txBody>
      </p:sp>
      <p:sp>
        <p:nvSpPr>
          <p:cNvPr id="20" name="Text 18"/>
          <p:cNvSpPr txBox="1"/>
          <p:nvPr/>
        </p:nvSpPr>
        <p:spPr>
          <a:xfrm>
            <a:off x="7086600" y="1600200"/>
            <a:ext cx="21945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0,766</a:t>
            </a:r>
            <a:endParaRPr lang="en-US" sz="4000" dirty="0"/>
          </a:p>
        </p:txBody>
      </p:sp>
      <p:sp>
        <p:nvSpPr>
          <p:cNvPr id="21" name="Text 19"/>
          <p:cNvSpPr txBox="1"/>
          <p:nvPr/>
        </p:nvSpPr>
        <p:spPr>
          <a:xfrm>
            <a:off x="7086600" y="2331720"/>
            <a:ext cx="2194560" cy="731520"/>
          </a:xfrm>
          <a:prstGeom prst="rect">
            <a:avLst/>
          </a:prstGeom>
          <a:noFill/>
          <a:ln/>
        </p:spPr>
        <p:txBody>
          <a:bodyPr wrap="square" lIns="0" tIns="0" rIns="0" bIns="0" rtlCol="0" anchor="t"/>
          <a:lstStyle/>
          <a:p>
            <a:pPr indent="0" marL="0">
              <a:buNone/>
            </a:pPr>
            <a:r>
              <a:rPr lang="en-US" sz="1300" b="1" dirty="0">
                <a:solidFill>
                  <a:schemeClr val="tx1"/>
                </a:solidFill>
              </a:rPr>
              <a:t>rappel</a:t>
            </a:r>
            <a:endParaRPr lang="en-US" sz="1300" dirty="0"/>
          </a:p>
          <a:p>
            <a:pPr indent="0" marL="0">
              <a:buNone/>
            </a:pPr>
            <a:r>
              <a:rPr lang="en-US" sz="1300" dirty="0">
                <a:solidFill>
                  <a:schemeClr val="accent5"/>
                </a:solidFill>
              </a:rPr>
              <a:t>36 départs sur 47</a:t>
            </a:r>
            <a:endParaRPr lang="en-US" sz="1300" dirty="0"/>
          </a:p>
        </p:txBody>
      </p:sp>
      <p:sp>
        <p:nvSpPr>
          <p:cNvPr id="22" name="Text 20"/>
          <p:cNvSpPr txBox="1"/>
          <p:nvPr/>
        </p:nvSpPr>
        <p:spPr>
          <a:xfrm>
            <a:off x="9418320" y="1600200"/>
            <a:ext cx="219456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0,364</a:t>
            </a:r>
            <a:endParaRPr lang="en-US" sz="4000" dirty="0"/>
          </a:p>
        </p:txBody>
      </p:sp>
      <p:sp>
        <p:nvSpPr>
          <p:cNvPr id="23" name="Text 21"/>
          <p:cNvSpPr txBox="1"/>
          <p:nvPr/>
        </p:nvSpPr>
        <p:spPr>
          <a:xfrm>
            <a:off x="9418320" y="2331720"/>
            <a:ext cx="2194560" cy="731520"/>
          </a:xfrm>
          <a:prstGeom prst="rect">
            <a:avLst/>
          </a:prstGeom>
          <a:noFill/>
          <a:ln/>
        </p:spPr>
        <p:txBody>
          <a:bodyPr wrap="square" lIns="0" tIns="0" rIns="0" bIns="0" rtlCol="0" anchor="t"/>
          <a:lstStyle/>
          <a:p>
            <a:pPr indent="0" marL="0">
              <a:buNone/>
            </a:pPr>
            <a:r>
              <a:rPr lang="en-US" sz="1300" b="1" dirty="0">
                <a:solidFill>
                  <a:schemeClr val="tx1"/>
                </a:solidFill>
              </a:rPr>
              <a:t>précision</a:t>
            </a:r>
            <a:endParaRPr lang="en-US" sz="1300" dirty="0"/>
          </a:p>
          <a:p>
            <a:pPr indent="0" marL="0">
              <a:buNone/>
            </a:pPr>
            <a:r>
              <a:rPr lang="en-US" sz="1300" dirty="0">
                <a:solidFill>
                  <a:schemeClr val="accent5"/>
                </a:solidFill>
              </a:rPr>
              <a:t>2,3 fois le hasard (16 %)</a:t>
            </a:r>
            <a:endParaRPr lang="en-US" sz="1300" dirty="0"/>
          </a:p>
        </p:txBody>
      </p:sp>
      <p:sp>
        <p:nvSpPr>
          <p:cNvPr id="24" name="Text 22"/>
          <p:cNvSpPr txBox="1"/>
          <p:nvPr/>
        </p:nvSpPr>
        <p:spPr>
          <a:xfrm>
            <a:off x="7086600" y="3200400"/>
            <a:ext cx="219456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0,627</a:t>
            </a:r>
            <a:endParaRPr lang="en-US" sz="4000" dirty="0"/>
          </a:p>
        </p:txBody>
      </p:sp>
      <p:sp>
        <p:nvSpPr>
          <p:cNvPr id="25" name="Text 23"/>
          <p:cNvSpPr txBox="1"/>
          <p:nvPr/>
        </p:nvSpPr>
        <p:spPr>
          <a:xfrm>
            <a:off x="7086600" y="3931920"/>
            <a:ext cx="2194560" cy="731520"/>
          </a:xfrm>
          <a:prstGeom prst="rect">
            <a:avLst/>
          </a:prstGeom>
          <a:noFill/>
          <a:ln/>
        </p:spPr>
        <p:txBody>
          <a:bodyPr wrap="square" lIns="0" tIns="0" rIns="0" bIns="0" rtlCol="0" anchor="t"/>
          <a:lstStyle/>
          <a:p>
            <a:pPr indent="0" marL="0">
              <a:buNone/>
            </a:pPr>
            <a:r>
              <a:rPr lang="en-US" sz="1300" b="1" dirty="0">
                <a:solidFill>
                  <a:schemeClr val="tx1"/>
                </a:solidFill>
              </a:rPr>
              <a:t>F2</a:t>
            </a:r>
            <a:endParaRPr lang="en-US" sz="1300" dirty="0"/>
          </a:p>
          <a:p>
            <a:pPr indent="0" marL="0">
              <a:buNone/>
            </a:pPr>
            <a:r>
              <a:rPr lang="en-US" sz="1300" dirty="0">
                <a:solidFill>
                  <a:schemeClr val="accent5"/>
                </a:solidFill>
              </a:rPr>
              <a:t>0,635 pour XGBoost, avec 17 fausses alertes de plus</a:t>
            </a:r>
            <a:endParaRPr lang="en-US" sz="1300" dirty="0"/>
          </a:p>
        </p:txBody>
      </p:sp>
      <p:sp>
        <p:nvSpPr>
          <p:cNvPr id="26" name="Text 24"/>
          <p:cNvSpPr txBox="1"/>
          <p:nvPr/>
        </p:nvSpPr>
        <p:spPr>
          <a:xfrm>
            <a:off x="9418320" y="3200400"/>
            <a:ext cx="219456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0,531</a:t>
            </a:r>
            <a:endParaRPr lang="en-US" sz="4000" dirty="0"/>
          </a:p>
        </p:txBody>
      </p:sp>
      <p:sp>
        <p:nvSpPr>
          <p:cNvPr id="27" name="Text 25"/>
          <p:cNvSpPr txBox="1"/>
          <p:nvPr/>
        </p:nvSpPr>
        <p:spPr>
          <a:xfrm>
            <a:off x="9418320" y="3931920"/>
            <a:ext cx="2194560" cy="731520"/>
          </a:xfrm>
          <a:prstGeom prst="rect">
            <a:avLst/>
          </a:prstGeom>
          <a:noFill/>
          <a:ln/>
        </p:spPr>
        <p:txBody>
          <a:bodyPr wrap="square" lIns="0" tIns="0" rIns="0" bIns="0" rtlCol="0" anchor="t"/>
          <a:lstStyle/>
          <a:p>
            <a:pPr indent="0" marL="0">
              <a:buNone/>
            </a:pPr>
            <a:r>
              <a:rPr lang="en-US" sz="1300" b="1" dirty="0">
                <a:solidFill>
                  <a:schemeClr val="tx1"/>
                </a:solidFill>
              </a:rPr>
              <a:t>AUC-PR</a:t>
            </a:r>
            <a:endParaRPr lang="en-US" sz="1300" dirty="0"/>
          </a:p>
          <a:p>
            <a:pPr indent="0" marL="0">
              <a:buNone/>
            </a:pPr>
            <a:r>
              <a:rPr lang="en-US" sz="1300" dirty="0">
                <a:solidFill>
                  <a:schemeClr val="accent5"/>
                </a:solidFill>
              </a:rPr>
              <a:t>meilleur classement de tous les modèles testés</a:t>
            </a:r>
            <a:endParaRPr lang="en-US" sz="1300" dirty="0"/>
          </a:p>
        </p:txBody>
      </p:sp>
      <p:sp>
        <p:nvSpPr>
          <p:cNvPr id="28" name="Text 26"/>
          <p:cNvSpPr txBox="1"/>
          <p:nvPr/>
        </p:nvSpPr>
        <p:spPr>
          <a:xfrm>
            <a:off x="7086600" y="4983480"/>
            <a:ext cx="4556455" cy="914400"/>
          </a:xfrm>
          <a:prstGeom prst="rect">
            <a:avLst/>
          </a:prstGeom>
          <a:noFill/>
          <a:ln/>
        </p:spPr>
        <p:txBody>
          <a:bodyPr wrap="square" lIns="0" tIns="0" rIns="0" bIns="0" rtlCol="0" anchor="t"/>
          <a:lstStyle/>
          <a:p>
            <a:pPr indent="0" marL="0">
              <a:buNone/>
            </a:pPr>
            <a:r>
              <a:rPr lang="en-US" sz="1400" b="1" dirty="0">
                <a:solidFill>
                  <a:schemeClr val="tx1"/>
                </a:solidFill>
              </a:rPr>
              <a:t>Hors pli 0,800, test 0,766 : le seuil tient sur des collaborateurs jamais vus. Chaque départ pèse 2 points de rappel.</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INTERPRÉTATION  ·  IMPORTANCE GLOBALE</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Trois méthodes, un même facteur n°1</a:t>
            </a:r>
            <a:endParaRPr lang="en-US" sz="3400" dirty="0"/>
          </a:p>
        </p:txBody>
      </p:sp>
      <p:pic>
        <p:nvPicPr>
          <p:cNvPr id="4" name="beeswarm shap" descr="Beeswarm SHAP sur le jeu de test">    </p:cNvPr>
          <p:cNvPicPr>
            <a:picLocks noChangeAspect="1"/>
          </p:cNvPicPr>
          <p:nvPr/>
        </p:nvPicPr>
        <p:blipFill>
          <a:blip r:embed="rId1"/>
          <a:stretch>
            <a:fillRect/>
          </a:stretch>
        </p:blipFill>
        <p:spPr>
          <a:xfrm>
            <a:off x="548640" y="1554480"/>
            <a:ext cx="4852300" cy="4572000"/>
          </a:xfrm>
          <a:prstGeom prst="rect">
            <a:avLst/>
          </a:prstGeom>
        </p:spPr>
      </p:pic>
      <p:sp>
        <p:nvSpPr>
          <p:cNvPr id="5" name="Text 2"/>
          <p:cNvSpPr txBox="1"/>
          <p:nvPr/>
        </p:nvSpPr>
        <p:spPr>
          <a:xfrm>
            <a:off x="5806440" y="1600200"/>
            <a:ext cx="5836615" cy="365760"/>
          </a:xfrm>
          <a:prstGeom prst="rect">
            <a:avLst/>
          </a:prstGeom>
          <a:noFill/>
          <a:ln/>
        </p:spPr>
        <p:txBody>
          <a:bodyPr wrap="square" lIns="0" tIns="0" rIns="0" bIns="0" rtlCol="0" anchor="t"/>
          <a:lstStyle/>
          <a:p>
            <a:pPr indent="0" marL="0">
              <a:buNone/>
            </a:pPr>
            <a:r>
              <a:rPr lang="en-US" sz="1700" b="1" dirty="0">
                <a:solidFill>
                  <a:schemeClr val="tx1"/>
                </a:solidFill>
              </a:rPr>
              <a:t>Rang des heures supplémentaires</a:t>
            </a:r>
            <a:endParaRPr lang="en-US" sz="1700" dirty="0"/>
          </a:p>
        </p:txBody>
      </p:sp>
      <p:graphicFrame>
        <p:nvGraphicFramePr>
          <p:cNvPr id="15" name="tableau trois methodes"/>
          <p:cNvGraphicFramePr>
            <a:graphicFrameLocks noGrp="1"/>
          </p:cNvGraphicFramePr>
          <p:nvPr>
            <p:extLst>
              <p:ext uri="{D42A27DB-BD31-4B8C-83A1-F6EECF244321}">
                <p14:modId xmlns:p14="http://schemas.microsoft.com/office/powerpoint/2010/main" val="1579011935"/>
              </p:ext>
            </p:extLst>
          </p:nvPr>
        </p:nvGraphicFramePr>
        <p:xfrm>
          <a:off x="5806440" y="2057400"/>
          <a:ext cx="5836615" cy="914400"/>
        </p:xfrm>
        <a:graphic>
          <a:graphicData uri="http://schemas.openxmlformats.org/drawingml/2006/table">
            <a:tbl>
              <a:tblPr/>
              <a:tblGrid>
                <a:gridCol w="2560320"/>
                <a:gridCol w="685800"/>
                <a:gridCol w="2590495"/>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Méthode</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Rang</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Valeur</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41148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Coefficients standardisés</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1er</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0,755</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1148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Permutation (perte d'AUC-PR)</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1er</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0,202, 3 fois la suivante</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1148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SHAP, moyenne des |valeurs|</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1er</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0,663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7" name="Text 3"/>
          <p:cNvSpPr txBox="1"/>
          <p:nvPr/>
        </p:nvSpPr>
        <p:spPr>
          <a:xfrm>
            <a:off x="5806440" y="3886200"/>
            <a:ext cx="5836615" cy="320040"/>
          </a:xfrm>
          <a:prstGeom prst="rect">
            <a:avLst/>
          </a:prstGeom>
          <a:noFill/>
          <a:ln/>
        </p:spPr>
        <p:txBody>
          <a:bodyPr wrap="square" lIns="0" tIns="0" rIns="0" bIns="0" rtlCol="0" anchor="t"/>
          <a:lstStyle/>
          <a:p>
            <a:pPr indent="0" marL="0">
              <a:buNone/>
            </a:pPr>
            <a:r>
              <a:rPr lang="en-US" sz="1500" b="1" dirty="0">
                <a:solidFill>
                  <a:schemeClr val="tx1"/>
                </a:solidFill>
              </a:rPr>
              <a:t>Lire le beeswarm</a:t>
            </a:r>
            <a:endParaRPr lang="en-US" sz="1500" dirty="0"/>
          </a:p>
        </p:txBody>
      </p:sp>
      <p:sp>
        <p:nvSpPr>
          <p:cNvPr id="8" name="Text 4"/>
          <p:cNvSpPr txBox="1"/>
          <p:nvPr/>
        </p:nvSpPr>
        <p:spPr>
          <a:xfrm>
            <a:off x="5806440" y="4251960"/>
            <a:ext cx="5836615" cy="96012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Un point = un collaborateur du test</a:t>
            </a:r>
            <a:endParaRPr lang="en-US" sz="1400" dirty="0"/>
          </a:p>
          <a:p>
            <a:pPr marL="342900" indent="-342900">
              <a:spcAft>
                <a:spcPts val="200"/>
              </a:spcAft>
              <a:buSzPct val="100000"/>
              <a:buChar char="•"/>
            </a:pPr>
            <a:r>
              <a:rPr lang="en-US" sz="1400" dirty="0">
                <a:solidFill>
                  <a:schemeClr val="tx1"/>
                </a:solidFill>
              </a:rPr>
              <a:t>Rouge = valeur élevée, bleu = valeur basse</a:t>
            </a:r>
            <a:endParaRPr lang="en-US" sz="1400" dirty="0"/>
          </a:p>
          <a:p>
            <a:pPr marL="342900" indent="-342900">
              <a:spcAft>
                <a:spcPts val="200"/>
              </a:spcAft>
              <a:buSzPct val="100000"/>
              <a:buChar char="•"/>
            </a:pPr>
            <a:r>
              <a:rPr lang="en-US" sz="1400" dirty="0">
                <a:solidFill>
                  <a:schemeClr val="tx1"/>
                </a:solidFill>
              </a:rPr>
              <a:t>À droite de 0 : pousse vers le départ</a:t>
            </a:r>
            <a:endParaRPr lang="en-US" sz="1400" dirty="0"/>
          </a:p>
        </p:txBody>
      </p:sp>
      <p:sp>
        <p:nvSpPr>
          <p:cNvPr id="9" name="Text 5"/>
          <p:cNvSpPr txBox="1"/>
          <p:nvPr/>
        </p:nvSpPr>
        <p:spPr>
          <a:xfrm>
            <a:off x="5806440" y="5303520"/>
            <a:ext cx="5836615" cy="868680"/>
          </a:xfrm>
          <a:prstGeom prst="rect">
            <a:avLst/>
          </a:prstGeom>
          <a:noFill/>
          <a:ln/>
        </p:spPr>
        <p:txBody>
          <a:bodyPr wrap="square" lIns="0" tIns="0" rIns="0" bIns="0" rtlCol="0" anchor="t"/>
          <a:lstStyle/>
          <a:p>
            <a:pPr indent="0" marL="0">
              <a:buNone/>
            </a:pPr>
            <a:r>
              <a:rPr lang="en-US" sz="1300" dirty="0">
                <a:solidFill>
                  <a:schemeClr val="accent5"/>
                </a:solidFill>
              </a:rPr>
              <a:t>Suivent, en groupe serré : nombreux employeurs précédents, satisfaction minimale basse, peu d'expérience, promotion ancienne, déplacements fréquents.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INTERPRÉTATION  ·  LECTURE MÉTIER</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Les causes potentielles de démission</a:t>
            </a:r>
            <a:endParaRPr lang="en-US" sz="3400" dirty="0"/>
          </a:p>
        </p:txBody>
      </p:sp>
      <p:graphicFrame>
        <p:nvGraphicFramePr>
          <p:cNvPr id="4" name="importance shap par variable" descr=""/>
          <p:cNvGraphicFramePr/>
          <p:nvPr/>
        </p:nvGraphicFramePr>
        <p:xfrm>
          <a:off x="548640" y="150876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legende 1"/>
          <p:cNvSpPr/>
          <p:nvPr/>
        </p:nvSpPr>
        <p:spPr>
          <a:xfrm>
            <a:off x="7863840" y="1664208"/>
            <a:ext cx="256032" cy="256032"/>
          </a:xfrm>
          <a:prstGeom prst="rect">
            <a:avLst/>
          </a:prstGeom>
          <a:solidFill>
            <a:schemeClr val="accent3"/>
          </a:solidFill>
          <a:ln/>
        </p:spPr>
      </p:sp>
      <p:sp>
        <p:nvSpPr>
          <p:cNvPr id="6" name="Text 3"/>
          <p:cNvSpPr txBox="1"/>
          <p:nvPr/>
        </p:nvSpPr>
        <p:spPr>
          <a:xfrm>
            <a:off x="8247888" y="1600200"/>
            <a:ext cx="3395167" cy="457200"/>
          </a:xfrm>
          <a:prstGeom prst="rect">
            <a:avLst/>
          </a:prstGeom>
          <a:noFill/>
          <a:ln/>
        </p:spPr>
        <p:txBody>
          <a:bodyPr wrap="square" lIns="0" tIns="0" rIns="0" bIns="0" rtlCol="0" anchor="t"/>
          <a:lstStyle/>
          <a:p>
            <a:pPr indent="0" marL="0">
              <a:buNone/>
            </a:pPr>
            <a:r>
              <a:rPr lang="en-US" sz="1300" dirty="0">
                <a:solidFill>
                  <a:schemeClr val="tx1"/>
                </a:solidFill>
              </a:rPr>
              <a:t>Levier actionnable par les RH</a:t>
            </a:r>
            <a:endParaRPr lang="en-US" sz="1300" dirty="0"/>
          </a:p>
        </p:txBody>
      </p:sp>
      <p:sp>
        <p:nvSpPr>
          <p:cNvPr id="7" name="legende 2"/>
          <p:cNvSpPr/>
          <p:nvPr/>
        </p:nvSpPr>
        <p:spPr>
          <a:xfrm>
            <a:off x="7863840" y="2167128"/>
            <a:ext cx="256032" cy="256032"/>
          </a:xfrm>
          <a:prstGeom prst="rect">
            <a:avLst/>
          </a:prstGeom>
          <a:solidFill>
            <a:schemeClr val="accent4"/>
          </a:solidFill>
          <a:ln/>
        </p:spPr>
      </p:sp>
      <p:sp>
        <p:nvSpPr>
          <p:cNvPr id="8" name="Text 5"/>
          <p:cNvSpPr txBox="1"/>
          <p:nvPr/>
        </p:nvSpPr>
        <p:spPr>
          <a:xfrm>
            <a:off x="8247888" y="2103120"/>
            <a:ext cx="3395167" cy="457200"/>
          </a:xfrm>
          <a:prstGeom prst="rect">
            <a:avLst/>
          </a:prstGeom>
          <a:noFill/>
          <a:ln/>
        </p:spPr>
        <p:txBody>
          <a:bodyPr wrap="square" lIns="0" tIns="0" rIns="0" bIns="0" rtlCol="0" anchor="t"/>
          <a:lstStyle/>
          <a:p>
            <a:pPr indent="0" marL="0">
              <a:buNone/>
            </a:pPr>
            <a:r>
              <a:rPr lang="en-US" sz="1300" dirty="0">
                <a:solidFill>
                  <a:schemeClr val="tx1"/>
                </a:solidFill>
              </a:rPr>
              <a:t>Profil non pilotable : délimite la population à suivre</a:t>
            </a:r>
            <a:endParaRPr lang="en-US" sz="1300" dirty="0"/>
          </a:p>
        </p:txBody>
      </p:sp>
      <p:sp>
        <p:nvSpPr>
          <p:cNvPr id="9" name="vigilance 1"/>
          <p:cNvSpPr/>
          <p:nvPr/>
        </p:nvSpPr>
        <p:spPr>
          <a:xfrm>
            <a:off x="7863840" y="2788920"/>
            <a:ext cx="3779215" cy="1536192"/>
          </a:xfrm>
          <a:prstGeom prst="roundRect">
            <a:avLst>
              <a:gd name="adj" fmla="val 4762"/>
            </a:avLst>
          </a:prstGeom>
          <a:solidFill>
            <a:schemeClr val="bg2"/>
          </a:solidFill>
          <a:ln/>
        </p:spPr>
      </p:sp>
      <p:sp>
        <p:nvSpPr>
          <p:cNvPr id="10" name="Text 7"/>
          <p:cNvSpPr txBox="1"/>
          <p:nvPr/>
        </p:nvSpPr>
        <p:spPr>
          <a:xfrm>
            <a:off x="8046720" y="2898648"/>
            <a:ext cx="3413455" cy="320040"/>
          </a:xfrm>
          <a:prstGeom prst="rect">
            <a:avLst/>
          </a:prstGeom>
          <a:noFill/>
          <a:ln/>
        </p:spPr>
        <p:txBody>
          <a:bodyPr wrap="square" lIns="0" tIns="0" rIns="0" bIns="0" rtlCol="0" anchor="t"/>
          <a:lstStyle/>
          <a:p>
            <a:pPr indent="0" marL="0">
              <a:buNone/>
            </a:pPr>
            <a:r>
              <a:rPr lang="en-US" sz="1400" b="1" dirty="0">
                <a:solidFill>
                  <a:schemeClr val="accent6"/>
                </a:solidFill>
              </a:rPr>
              <a:t>Statut marital : pas une cause</a:t>
            </a:r>
            <a:endParaRPr lang="en-US" sz="1400" dirty="0"/>
          </a:p>
        </p:txBody>
      </p:sp>
      <p:sp>
        <p:nvSpPr>
          <p:cNvPr id="11" name="Text 8"/>
          <p:cNvSpPr txBox="1"/>
          <p:nvPr/>
        </p:nvSpPr>
        <p:spPr>
          <a:xfrm>
            <a:off x="8046720" y="3227832"/>
            <a:ext cx="3413455" cy="1051560"/>
          </a:xfrm>
          <a:prstGeom prst="rect">
            <a:avLst/>
          </a:prstGeom>
          <a:noFill/>
          <a:ln/>
        </p:spPr>
        <p:txBody>
          <a:bodyPr wrap="square" lIns="0" tIns="0" rIns="0" bIns="0" rtlCol="0" anchor="t"/>
          <a:lstStyle/>
          <a:p>
            <a:pPr indent="0" marL="0">
              <a:buNone/>
            </a:pPr>
            <a:r>
              <a:rPr lang="en-US" sz="1300" dirty="0">
                <a:solidFill>
                  <a:schemeClr val="tx1"/>
                </a:solidFill>
              </a:rPr>
              <a:t>Il porte l'absence de participation au PEE : aucun célibataire n'y a participé. Jamais affiché sur une fiche.</a:t>
            </a:r>
            <a:endParaRPr lang="en-US" sz="1300" dirty="0"/>
          </a:p>
        </p:txBody>
      </p:sp>
      <p:sp>
        <p:nvSpPr>
          <p:cNvPr id="12" name="vigilance 2"/>
          <p:cNvSpPr/>
          <p:nvPr/>
        </p:nvSpPr>
        <p:spPr>
          <a:xfrm>
            <a:off x="7863840" y="4480560"/>
            <a:ext cx="3779215" cy="1536192"/>
          </a:xfrm>
          <a:prstGeom prst="roundRect">
            <a:avLst>
              <a:gd name="adj" fmla="val 4762"/>
            </a:avLst>
          </a:prstGeom>
          <a:solidFill>
            <a:schemeClr val="bg2"/>
          </a:solidFill>
          <a:ln/>
        </p:spPr>
      </p:sp>
      <p:sp>
        <p:nvSpPr>
          <p:cNvPr id="13" name="Text 10"/>
          <p:cNvSpPr txBox="1"/>
          <p:nvPr/>
        </p:nvSpPr>
        <p:spPr>
          <a:xfrm>
            <a:off x="8046720" y="4590288"/>
            <a:ext cx="3413455" cy="320040"/>
          </a:xfrm>
          <a:prstGeom prst="rect">
            <a:avLst/>
          </a:prstGeom>
          <a:noFill/>
          <a:ln/>
        </p:spPr>
        <p:txBody>
          <a:bodyPr wrap="square" lIns="0" tIns="0" rIns="0" bIns="0" rtlCol="0" anchor="t"/>
          <a:lstStyle/>
          <a:p>
            <a:pPr indent="0" marL="0">
              <a:buNone/>
            </a:pPr>
            <a:r>
              <a:rPr lang="en-US" sz="1400" b="1" dirty="0">
                <a:solidFill>
                  <a:schemeClr val="accent6"/>
                </a:solidFill>
              </a:rPr>
              <a:t>Revenu : lire les données brutes</a:t>
            </a:r>
            <a:endParaRPr lang="en-US" sz="1400" dirty="0"/>
          </a:p>
        </p:txBody>
      </p:sp>
      <p:sp>
        <p:nvSpPr>
          <p:cNvPr id="14" name="Text 11"/>
          <p:cNvSpPr txBox="1"/>
          <p:nvPr/>
        </p:nvSpPr>
        <p:spPr>
          <a:xfrm>
            <a:off x="8046720" y="4919472"/>
            <a:ext cx="3413455" cy="1051560"/>
          </a:xfrm>
          <a:prstGeom prst="rect">
            <a:avLst/>
          </a:prstGeom>
          <a:noFill/>
          <a:ln/>
        </p:spPr>
        <p:txBody>
          <a:bodyPr wrap="square" lIns="0" tIns="0" rIns="0" bIns="0" rtlCol="0" anchor="t"/>
          <a:lstStyle/>
          <a:p>
            <a:pPr indent="0" marL="0">
              <a:buNone/>
            </a:pPr>
            <a:r>
              <a:rPr lang="en-US" sz="1300" dirty="0">
                <a:solidFill>
                  <a:schemeClr val="tx1"/>
                </a:solidFill>
              </a:rPr>
              <a:t>Le coefficient est brouillé par l'expérience et le poste. Les taux, eux, sont nets : 28,6 % de départs sous 3 000 €, 10,4 % au-delà de 6 000 €.</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INTERPRÉTATION  ·  IMPORTANCE LOCALE, UN EXEMPLE PAR CLASSE</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Une explication pour chaque collaborateur</a:t>
            </a:r>
            <a:endParaRPr lang="en-US" sz="3400" dirty="0"/>
          </a:p>
        </p:txBody>
      </p:sp>
      <p:pic>
        <p:nvPicPr>
          <p:cNvPr id="4" name="waterfall 1" descr="Départ détecté, collaborateur 331 (0,81)">    </p:cNvPr>
          <p:cNvPicPr>
            <a:picLocks noChangeAspect="1"/>
          </p:cNvPicPr>
          <p:nvPr/>
        </p:nvPicPr>
        <p:blipFill>
          <a:blip r:embed="rId1"/>
          <a:stretch>
            <a:fillRect/>
          </a:stretch>
        </p:blipFill>
        <p:spPr>
          <a:xfrm>
            <a:off x="548640" y="1783080"/>
            <a:ext cx="4557577" cy="3611880"/>
          </a:xfrm>
          <a:prstGeom prst="rect">
            <a:avLst/>
          </a:prstGeom>
        </p:spPr>
      </p:pic>
      <p:sp>
        <p:nvSpPr>
          <p:cNvPr id="5" name="Text 2"/>
          <p:cNvSpPr txBox="1"/>
          <p:nvPr/>
        </p:nvSpPr>
        <p:spPr>
          <a:xfrm>
            <a:off x="548640" y="5440680"/>
            <a:ext cx="5394960" cy="320040"/>
          </a:xfrm>
          <a:prstGeom prst="rect">
            <a:avLst/>
          </a:prstGeom>
          <a:noFill/>
          <a:ln/>
        </p:spPr>
        <p:txBody>
          <a:bodyPr wrap="square" lIns="0" tIns="0" rIns="0" bIns="0" rtlCol="0" anchor="t"/>
          <a:lstStyle/>
          <a:p>
            <a:pPr indent="0" marL="0">
              <a:buNone/>
            </a:pPr>
            <a:r>
              <a:rPr lang="en-US" sz="1400" b="1" dirty="0">
                <a:solidFill>
                  <a:schemeClr val="accent1"/>
                </a:solidFill>
              </a:rPr>
              <a:t>Départ détecté, collaborateur 331 (0,81)</a:t>
            </a:r>
            <a:endParaRPr lang="en-US" sz="1400" dirty="0"/>
          </a:p>
        </p:txBody>
      </p:sp>
      <p:sp>
        <p:nvSpPr>
          <p:cNvPr id="6" name="Text 3"/>
          <p:cNvSpPr txBox="1"/>
          <p:nvPr/>
        </p:nvSpPr>
        <p:spPr>
          <a:xfrm>
            <a:off x="548640" y="5760720"/>
            <a:ext cx="5394960" cy="502920"/>
          </a:xfrm>
          <a:prstGeom prst="rect">
            <a:avLst/>
          </a:prstGeom>
          <a:noFill/>
          <a:ln/>
        </p:spPr>
        <p:txBody>
          <a:bodyPr wrap="square" lIns="0" tIns="0" rIns="0" bIns="0" rtlCol="0" anchor="t"/>
          <a:lstStyle/>
          <a:p>
            <a:pPr indent="0" marL="0">
              <a:buNone/>
            </a:pPr>
            <a:r>
              <a:rPr lang="en-US" sz="1200" dirty="0">
                <a:solidFill>
                  <a:schemeClr val="tx1"/>
                </a:solidFill>
              </a:rPr>
              <a:t>Heures supplémentaires (+1,18), poste de consultant, expérience courte, satisfaction au plus bas.</a:t>
            </a:r>
            <a:endParaRPr lang="en-US" sz="1200" dirty="0"/>
          </a:p>
        </p:txBody>
      </p:sp>
      <p:pic>
        <p:nvPicPr>
          <p:cNvPr id="7" name="waterfall 2" descr="Maintien prévu, collaborateur 1177 (0,15)">    </p:cNvPr>
          <p:cNvPicPr>
            <a:picLocks noChangeAspect="1"/>
          </p:cNvPicPr>
          <p:nvPr/>
        </p:nvPicPr>
        <p:blipFill>
          <a:blip r:embed="rId2"/>
          <a:stretch>
            <a:fillRect/>
          </a:stretch>
        </p:blipFill>
        <p:spPr>
          <a:xfrm>
            <a:off x="6217920" y="1783080"/>
            <a:ext cx="4671517" cy="3611880"/>
          </a:xfrm>
          <a:prstGeom prst="rect">
            <a:avLst/>
          </a:prstGeom>
        </p:spPr>
      </p:pic>
      <p:sp>
        <p:nvSpPr>
          <p:cNvPr id="8" name="Text 4"/>
          <p:cNvSpPr txBox="1"/>
          <p:nvPr/>
        </p:nvSpPr>
        <p:spPr>
          <a:xfrm>
            <a:off x="6217920" y="5440680"/>
            <a:ext cx="5394960" cy="320040"/>
          </a:xfrm>
          <a:prstGeom prst="rect">
            <a:avLst/>
          </a:prstGeom>
          <a:noFill/>
          <a:ln/>
        </p:spPr>
        <p:txBody>
          <a:bodyPr wrap="square" lIns="0" tIns="0" rIns="0" bIns="0" rtlCol="0" anchor="t"/>
          <a:lstStyle/>
          <a:p>
            <a:pPr indent="0" marL="0">
              <a:buNone/>
            </a:pPr>
            <a:r>
              <a:rPr lang="en-US" sz="1400" b="1" dirty="0">
                <a:solidFill>
                  <a:schemeClr val="accent2"/>
                </a:solidFill>
              </a:rPr>
              <a:t>Maintien prévu, collaborateur 1177 (0,15)</a:t>
            </a:r>
            <a:endParaRPr lang="en-US" sz="1400" dirty="0"/>
          </a:p>
        </p:txBody>
      </p:sp>
      <p:sp>
        <p:nvSpPr>
          <p:cNvPr id="9" name="Text 5"/>
          <p:cNvSpPr txBox="1"/>
          <p:nvPr/>
        </p:nvSpPr>
        <p:spPr>
          <a:xfrm>
            <a:off x="6217920" y="5760720"/>
            <a:ext cx="5394960" cy="502920"/>
          </a:xfrm>
          <a:prstGeom prst="rect">
            <a:avLst/>
          </a:prstGeom>
          <a:noFill/>
          <a:ln/>
        </p:spPr>
        <p:txBody>
          <a:bodyPr wrap="square" lIns="0" tIns="0" rIns="0" bIns="0" rtlCol="0" anchor="t"/>
          <a:lstStyle/>
          <a:p>
            <a:pPr indent="0" marL="0">
              <a:buNone/>
            </a:pPr>
            <a:r>
              <a:rPr lang="en-US" sz="1200" dirty="0">
                <a:solidFill>
                  <a:schemeClr val="tx1"/>
                </a:solidFill>
              </a:rPr>
              <a:t>Bonne évaluation, forte augmentation, pas d'heures sup. Une insatisfaction sur l'environnement reste à aborder.</a:t>
            </a:r>
            <a:endParaRPr lang="en-US" sz="1200" dirty="0"/>
          </a:p>
        </p:txBody>
      </p:sp>
      <p:sp>
        <p:nvSpPr>
          <p:cNvPr id="10" name="Text 6"/>
          <p:cNvSpPr txBox="1"/>
          <p:nvPr/>
        </p:nvSpPr>
        <p:spPr>
          <a:xfrm>
            <a:off x="548640" y="1490472"/>
            <a:ext cx="11094415" cy="274320"/>
          </a:xfrm>
          <a:prstGeom prst="rect">
            <a:avLst/>
          </a:prstGeom>
          <a:noFill/>
          <a:ln/>
        </p:spPr>
        <p:txBody>
          <a:bodyPr wrap="square" lIns="0" tIns="0" rIns="0" bIns="0" rtlCol="0" anchor="t"/>
          <a:lstStyle/>
          <a:p>
            <a:pPr indent="0" marL="0">
              <a:buNone/>
            </a:pPr>
            <a:r>
              <a:rPr lang="en-US" sz="1300" dirty="0">
                <a:solidFill>
                  <a:schemeClr val="accent5"/>
                </a:solidFill>
              </a:rPr>
              <a:t>Lecture : partir de la valeur moyenne, puis empiler les contributions.   </a:t>
            </a:r>
            <a:pPr indent="0" marL="0">
              <a:buNone/>
            </a:pPr>
            <a:r>
              <a:rPr lang="en-US" sz="1300" b="1" dirty="0">
                <a:solidFill>
                  <a:srgbClr val="FF0051"/>
                </a:solidFill>
              </a:rPr>
              <a:t>Rouge</a:t>
            </a:r>
            <a:pPr indent="0" marL="0">
              <a:buNone/>
            </a:pPr>
            <a:r>
              <a:rPr lang="en-US" sz="1300" dirty="0">
                <a:solidFill>
                  <a:schemeClr val="accent5"/>
                </a:solidFill>
              </a:rPr>
              <a:t> : pousse vers le départ   </a:t>
            </a:r>
            <a:pPr indent="0" marL="0">
              <a:buNone/>
            </a:pPr>
            <a:r>
              <a:rPr lang="en-US" sz="1300" b="1" dirty="0">
                <a:solidFill>
                  <a:srgbClr val="008BFB"/>
                </a:solidFill>
              </a:rPr>
              <a:t>Bleu</a:t>
            </a:r>
            <a:pPr indent="0" marL="0">
              <a:buNone/>
            </a:pPr>
            <a:r>
              <a:rPr lang="en-US" sz="1300" dirty="0">
                <a:solidFill>
                  <a:schemeClr val="accent5"/>
                </a:solidFill>
              </a:rPr>
              <a:t> : retient</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RECOMMANDATIONS</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Six leviers d'action pour les RH</a:t>
            </a:r>
            <a:endParaRPr lang="en-US" sz="3400" dirty="0"/>
          </a:p>
        </p:txBody>
      </p:sp>
      <p:sp>
        <p:nvSpPr>
          <p:cNvPr id="4" name="levier 1"/>
          <p:cNvSpPr/>
          <p:nvPr/>
        </p:nvSpPr>
        <p:spPr>
          <a:xfrm>
            <a:off x="548640" y="1600200"/>
            <a:ext cx="3515258" cy="2194560"/>
          </a:xfrm>
          <a:prstGeom prst="roundRect">
            <a:avLst>
              <a:gd name="adj" fmla="val 3333"/>
            </a:avLst>
          </a:prstGeom>
          <a:solidFill>
            <a:schemeClr val="bg2"/>
          </a:solidFill>
          <a:ln/>
        </p:spPr>
      </p:sp>
      <p:sp>
        <p:nvSpPr>
          <p:cNvPr id="5" name="disque LuClock"/>
          <p:cNvSpPr/>
          <p:nvPr/>
        </p:nvSpPr>
        <p:spPr>
          <a:xfrm>
            <a:off x="777240" y="1801368"/>
            <a:ext cx="548640" cy="548640"/>
          </a:xfrm>
          <a:prstGeom prst="ellipse">
            <a:avLst/>
          </a:prstGeom>
          <a:solidFill>
            <a:schemeClr val="accent3"/>
          </a:solidFill>
          <a:ln/>
        </p:spPr>
      </p:sp>
      <p:pic>
        <p:nvPicPr>
          <p:cNvPr id="6" name="icone LuClock" descr="preencoded.png">    </p:cNvPr>
          <p:cNvPicPr>
            <a:picLocks noChangeAspect="1"/>
          </p:cNvPicPr>
          <p:nvPr/>
        </p:nvPicPr>
        <p:blipFill>
          <a:blip r:embed="rId1"/>
          <a:stretch>
            <a:fillRect/>
          </a:stretch>
        </p:blipFill>
        <p:spPr>
          <a:xfrm>
            <a:off x="908914" y="1933042"/>
            <a:ext cx="285293" cy="285293"/>
          </a:xfrm>
          <a:prstGeom prst="rect">
            <a:avLst/>
          </a:prstGeom>
        </p:spPr>
      </p:pic>
      <p:sp>
        <p:nvSpPr>
          <p:cNvPr id="7" name="Text 4"/>
          <p:cNvSpPr txBox="1"/>
          <p:nvPr/>
        </p:nvSpPr>
        <p:spPr>
          <a:xfrm>
            <a:off x="1463040" y="1874520"/>
            <a:ext cx="2417978" cy="411480"/>
          </a:xfrm>
          <a:prstGeom prst="rect">
            <a:avLst/>
          </a:prstGeom>
          <a:noFill/>
          <a:ln/>
        </p:spPr>
        <p:txBody>
          <a:bodyPr wrap="square" lIns="0" tIns="0" rIns="0" bIns="0" rtlCol="0" anchor="t"/>
          <a:lstStyle/>
          <a:p>
            <a:pPr indent="0" marL="0">
              <a:buNone/>
            </a:pPr>
            <a:r>
              <a:rPr lang="en-US" sz="1700" b="1" dirty="0">
                <a:solidFill>
                  <a:schemeClr val="tx1"/>
                </a:solidFill>
              </a:rPr>
              <a:t>1. Charge de travail</a:t>
            </a:r>
            <a:endParaRPr lang="en-US" sz="1700" dirty="0"/>
          </a:p>
        </p:txBody>
      </p:sp>
      <p:sp>
        <p:nvSpPr>
          <p:cNvPr id="8" name="Text 5"/>
          <p:cNvSpPr txBox="1"/>
          <p:nvPr/>
        </p:nvSpPr>
        <p:spPr>
          <a:xfrm>
            <a:off x="777240" y="2468880"/>
            <a:ext cx="3058058" cy="594360"/>
          </a:xfrm>
          <a:prstGeom prst="rect">
            <a:avLst/>
          </a:prstGeom>
          <a:noFill/>
          <a:ln/>
        </p:spPr>
        <p:txBody>
          <a:bodyPr wrap="square" lIns="0" tIns="0" rIns="0" bIns="0" rtlCol="0" anchor="t"/>
          <a:lstStyle/>
          <a:p>
            <a:pPr indent="0" marL="0">
              <a:buNone/>
            </a:pPr>
            <a:r>
              <a:rPr lang="en-US" sz="1400" dirty="0">
                <a:solidFill>
                  <a:schemeClr val="accent1"/>
                </a:solidFill>
              </a:rPr>
              <a:t>30,5 % de départs avec heures sup., 10,4 % sans</a:t>
            </a:r>
            <a:endParaRPr lang="en-US" sz="1400" dirty="0"/>
          </a:p>
        </p:txBody>
      </p:sp>
      <p:sp>
        <p:nvSpPr>
          <p:cNvPr id="9" name="Text 6"/>
          <p:cNvSpPr txBox="1"/>
          <p:nvPr/>
        </p:nvSpPr>
        <p:spPr>
          <a:xfrm>
            <a:off x="777240" y="3081528"/>
            <a:ext cx="3058058" cy="594360"/>
          </a:xfrm>
          <a:prstGeom prst="rect">
            <a:avLst/>
          </a:prstGeom>
          <a:noFill/>
          <a:ln/>
        </p:spPr>
        <p:txBody>
          <a:bodyPr wrap="square" lIns="0" tIns="0" rIns="0" bIns="0" rtlCol="0" anchor="t"/>
          <a:lstStyle/>
          <a:p>
            <a:pPr indent="0" marL="0">
              <a:buNone/>
            </a:pPr>
            <a:r>
              <a:rPr lang="en-US" sz="1400" b="1" dirty="0">
                <a:solidFill>
                  <a:schemeClr val="tx1"/>
                </a:solidFill>
              </a:rPr>
              <a:t>Suivre, plafonner et répartir les heures supplémentaires</a:t>
            </a:r>
            <a:endParaRPr lang="en-US" sz="1400" dirty="0"/>
          </a:p>
        </p:txBody>
      </p:sp>
      <p:sp>
        <p:nvSpPr>
          <p:cNvPr id="10" name="levier 2"/>
          <p:cNvSpPr/>
          <p:nvPr/>
        </p:nvSpPr>
        <p:spPr>
          <a:xfrm>
            <a:off x="4338218" y="1600200"/>
            <a:ext cx="3515258" cy="2194560"/>
          </a:xfrm>
          <a:prstGeom prst="roundRect">
            <a:avLst>
              <a:gd name="adj" fmla="val 3333"/>
            </a:avLst>
          </a:prstGeom>
          <a:solidFill>
            <a:schemeClr val="bg2"/>
          </a:solidFill>
          <a:ln/>
        </p:spPr>
      </p:sp>
      <p:sp>
        <p:nvSpPr>
          <p:cNvPr id="11" name="disque LuGauge"/>
          <p:cNvSpPr/>
          <p:nvPr/>
        </p:nvSpPr>
        <p:spPr>
          <a:xfrm>
            <a:off x="4566818" y="1801368"/>
            <a:ext cx="548640" cy="548640"/>
          </a:xfrm>
          <a:prstGeom prst="ellipse">
            <a:avLst/>
          </a:prstGeom>
          <a:solidFill>
            <a:schemeClr val="accent3"/>
          </a:solidFill>
          <a:ln/>
        </p:spPr>
      </p:sp>
      <p:pic>
        <p:nvPicPr>
          <p:cNvPr id="12" name="icone LuGauge" descr="preencoded.png">    </p:cNvPr>
          <p:cNvPicPr>
            <a:picLocks noChangeAspect="1"/>
          </p:cNvPicPr>
          <p:nvPr/>
        </p:nvPicPr>
        <p:blipFill>
          <a:blip r:embed="rId2"/>
          <a:stretch>
            <a:fillRect/>
          </a:stretch>
        </p:blipFill>
        <p:spPr>
          <a:xfrm>
            <a:off x="4698492" y="1933042"/>
            <a:ext cx="285293" cy="285293"/>
          </a:xfrm>
          <a:prstGeom prst="rect">
            <a:avLst/>
          </a:prstGeom>
        </p:spPr>
      </p:pic>
      <p:sp>
        <p:nvSpPr>
          <p:cNvPr id="13" name="Text 9"/>
          <p:cNvSpPr txBox="1"/>
          <p:nvPr/>
        </p:nvSpPr>
        <p:spPr>
          <a:xfrm>
            <a:off x="5252618" y="1874520"/>
            <a:ext cx="2417978" cy="411480"/>
          </a:xfrm>
          <a:prstGeom prst="rect">
            <a:avLst/>
          </a:prstGeom>
          <a:noFill/>
          <a:ln/>
        </p:spPr>
        <p:txBody>
          <a:bodyPr wrap="square" lIns="0" tIns="0" rIns="0" bIns="0" rtlCol="0" anchor="t"/>
          <a:lstStyle/>
          <a:p>
            <a:pPr indent="0" marL="0">
              <a:buNone/>
            </a:pPr>
            <a:r>
              <a:rPr lang="en-US" sz="1700" b="1" dirty="0">
                <a:solidFill>
                  <a:schemeClr val="tx1"/>
                </a:solidFill>
              </a:rPr>
              <a:t>2. Point de rupture</a:t>
            </a:r>
            <a:endParaRPr lang="en-US" sz="1700" dirty="0"/>
          </a:p>
        </p:txBody>
      </p:sp>
      <p:sp>
        <p:nvSpPr>
          <p:cNvPr id="14" name="Text 10"/>
          <p:cNvSpPr txBox="1"/>
          <p:nvPr/>
        </p:nvSpPr>
        <p:spPr>
          <a:xfrm>
            <a:off x="4566818" y="2468880"/>
            <a:ext cx="3058058" cy="594360"/>
          </a:xfrm>
          <a:prstGeom prst="rect">
            <a:avLst/>
          </a:prstGeom>
          <a:noFill/>
          <a:ln/>
        </p:spPr>
        <p:txBody>
          <a:bodyPr wrap="square" lIns="0" tIns="0" rIns="0" bIns="0" rtlCol="0" anchor="t"/>
          <a:lstStyle/>
          <a:p>
            <a:pPr indent="0" marL="0">
              <a:buNone/>
            </a:pPr>
            <a:r>
              <a:rPr lang="en-US" sz="1400" dirty="0">
                <a:solidFill>
                  <a:schemeClr val="accent1"/>
                </a:solidFill>
              </a:rPr>
              <a:t>21,2 % de départs dès qu'une dimension de satisfaction est à 1</a:t>
            </a:r>
            <a:endParaRPr lang="en-US" sz="1400" dirty="0"/>
          </a:p>
        </p:txBody>
      </p:sp>
      <p:sp>
        <p:nvSpPr>
          <p:cNvPr id="15" name="Text 11"/>
          <p:cNvSpPr txBox="1"/>
          <p:nvPr/>
        </p:nvSpPr>
        <p:spPr>
          <a:xfrm>
            <a:off x="4566818" y="3081528"/>
            <a:ext cx="3058058" cy="594360"/>
          </a:xfrm>
          <a:prstGeom prst="rect">
            <a:avLst/>
          </a:prstGeom>
          <a:noFill/>
          <a:ln/>
        </p:spPr>
        <p:txBody>
          <a:bodyPr wrap="square" lIns="0" tIns="0" rIns="0" bIns="0" rtlCol="0" anchor="t"/>
          <a:lstStyle/>
          <a:p>
            <a:pPr indent="0" marL="0">
              <a:buNone/>
            </a:pPr>
            <a:r>
              <a:rPr lang="en-US" sz="1400" b="1" dirty="0">
                <a:solidFill>
                  <a:schemeClr val="tx1"/>
                </a:solidFill>
              </a:rPr>
              <a:t>Déclencher un échange dès le sondage annuel</a:t>
            </a:r>
            <a:endParaRPr lang="en-US" sz="1400" dirty="0"/>
          </a:p>
        </p:txBody>
      </p:sp>
      <p:sp>
        <p:nvSpPr>
          <p:cNvPr id="16" name="levier 3"/>
          <p:cNvSpPr/>
          <p:nvPr/>
        </p:nvSpPr>
        <p:spPr>
          <a:xfrm>
            <a:off x="8127797" y="1600200"/>
            <a:ext cx="3515258" cy="2194560"/>
          </a:xfrm>
          <a:prstGeom prst="roundRect">
            <a:avLst>
              <a:gd name="adj" fmla="val 3333"/>
            </a:avLst>
          </a:prstGeom>
          <a:solidFill>
            <a:schemeClr val="bg2"/>
          </a:solidFill>
          <a:ln/>
        </p:spPr>
      </p:sp>
      <p:sp>
        <p:nvSpPr>
          <p:cNvPr id="17" name="disque LuSprout"/>
          <p:cNvSpPr/>
          <p:nvPr/>
        </p:nvSpPr>
        <p:spPr>
          <a:xfrm>
            <a:off x="8356397" y="1801368"/>
            <a:ext cx="548640" cy="548640"/>
          </a:xfrm>
          <a:prstGeom prst="ellipse">
            <a:avLst/>
          </a:prstGeom>
          <a:solidFill>
            <a:schemeClr val="accent3"/>
          </a:solidFill>
          <a:ln/>
        </p:spPr>
      </p:sp>
      <p:pic>
        <p:nvPicPr>
          <p:cNvPr id="18" name="icone LuSprout" descr="preencoded.png">    </p:cNvPr>
          <p:cNvPicPr>
            <a:picLocks noChangeAspect="1"/>
          </p:cNvPicPr>
          <p:nvPr/>
        </p:nvPicPr>
        <p:blipFill>
          <a:blip r:embed="rId3"/>
          <a:stretch>
            <a:fillRect/>
          </a:stretch>
        </p:blipFill>
        <p:spPr>
          <a:xfrm>
            <a:off x="8488070" y="1933042"/>
            <a:ext cx="285293" cy="285293"/>
          </a:xfrm>
          <a:prstGeom prst="rect">
            <a:avLst/>
          </a:prstGeom>
        </p:spPr>
      </p:pic>
      <p:sp>
        <p:nvSpPr>
          <p:cNvPr id="19" name="Text 14"/>
          <p:cNvSpPr txBox="1"/>
          <p:nvPr/>
        </p:nvSpPr>
        <p:spPr>
          <a:xfrm>
            <a:off x="9042197" y="1874520"/>
            <a:ext cx="2417978" cy="411480"/>
          </a:xfrm>
          <a:prstGeom prst="rect">
            <a:avLst/>
          </a:prstGeom>
          <a:noFill/>
          <a:ln/>
        </p:spPr>
        <p:txBody>
          <a:bodyPr wrap="square" lIns="0" tIns="0" rIns="0" bIns="0" rtlCol="0" anchor="t"/>
          <a:lstStyle/>
          <a:p>
            <a:pPr indent="0" marL="0">
              <a:buNone/>
            </a:pPr>
            <a:r>
              <a:rPr lang="en-US" sz="1700" b="1" dirty="0">
                <a:solidFill>
                  <a:schemeClr val="tx1"/>
                </a:solidFill>
              </a:rPr>
              <a:t>3. Premières années</a:t>
            </a:r>
            <a:endParaRPr lang="en-US" sz="1700" dirty="0"/>
          </a:p>
        </p:txBody>
      </p:sp>
      <p:sp>
        <p:nvSpPr>
          <p:cNvPr id="20" name="Text 15"/>
          <p:cNvSpPr txBox="1"/>
          <p:nvPr/>
        </p:nvSpPr>
        <p:spPr>
          <a:xfrm>
            <a:off x="8356397" y="2468880"/>
            <a:ext cx="3058058" cy="594360"/>
          </a:xfrm>
          <a:prstGeom prst="rect">
            <a:avLst/>
          </a:prstGeom>
          <a:noFill/>
          <a:ln/>
        </p:spPr>
        <p:txBody>
          <a:bodyPr wrap="square" lIns="0" tIns="0" rIns="0" bIns="0" rtlCol="0" anchor="t"/>
          <a:lstStyle/>
          <a:p>
            <a:pPr indent="0" marL="0">
              <a:buNone/>
            </a:pPr>
            <a:r>
              <a:rPr lang="en-US" sz="1400" dirty="0">
                <a:solidFill>
                  <a:schemeClr val="accent1"/>
                </a:solidFill>
              </a:rPr>
              <a:t>43,9 % chez les débutants, 32,3 % sous un nouveau responsable</a:t>
            </a:r>
            <a:endParaRPr lang="en-US" sz="1400" dirty="0"/>
          </a:p>
        </p:txBody>
      </p:sp>
      <p:sp>
        <p:nvSpPr>
          <p:cNvPr id="21" name="Text 16"/>
          <p:cNvSpPr txBox="1"/>
          <p:nvPr/>
        </p:nvSpPr>
        <p:spPr>
          <a:xfrm>
            <a:off x="8356397" y="3081528"/>
            <a:ext cx="3058058" cy="594360"/>
          </a:xfrm>
          <a:prstGeom prst="rect">
            <a:avLst/>
          </a:prstGeom>
          <a:noFill/>
          <a:ln/>
        </p:spPr>
        <p:txBody>
          <a:bodyPr wrap="square" lIns="0" tIns="0" rIns="0" bIns="0" rtlCol="0" anchor="t"/>
          <a:lstStyle/>
          <a:p>
            <a:pPr indent="0" marL="0">
              <a:buNone/>
            </a:pPr>
            <a:r>
              <a:rPr lang="en-US" sz="1400" b="1" dirty="0">
                <a:solidFill>
                  <a:schemeClr val="tx1"/>
                </a:solidFill>
              </a:rPr>
              <a:t>Parcours d'intégration, suivi à chaque changement de responsable</a:t>
            </a:r>
            <a:endParaRPr lang="en-US" sz="1400" dirty="0"/>
          </a:p>
        </p:txBody>
      </p:sp>
      <p:sp>
        <p:nvSpPr>
          <p:cNvPr id="22" name="levier 4"/>
          <p:cNvSpPr/>
          <p:nvPr/>
        </p:nvSpPr>
        <p:spPr>
          <a:xfrm>
            <a:off x="548640" y="4069080"/>
            <a:ext cx="3515258" cy="2194560"/>
          </a:xfrm>
          <a:prstGeom prst="roundRect">
            <a:avLst>
              <a:gd name="adj" fmla="val 3333"/>
            </a:avLst>
          </a:prstGeom>
          <a:solidFill>
            <a:schemeClr val="bg2"/>
          </a:solidFill>
          <a:ln/>
        </p:spPr>
      </p:sp>
      <p:sp>
        <p:nvSpPr>
          <p:cNvPr id="23" name="disque LuTrendingUp"/>
          <p:cNvSpPr/>
          <p:nvPr/>
        </p:nvSpPr>
        <p:spPr>
          <a:xfrm>
            <a:off x="777240" y="4270248"/>
            <a:ext cx="548640" cy="548640"/>
          </a:xfrm>
          <a:prstGeom prst="ellipse">
            <a:avLst/>
          </a:prstGeom>
          <a:solidFill>
            <a:schemeClr val="accent3"/>
          </a:solidFill>
          <a:ln/>
        </p:spPr>
      </p:sp>
      <p:pic>
        <p:nvPicPr>
          <p:cNvPr id="24" name="icone LuTrendingUp" descr="preencoded.png">    </p:cNvPr>
          <p:cNvPicPr>
            <a:picLocks noChangeAspect="1"/>
          </p:cNvPicPr>
          <p:nvPr/>
        </p:nvPicPr>
        <p:blipFill>
          <a:blip r:embed="rId4"/>
          <a:stretch>
            <a:fillRect/>
          </a:stretch>
        </p:blipFill>
        <p:spPr>
          <a:xfrm>
            <a:off x="908914" y="4401922"/>
            <a:ext cx="285293" cy="285293"/>
          </a:xfrm>
          <a:prstGeom prst="rect">
            <a:avLst/>
          </a:prstGeom>
        </p:spPr>
      </p:pic>
      <p:sp>
        <p:nvSpPr>
          <p:cNvPr id="25" name="Text 19"/>
          <p:cNvSpPr txBox="1"/>
          <p:nvPr/>
        </p:nvSpPr>
        <p:spPr>
          <a:xfrm>
            <a:off x="1463040" y="4343400"/>
            <a:ext cx="2417978" cy="411480"/>
          </a:xfrm>
          <a:prstGeom prst="rect">
            <a:avLst/>
          </a:prstGeom>
          <a:noFill/>
          <a:ln/>
        </p:spPr>
        <p:txBody>
          <a:bodyPr wrap="square" lIns="0" tIns="0" rIns="0" bIns="0" rtlCol="0" anchor="t"/>
          <a:lstStyle/>
          <a:p>
            <a:pPr indent="0" marL="0">
              <a:buNone/>
            </a:pPr>
            <a:r>
              <a:rPr lang="en-US" sz="1700" b="1" dirty="0">
                <a:solidFill>
                  <a:schemeClr val="tx1"/>
                </a:solidFill>
              </a:rPr>
              <a:t>4. Évolution de carrière</a:t>
            </a:r>
            <a:endParaRPr lang="en-US" sz="1700" dirty="0"/>
          </a:p>
        </p:txBody>
      </p:sp>
      <p:sp>
        <p:nvSpPr>
          <p:cNvPr id="26" name="Text 20"/>
          <p:cNvSpPr txBox="1"/>
          <p:nvPr/>
        </p:nvSpPr>
        <p:spPr>
          <a:xfrm>
            <a:off x="777240" y="4937760"/>
            <a:ext cx="3058058" cy="594360"/>
          </a:xfrm>
          <a:prstGeom prst="rect">
            <a:avLst/>
          </a:prstGeom>
          <a:noFill/>
          <a:ln/>
        </p:spPr>
        <p:txBody>
          <a:bodyPr wrap="square" lIns="0" tIns="0" rIns="0" bIns="0" rtlCol="0" anchor="t"/>
          <a:lstStyle/>
          <a:p>
            <a:pPr indent="0" marL="0">
              <a:buNone/>
            </a:pPr>
            <a:r>
              <a:rPr lang="en-US" sz="1400" dirty="0">
                <a:solidFill>
                  <a:schemeClr val="accent1"/>
                </a:solidFill>
              </a:rPr>
              <a:t>Une promotion ancienne pousse vers le départ</a:t>
            </a:r>
            <a:endParaRPr lang="en-US" sz="1400" dirty="0"/>
          </a:p>
        </p:txBody>
      </p:sp>
      <p:sp>
        <p:nvSpPr>
          <p:cNvPr id="27" name="Text 21"/>
          <p:cNvSpPr txBox="1"/>
          <p:nvPr/>
        </p:nvSpPr>
        <p:spPr>
          <a:xfrm>
            <a:off x="777240" y="5550408"/>
            <a:ext cx="3058058" cy="594360"/>
          </a:xfrm>
          <a:prstGeom prst="rect">
            <a:avLst/>
          </a:prstGeom>
          <a:noFill/>
          <a:ln/>
        </p:spPr>
        <p:txBody>
          <a:bodyPr wrap="square" lIns="0" tIns="0" rIns="0" bIns="0" rtlCol="0" anchor="t"/>
          <a:lstStyle/>
          <a:p>
            <a:pPr indent="0" marL="0">
              <a:buNone/>
            </a:pPr>
            <a:r>
              <a:rPr lang="en-US" sz="1400" b="1" dirty="0">
                <a:solidFill>
                  <a:schemeClr val="tx1"/>
                </a:solidFill>
              </a:rPr>
              <a:t>Revue régulière des parcours et des promotions</a:t>
            </a:r>
            <a:endParaRPr lang="en-US" sz="1400" dirty="0"/>
          </a:p>
        </p:txBody>
      </p:sp>
      <p:sp>
        <p:nvSpPr>
          <p:cNvPr id="28" name="levier 5"/>
          <p:cNvSpPr/>
          <p:nvPr/>
        </p:nvSpPr>
        <p:spPr>
          <a:xfrm>
            <a:off x="4338218" y="4069080"/>
            <a:ext cx="3515258" cy="2194560"/>
          </a:xfrm>
          <a:prstGeom prst="roundRect">
            <a:avLst>
              <a:gd name="adj" fmla="val 3333"/>
            </a:avLst>
          </a:prstGeom>
          <a:solidFill>
            <a:schemeClr val="bg2"/>
          </a:solidFill>
          <a:ln/>
        </p:spPr>
      </p:sp>
      <p:sp>
        <p:nvSpPr>
          <p:cNvPr id="29" name="disque LuCar"/>
          <p:cNvSpPr/>
          <p:nvPr/>
        </p:nvSpPr>
        <p:spPr>
          <a:xfrm>
            <a:off x="4566818" y="4270248"/>
            <a:ext cx="548640" cy="548640"/>
          </a:xfrm>
          <a:prstGeom prst="ellipse">
            <a:avLst/>
          </a:prstGeom>
          <a:solidFill>
            <a:schemeClr val="accent3"/>
          </a:solidFill>
          <a:ln/>
        </p:spPr>
      </p:sp>
      <p:pic>
        <p:nvPicPr>
          <p:cNvPr id="30" name="icone LuCar" descr="preencoded.png">    </p:cNvPr>
          <p:cNvPicPr>
            <a:picLocks noChangeAspect="1"/>
          </p:cNvPicPr>
          <p:nvPr/>
        </p:nvPicPr>
        <p:blipFill>
          <a:blip r:embed="rId5"/>
          <a:stretch>
            <a:fillRect/>
          </a:stretch>
        </p:blipFill>
        <p:spPr>
          <a:xfrm>
            <a:off x="4698492" y="4401922"/>
            <a:ext cx="285293" cy="285293"/>
          </a:xfrm>
          <a:prstGeom prst="rect">
            <a:avLst/>
          </a:prstGeom>
        </p:spPr>
      </p:pic>
      <p:sp>
        <p:nvSpPr>
          <p:cNvPr id="31" name="Text 24"/>
          <p:cNvSpPr txBox="1"/>
          <p:nvPr/>
        </p:nvSpPr>
        <p:spPr>
          <a:xfrm>
            <a:off x="5252618" y="4343400"/>
            <a:ext cx="2417978" cy="411480"/>
          </a:xfrm>
          <a:prstGeom prst="rect">
            <a:avLst/>
          </a:prstGeom>
          <a:noFill/>
          <a:ln/>
        </p:spPr>
        <p:txBody>
          <a:bodyPr wrap="square" lIns="0" tIns="0" rIns="0" bIns="0" rtlCol="0" anchor="t"/>
          <a:lstStyle/>
          <a:p>
            <a:pPr indent="0" marL="0">
              <a:buNone/>
            </a:pPr>
            <a:r>
              <a:rPr lang="en-US" sz="1700" b="1" dirty="0">
                <a:solidFill>
                  <a:schemeClr val="tx1"/>
                </a:solidFill>
              </a:rPr>
              <a:t>5. Trajets et déplacements</a:t>
            </a:r>
            <a:endParaRPr lang="en-US" sz="1700" dirty="0"/>
          </a:p>
        </p:txBody>
      </p:sp>
      <p:sp>
        <p:nvSpPr>
          <p:cNvPr id="32" name="Text 25"/>
          <p:cNvSpPr txBox="1"/>
          <p:nvPr/>
        </p:nvSpPr>
        <p:spPr>
          <a:xfrm>
            <a:off x="4566818" y="4937760"/>
            <a:ext cx="3058058" cy="594360"/>
          </a:xfrm>
          <a:prstGeom prst="rect">
            <a:avLst/>
          </a:prstGeom>
          <a:noFill/>
          <a:ln/>
        </p:spPr>
        <p:txBody>
          <a:bodyPr wrap="square" lIns="0" tIns="0" rIns="0" bIns="0" rtlCol="0" anchor="t"/>
          <a:lstStyle/>
          <a:p>
            <a:pPr indent="0" marL="0">
              <a:buNone/>
            </a:pPr>
            <a:r>
              <a:rPr lang="en-US" sz="1400" dirty="0">
                <a:solidFill>
                  <a:schemeClr val="accent1"/>
                </a:solidFill>
              </a:rPr>
              <a:t>24,9 % de départs en déplacements fréquents</a:t>
            </a:r>
            <a:endParaRPr lang="en-US" sz="1400" dirty="0"/>
          </a:p>
        </p:txBody>
      </p:sp>
      <p:sp>
        <p:nvSpPr>
          <p:cNvPr id="33" name="Text 26"/>
          <p:cNvSpPr txBox="1"/>
          <p:nvPr/>
        </p:nvSpPr>
        <p:spPr>
          <a:xfrm>
            <a:off x="4566818" y="5550408"/>
            <a:ext cx="3058058" cy="594360"/>
          </a:xfrm>
          <a:prstGeom prst="rect">
            <a:avLst/>
          </a:prstGeom>
          <a:noFill/>
          <a:ln/>
        </p:spPr>
        <p:txBody>
          <a:bodyPr wrap="square" lIns="0" tIns="0" rIns="0" bIns="0" rtlCol="0" anchor="t"/>
          <a:lstStyle/>
          <a:p>
            <a:pPr indent="0" marL="0">
              <a:buNone/>
            </a:pPr>
            <a:r>
              <a:rPr lang="en-US" sz="1400" b="1" dirty="0">
                <a:solidFill>
                  <a:schemeClr val="tx1"/>
                </a:solidFill>
              </a:rPr>
              <a:t>Télétravail pour les trajets longs, moins de déplacements</a:t>
            </a:r>
            <a:endParaRPr lang="en-US" sz="1400" dirty="0"/>
          </a:p>
        </p:txBody>
      </p:sp>
      <p:sp>
        <p:nvSpPr>
          <p:cNvPr id="34" name="levier 6"/>
          <p:cNvSpPr/>
          <p:nvPr/>
        </p:nvSpPr>
        <p:spPr>
          <a:xfrm>
            <a:off x="8127797" y="4069080"/>
            <a:ext cx="3515258" cy="2194560"/>
          </a:xfrm>
          <a:prstGeom prst="roundRect">
            <a:avLst>
              <a:gd name="adj" fmla="val 3333"/>
            </a:avLst>
          </a:prstGeom>
          <a:solidFill>
            <a:schemeClr val="bg2"/>
          </a:solidFill>
          <a:ln/>
        </p:spPr>
      </p:sp>
      <p:sp>
        <p:nvSpPr>
          <p:cNvPr id="35" name="disque LuBriefcase"/>
          <p:cNvSpPr/>
          <p:nvPr/>
        </p:nvSpPr>
        <p:spPr>
          <a:xfrm>
            <a:off x="8356397" y="4270248"/>
            <a:ext cx="548640" cy="548640"/>
          </a:xfrm>
          <a:prstGeom prst="ellipse">
            <a:avLst/>
          </a:prstGeom>
          <a:solidFill>
            <a:schemeClr val="accent3"/>
          </a:solidFill>
          <a:ln/>
        </p:spPr>
      </p:sp>
      <p:pic>
        <p:nvPicPr>
          <p:cNvPr id="36" name="icone LuBriefcase" descr="preencoded.png">    </p:cNvPr>
          <p:cNvPicPr>
            <a:picLocks noChangeAspect="1"/>
          </p:cNvPicPr>
          <p:nvPr/>
        </p:nvPicPr>
        <p:blipFill>
          <a:blip r:embed="rId6"/>
          <a:stretch>
            <a:fillRect/>
          </a:stretch>
        </p:blipFill>
        <p:spPr>
          <a:xfrm>
            <a:off x="8488070" y="4401922"/>
            <a:ext cx="285293" cy="285293"/>
          </a:xfrm>
          <a:prstGeom prst="rect">
            <a:avLst/>
          </a:prstGeom>
        </p:spPr>
      </p:pic>
      <p:sp>
        <p:nvSpPr>
          <p:cNvPr id="37" name="Text 29"/>
          <p:cNvSpPr txBox="1"/>
          <p:nvPr/>
        </p:nvSpPr>
        <p:spPr>
          <a:xfrm>
            <a:off x="9042197" y="4343400"/>
            <a:ext cx="2417978" cy="411480"/>
          </a:xfrm>
          <a:prstGeom prst="rect">
            <a:avLst/>
          </a:prstGeom>
          <a:noFill/>
          <a:ln/>
        </p:spPr>
        <p:txBody>
          <a:bodyPr wrap="square" lIns="0" tIns="0" rIns="0" bIns="0" rtlCol="0" anchor="t"/>
          <a:lstStyle/>
          <a:p>
            <a:pPr indent="0" marL="0">
              <a:buNone/>
            </a:pPr>
            <a:r>
              <a:rPr lang="en-US" sz="1700" b="1" dirty="0">
                <a:solidFill>
                  <a:schemeClr val="tx1"/>
                </a:solidFill>
              </a:rPr>
              <a:t>6. Métiers et bas salaires</a:t>
            </a:r>
            <a:endParaRPr lang="en-US" sz="1700" dirty="0"/>
          </a:p>
        </p:txBody>
      </p:sp>
      <p:sp>
        <p:nvSpPr>
          <p:cNvPr id="38" name="Text 30"/>
          <p:cNvSpPr txBox="1"/>
          <p:nvPr/>
        </p:nvSpPr>
        <p:spPr>
          <a:xfrm>
            <a:off x="8356397" y="4937760"/>
            <a:ext cx="3058058" cy="594360"/>
          </a:xfrm>
          <a:prstGeom prst="rect">
            <a:avLst/>
          </a:prstGeom>
          <a:noFill/>
          <a:ln/>
        </p:spPr>
        <p:txBody>
          <a:bodyPr wrap="square" lIns="0" tIns="0" rIns="0" bIns="0" rtlCol="0" anchor="t"/>
          <a:lstStyle/>
          <a:p>
            <a:pPr indent="0" marL="0">
              <a:buNone/>
            </a:pPr>
            <a:r>
              <a:rPr lang="en-US" sz="1400" dirty="0">
                <a:solidFill>
                  <a:schemeClr val="accent1"/>
                </a:solidFill>
              </a:rPr>
              <a:t>39,8 % chez les représentants commerciaux, 28,6 % sous 3 000 €</a:t>
            </a:r>
            <a:endParaRPr lang="en-US" sz="1400" dirty="0"/>
          </a:p>
        </p:txBody>
      </p:sp>
      <p:sp>
        <p:nvSpPr>
          <p:cNvPr id="39" name="Text 31"/>
          <p:cNvSpPr txBox="1"/>
          <p:nvPr/>
        </p:nvSpPr>
        <p:spPr>
          <a:xfrm>
            <a:off x="8356397" y="5550408"/>
            <a:ext cx="3058058" cy="594360"/>
          </a:xfrm>
          <a:prstGeom prst="rect">
            <a:avLst/>
          </a:prstGeom>
          <a:noFill/>
          <a:ln/>
        </p:spPr>
        <p:txBody>
          <a:bodyPr wrap="square" lIns="0" tIns="0" rIns="0" bIns="0" rtlCol="0" anchor="t"/>
          <a:lstStyle/>
          <a:p>
            <a:pPr indent="0" marL="0">
              <a:buNone/>
            </a:pPr>
            <a:r>
              <a:rPr lang="en-US" sz="1400" b="1" dirty="0">
                <a:solidFill>
                  <a:schemeClr val="tx1"/>
                </a:solidFill>
              </a:rPr>
              <a:t>Cibler ces métiers, revoir les bas de grille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OUTIL RH  ·  APPLICATION MÉTIER</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L'outil RH : de l'alerte à l'entretien</a:t>
            </a:r>
            <a:endParaRPr lang="en-US" sz="3400" dirty="0"/>
          </a:p>
        </p:txBody>
      </p:sp>
      <p:sp>
        <p:nvSpPr>
          <p:cNvPr id="4" name="pastille 1"/>
          <p:cNvSpPr/>
          <p:nvPr/>
        </p:nvSpPr>
        <p:spPr>
          <a:xfrm>
            <a:off x="548640" y="1600200"/>
            <a:ext cx="502920" cy="502920"/>
          </a:xfrm>
          <a:prstGeom prst="ellipse">
            <a:avLst/>
          </a:prstGeom>
          <a:solidFill>
            <a:schemeClr val="tx1"/>
          </a:solidFill>
          <a:ln/>
        </p:spPr>
      </p:sp>
      <p:sp>
        <p:nvSpPr>
          <p:cNvPr id="5" name="numero 1"/>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280160" y="1581912"/>
            <a:ext cx="4480560" cy="365760"/>
          </a:xfrm>
          <a:prstGeom prst="rect">
            <a:avLst/>
          </a:prstGeom>
          <a:noFill/>
          <a:ln/>
        </p:spPr>
        <p:txBody>
          <a:bodyPr wrap="square" lIns="0" tIns="0" rIns="0" bIns="0" rtlCol="0" anchor="t"/>
          <a:lstStyle/>
          <a:p>
            <a:pPr indent="0" marL="0">
              <a:buNone/>
            </a:pPr>
            <a:r>
              <a:rPr lang="en-US" sz="1600" b="1" dirty="0">
                <a:solidFill>
                  <a:schemeClr val="tx1"/>
                </a:solidFill>
              </a:rPr>
              <a:t>Le modèle score les collaborateurs présents</a:t>
            </a:r>
            <a:endParaRPr lang="en-US" sz="1600" dirty="0"/>
          </a:p>
        </p:txBody>
      </p:sp>
      <p:sp>
        <p:nvSpPr>
          <p:cNvPr id="7" name="Text 5"/>
          <p:cNvSpPr txBox="1"/>
          <p:nvPr/>
        </p:nvSpPr>
        <p:spPr>
          <a:xfrm>
            <a:off x="1280160" y="1947672"/>
            <a:ext cx="4480560" cy="685800"/>
          </a:xfrm>
          <a:prstGeom prst="rect">
            <a:avLst/>
          </a:prstGeom>
          <a:noFill/>
          <a:ln/>
        </p:spPr>
        <p:txBody>
          <a:bodyPr wrap="square" lIns="0" tIns="0" rIns="0" bIns="0" rtlCol="0" anchor="t"/>
          <a:lstStyle/>
          <a:p>
            <a:pPr indent="0" marL="0">
              <a:buNone/>
            </a:pPr>
            <a:r>
              <a:rPr lang="en-US" sz="1400" dirty="0">
                <a:solidFill>
                  <a:schemeClr val="accent5"/>
                </a:solidFill>
              </a:rPr>
              <a:t>Seuil d'alerte 0,418, le même que sur le test</a:t>
            </a:r>
            <a:endParaRPr lang="en-US" sz="1400" dirty="0"/>
          </a:p>
        </p:txBody>
      </p:sp>
      <p:sp>
        <p:nvSpPr>
          <p:cNvPr id="8" name="pastille 2"/>
          <p:cNvSpPr/>
          <p:nvPr/>
        </p:nvSpPr>
        <p:spPr>
          <a:xfrm>
            <a:off x="548640" y="2788920"/>
            <a:ext cx="502920" cy="502920"/>
          </a:xfrm>
          <a:prstGeom prst="ellipse">
            <a:avLst/>
          </a:prstGeom>
          <a:solidFill>
            <a:schemeClr val="tx1"/>
          </a:solidFill>
          <a:ln/>
        </p:spPr>
      </p:sp>
      <p:sp>
        <p:nvSpPr>
          <p:cNvPr id="9" name="numero 2"/>
          <p:cNvSpPr txBox="1"/>
          <p:nvPr/>
        </p:nvSpPr>
        <p:spPr>
          <a:xfrm>
            <a:off x="548640" y="27889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280160" y="2770632"/>
            <a:ext cx="4480560" cy="365760"/>
          </a:xfrm>
          <a:prstGeom prst="rect">
            <a:avLst/>
          </a:prstGeom>
          <a:noFill/>
          <a:ln/>
        </p:spPr>
        <p:txBody>
          <a:bodyPr wrap="square" lIns="0" tIns="0" rIns="0" bIns="0" rtlCol="0" anchor="t"/>
          <a:lstStyle/>
          <a:p>
            <a:pPr indent="0" marL="0">
              <a:buNone/>
            </a:pPr>
            <a:r>
              <a:rPr lang="en-US" sz="1600" b="1" dirty="0">
                <a:solidFill>
                  <a:schemeClr val="tx1"/>
                </a:solidFill>
              </a:rPr>
              <a:t>La liste des alertes</a:t>
            </a:r>
            <a:endParaRPr lang="en-US" sz="1600" dirty="0"/>
          </a:p>
        </p:txBody>
      </p:sp>
      <p:sp>
        <p:nvSpPr>
          <p:cNvPr id="11" name="Text 9"/>
          <p:cNvSpPr txBox="1"/>
          <p:nvPr/>
        </p:nvSpPr>
        <p:spPr>
          <a:xfrm>
            <a:off x="1280160" y="3136392"/>
            <a:ext cx="4480560" cy="685800"/>
          </a:xfrm>
          <a:prstGeom prst="rect">
            <a:avLst/>
          </a:prstGeom>
          <a:noFill/>
          <a:ln/>
        </p:spPr>
        <p:txBody>
          <a:bodyPr wrap="square" lIns="0" tIns="0" rIns="0" bIns="0" rtlCol="0" anchor="t"/>
          <a:lstStyle/>
          <a:p>
            <a:pPr indent="0" marL="0">
              <a:buNone/>
            </a:pPr>
            <a:r>
              <a:rPr lang="en-US" sz="1400" dirty="0">
                <a:solidFill>
                  <a:schemeClr val="accent5"/>
                </a:solidFill>
              </a:rPr>
              <a:t>alertes.csv au format Excel : 319 collaborateurs, du plus au moins exposé, avec le premier levier</a:t>
            </a:r>
            <a:endParaRPr lang="en-US" sz="1400" dirty="0"/>
          </a:p>
        </p:txBody>
      </p:sp>
      <p:sp>
        <p:nvSpPr>
          <p:cNvPr id="12" name="pastille 3"/>
          <p:cNvSpPr/>
          <p:nvPr/>
        </p:nvSpPr>
        <p:spPr>
          <a:xfrm>
            <a:off x="548640" y="3977640"/>
            <a:ext cx="502920" cy="502920"/>
          </a:xfrm>
          <a:prstGeom prst="ellipse">
            <a:avLst/>
          </a:prstGeom>
          <a:solidFill>
            <a:schemeClr val="tx1"/>
          </a:solidFill>
          <a:ln/>
        </p:spPr>
      </p:sp>
      <p:sp>
        <p:nvSpPr>
          <p:cNvPr id="13" name="numero 3"/>
          <p:cNvSpPr txBox="1"/>
          <p:nvPr/>
        </p:nvSpPr>
        <p:spPr>
          <a:xfrm>
            <a:off x="548640" y="3977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280160" y="3959352"/>
            <a:ext cx="4480560" cy="365760"/>
          </a:xfrm>
          <a:prstGeom prst="rect">
            <a:avLst/>
          </a:prstGeom>
          <a:noFill/>
          <a:ln/>
        </p:spPr>
        <p:txBody>
          <a:bodyPr wrap="square" lIns="0" tIns="0" rIns="0" bIns="0" rtlCol="0" anchor="t"/>
          <a:lstStyle/>
          <a:p>
            <a:pPr indent="0" marL="0">
              <a:buNone/>
            </a:pPr>
            <a:r>
              <a:rPr lang="en-US" sz="1600" b="1" dirty="0">
                <a:solidFill>
                  <a:schemeClr val="tx1"/>
                </a:solidFill>
              </a:rPr>
              <a:t>Une fiche d'une page par collaborateur</a:t>
            </a:r>
            <a:endParaRPr lang="en-US" sz="1600" dirty="0"/>
          </a:p>
        </p:txBody>
      </p:sp>
      <p:sp>
        <p:nvSpPr>
          <p:cNvPr id="15" name="Text 13"/>
          <p:cNvSpPr txBox="1"/>
          <p:nvPr/>
        </p:nvSpPr>
        <p:spPr>
          <a:xfrm>
            <a:off x="1280160" y="4325112"/>
            <a:ext cx="4480560" cy="685800"/>
          </a:xfrm>
          <a:prstGeom prst="rect">
            <a:avLst/>
          </a:prstGeom>
          <a:noFill/>
          <a:ln/>
        </p:spPr>
        <p:txBody>
          <a:bodyPr wrap="square" lIns="0" tIns="0" rIns="0" bIns="0" rtlCol="0" anchor="t"/>
          <a:lstStyle/>
          <a:p>
            <a:pPr indent="0" marL="0">
              <a:buNone/>
            </a:pPr>
            <a:r>
              <a:rPr lang="en-US" sz="1400" dirty="0">
                <a:solidFill>
                  <a:schemeClr val="accent5"/>
                </a:solidFill>
              </a:rPr>
              <a:t>Profil en clair, facteurs SHAP, leviers d'entretien</a:t>
            </a:r>
            <a:endParaRPr lang="en-US" sz="1400" dirty="0"/>
          </a:p>
        </p:txBody>
      </p:sp>
      <p:sp>
        <p:nvSpPr>
          <p:cNvPr id="16" name="commande"/>
          <p:cNvSpPr/>
          <p:nvPr/>
        </p:nvSpPr>
        <p:spPr>
          <a:xfrm>
            <a:off x="548640" y="5257800"/>
            <a:ext cx="5212080" cy="822960"/>
          </a:xfrm>
          <a:prstGeom prst="roundRect">
            <a:avLst>
              <a:gd name="adj" fmla="val 6667"/>
            </a:avLst>
          </a:prstGeom>
          <a:solidFill>
            <a:schemeClr val="tx1"/>
          </a:solidFill>
          <a:ln/>
        </p:spPr>
      </p:sp>
      <p:sp>
        <p:nvSpPr>
          <p:cNvPr id="17" name="Text 15"/>
          <p:cNvSpPr txBox="1"/>
          <p:nvPr/>
        </p:nvSpPr>
        <p:spPr>
          <a:xfrm>
            <a:off x="731520" y="5257800"/>
            <a:ext cx="4846320" cy="82296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uv run python -m src.application_metier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--alertes --max-fiches 20</a:t>
            </a:r>
            <a:endParaRPr lang="en-US" sz="1400" dirty="0"/>
          </a:p>
        </p:txBody>
      </p:sp>
      <p:graphicFrame>
        <p:nvGraphicFramePr>
          <p:cNvPr id="18" name="premier levier des alertes" descr=""/>
          <p:cNvGraphicFramePr/>
          <p:nvPr/>
        </p:nvGraphicFramePr>
        <p:xfrm>
          <a:off x="6172200" y="1554480"/>
          <a:ext cx="5468112" cy="41605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6172200" y="5623560"/>
            <a:ext cx="5468112" cy="594360"/>
          </a:xfrm>
          <a:prstGeom prst="rect">
            <a:avLst/>
          </a:prstGeom>
          <a:noFill/>
          <a:ln/>
        </p:spPr>
        <p:txBody>
          <a:bodyPr wrap="square" lIns="0" tIns="0" rIns="0" bIns="0" rtlCol="0" anchor="t"/>
          <a:lstStyle/>
          <a:p>
            <a:pPr indent="0" marL="0">
              <a:buNone/>
            </a:pPr>
            <a:r>
              <a:rPr lang="en-US" sz="1300" dirty="0">
                <a:solidFill>
                  <a:schemeClr val="accent5"/>
                </a:solidFill>
              </a:rPr>
              <a:t>Sur 1 233 collaborateurs présents. 256 ont servi à l'entraînement : la fiche le signale, leur score est optimiste.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OUTIL RH  ·  GUIDE DE LECTURE</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Lire une fiche collaborateur</a:t>
            </a:r>
            <a:endParaRPr lang="en-US" sz="3400" dirty="0"/>
          </a:p>
        </p:txBody>
      </p:sp>
      <p:pic>
        <p:nvPicPr>
          <p:cNvPr id="4" name="fiche collaborateur 411" descr="Fiche collaborateur produite par l'application métier">    </p:cNvPr>
          <p:cNvPicPr>
            <a:picLocks noChangeAspect="1"/>
          </p:cNvPicPr>
          <p:nvPr/>
        </p:nvPicPr>
        <p:blipFill>
          <a:blip r:embed="rId1"/>
          <a:stretch>
            <a:fillRect/>
          </a:stretch>
        </p:blipFill>
        <p:spPr>
          <a:xfrm>
            <a:off x="457200" y="1554480"/>
            <a:ext cx="7726680" cy="4545106"/>
          </a:xfrm>
          <a:prstGeom prst="rect">
            <a:avLst/>
          </a:prstGeom>
        </p:spPr>
      </p:pic>
      <p:sp>
        <p:nvSpPr>
          <p:cNvPr id="5" name="cadre fiche"/>
          <p:cNvSpPr/>
          <p:nvPr/>
        </p:nvSpPr>
        <p:spPr>
          <a:xfrm>
            <a:off x="457200" y="1554480"/>
            <a:ext cx="7726680" cy="4545106"/>
          </a:xfrm>
          <a:prstGeom prst="rect">
            <a:avLst/>
          </a:prstGeom>
          <a:ln w="9525">
            <a:solidFill>
              <a:srgbClr val="CBD5E1"/>
            </a:solidFill>
            <a:prstDash val="solid"/>
          </a:ln>
        </p:spPr>
      </p:sp>
      <p:sp>
        <p:nvSpPr>
          <p:cNvPr id="6" name="pastille 1"/>
          <p:cNvSpPr/>
          <p:nvPr/>
        </p:nvSpPr>
        <p:spPr>
          <a:xfrm>
            <a:off x="1915570" y="1798067"/>
            <a:ext cx="347472" cy="347472"/>
          </a:xfrm>
          <a:prstGeom prst="ellipse">
            <a:avLst/>
          </a:prstGeom>
          <a:solidFill>
            <a:schemeClr val="accent6"/>
          </a:solidFill>
          <a:ln/>
        </p:spPr>
      </p:sp>
      <p:sp>
        <p:nvSpPr>
          <p:cNvPr id="7" name="numero 1"/>
          <p:cNvSpPr txBox="1"/>
          <p:nvPr/>
        </p:nvSpPr>
        <p:spPr>
          <a:xfrm>
            <a:off x="1915570" y="1798067"/>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pastille 2"/>
          <p:cNvSpPr/>
          <p:nvPr/>
        </p:nvSpPr>
        <p:spPr>
          <a:xfrm>
            <a:off x="779294" y="2273238"/>
            <a:ext cx="347472" cy="347472"/>
          </a:xfrm>
          <a:prstGeom prst="ellipse">
            <a:avLst/>
          </a:prstGeom>
          <a:solidFill>
            <a:schemeClr val="accent6"/>
          </a:solidFill>
          <a:ln/>
        </p:spPr>
      </p:sp>
      <p:sp>
        <p:nvSpPr>
          <p:cNvPr id="9" name="numero 2"/>
          <p:cNvSpPr txBox="1"/>
          <p:nvPr/>
        </p:nvSpPr>
        <p:spPr>
          <a:xfrm>
            <a:off x="779294" y="227323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pastille 3"/>
          <p:cNvSpPr/>
          <p:nvPr/>
        </p:nvSpPr>
        <p:spPr>
          <a:xfrm>
            <a:off x="4766591" y="1438591"/>
            <a:ext cx="347472" cy="347472"/>
          </a:xfrm>
          <a:prstGeom prst="ellipse">
            <a:avLst/>
          </a:prstGeom>
          <a:solidFill>
            <a:schemeClr val="accent6"/>
          </a:solidFill>
          <a:ln/>
        </p:spPr>
      </p:sp>
      <p:sp>
        <p:nvSpPr>
          <p:cNvPr id="11" name="numero 3"/>
          <p:cNvSpPr txBox="1"/>
          <p:nvPr/>
        </p:nvSpPr>
        <p:spPr>
          <a:xfrm>
            <a:off x="4766591" y="1438591"/>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pastille 4"/>
          <p:cNvSpPr/>
          <p:nvPr/>
        </p:nvSpPr>
        <p:spPr>
          <a:xfrm>
            <a:off x="3746008" y="4591242"/>
            <a:ext cx="347472" cy="347472"/>
          </a:xfrm>
          <a:prstGeom prst="ellipse">
            <a:avLst/>
          </a:prstGeom>
          <a:solidFill>
            <a:schemeClr val="accent6"/>
          </a:solidFill>
          <a:ln/>
        </p:spPr>
      </p:sp>
      <p:sp>
        <p:nvSpPr>
          <p:cNvPr id="13" name="numero 4"/>
          <p:cNvSpPr txBox="1"/>
          <p:nvPr/>
        </p:nvSpPr>
        <p:spPr>
          <a:xfrm>
            <a:off x="3746008" y="459124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4" name="pastille 5"/>
          <p:cNvSpPr/>
          <p:nvPr/>
        </p:nvSpPr>
        <p:spPr>
          <a:xfrm>
            <a:off x="3746008" y="5677935"/>
            <a:ext cx="347472" cy="347472"/>
          </a:xfrm>
          <a:prstGeom prst="ellipse">
            <a:avLst/>
          </a:prstGeom>
          <a:solidFill>
            <a:schemeClr val="accent6"/>
          </a:solidFill>
          <a:ln/>
        </p:spPr>
      </p:sp>
      <p:sp>
        <p:nvSpPr>
          <p:cNvPr id="15" name="numero 5"/>
          <p:cNvSpPr txBox="1"/>
          <p:nvPr/>
        </p:nvSpPr>
        <p:spPr>
          <a:xfrm>
            <a:off x="3746008" y="5677935"/>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6" name="pastille 1"/>
          <p:cNvSpPr/>
          <p:nvPr/>
        </p:nvSpPr>
        <p:spPr>
          <a:xfrm>
            <a:off x="8458200" y="1554480"/>
            <a:ext cx="347472" cy="347472"/>
          </a:xfrm>
          <a:prstGeom prst="ellipse">
            <a:avLst/>
          </a:prstGeom>
          <a:solidFill>
            <a:schemeClr val="accent6"/>
          </a:solidFill>
          <a:ln/>
        </p:spPr>
      </p:sp>
      <p:sp>
        <p:nvSpPr>
          <p:cNvPr id="17" name="numero 1"/>
          <p:cNvSpPr txBox="1"/>
          <p:nvPr/>
        </p:nvSpPr>
        <p:spPr>
          <a:xfrm>
            <a:off x="8458200" y="155448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8" name="Text 15"/>
          <p:cNvSpPr txBox="1"/>
          <p:nvPr/>
        </p:nvSpPr>
        <p:spPr>
          <a:xfrm>
            <a:off x="8961120" y="1536192"/>
            <a:ext cx="2681935" cy="320040"/>
          </a:xfrm>
          <a:prstGeom prst="rect">
            <a:avLst/>
          </a:prstGeom>
          <a:noFill/>
          <a:ln/>
        </p:spPr>
        <p:txBody>
          <a:bodyPr wrap="square" lIns="0" tIns="0" rIns="0" bIns="0" rtlCol="0" anchor="t"/>
          <a:lstStyle/>
          <a:p>
            <a:pPr indent="0" marL="0">
              <a:buNone/>
            </a:pPr>
            <a:r>
              <a:rPr lang="en-US" sz="1400" b="1" dirty="0">
                <a:solidFill>
                  <a:schemeClr val="tx1"/>
                </a:solidFill>
              </a:rPr>
              <a:t>Statut et score</a:t>
            </a:r>
            <a:endParaRPr lang="en-US" sz="1400" dirty="0"/>
          </a:p>
        </p:txBody>
      </p:sp>
      <p:sp>
        <p:nvSpPr>
          <p:cNvPr id="19" name="Text 16"/>
          <p:cNvSpPr txBox="1"/>
          <p:nvPr/>
        </p:nvSpPr>
        <p:spPr>
          <a:xfrm>
            <a:off x="8961120" y="1847088"/>
            <a:ext cx="2681935" cy="548640"/>
          </a:xfrm>
          <a:prstGeom prst="rect">
            <a:avLst/>
          </a:prstGeom>
          <a:noFill/>
          <a:ln/>
        </p:spPr>
        <p:txBody>
          <a:bodyPr wrap="square" lIns="0" tIns="0" rIns="0" bIns="0" rtlCol="0" anchor="t"/>
          <a:lstStyle/>
          <a:p>
            <a:pPr indent="0" marL="0">
              <a:buNone/>
            </a:pPr>
            <a:r>
              <a:rPr lang="en-US" sz="1200" dirty="0">
                <a:solidFill>
                  <a:schemeClr val="accent5"/>
                </a:solidFill>
              </a:rPr>
              <a:t>Score à comparer au seuil de 0,42, ce n'est pas une probabilité de départ</a:t>
            </a:r>
            <a:endParaRPr lang="en-US" sz="1200" dirty="0"/>
          </a:p>
        </p:txBody>
      </p:sp>
      <p:sp>
        <p:nvSpPr>
          <p:cNvPr id="20" name="pastille 2"/>
          <p:cNvSpPr/>
          <p:nvPr/>
        </p:nvSpPr>
        <p:spPr>
          <a:xfrm>
            <a:off x="8458200" y="2450592"/>
            <a:ext cx="347472" cy="347472"/>
          </a:xfrm>
          <a:prstGeom prst="ellipse">
            <a:avLst/>
          </a:prstGeom>
          <a:solidFill>
            <a:schemeClr val="accent6"/>
          </a:solidFill>
          <a:ln/>
        </p:spPr>
      </p:sp>
      <p:sp>
        <p:nvSpPr>
          <p:cNvPr id="21" name="numero 2"/>
          <p:cNvSpPr txBox="1"/>
          <p:nvPr/>
        </p:nvSpPr>
        <p:spPr>
          <a:xfrm>
            <a:off x="8458200" y="245059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8961120" y="2432304"/>
            <a:ext cx="2681935" cy="320040"/>
          </a:xfrm>
          <a:prstGeom prst="rect">
            <a:avLst/>
          </a:prstGeom>
          <a:noFill/>
          <a:ln/>
        </p:spPr>
        <p:txBody>
          <a:bodyPr wrap="square" lIns="0" tIns="0" rIns="0" bIns="0" rtlCol="0" anchor="t"/>
          <a:lstStyle/>
          <a:p>
            <a:pPr indent="0" marL="0">
              <a:buNone/>
            </a:pPr>
            <a:r>
              <a:rPr lang="en-US" sz="1400" b="1" dirty="0">
                <a:solidFill>
                  <a:schemeClr val="tx1"/>
                </a:solidFill>
              </a:rPr>
              <a:t>Profil en clair</a:t>
            </a:r>
            <a:endParaRPr lang="en-US" sz="1400" dirty="0"/>
          </a:p>
        </p:txBody>
      </p:sp>
      <p:sp>
        <p:nvSpPr>
          <p:cNvPr id="23" name="Text 20"/>
          <p:cNvSpPr txBox="1"/>
          <p:nvPr/>
        </p:nvSpPr>
        <p:spPr>
          <a:xfrm>
            <a:off x="8961120" y="2743200"/>
            <a:ext cx="2681935" cy="548640"/>
          </a:xfrm>
          <a:prstGeom prst="rect">
            <a:avLst/>
          </a:prstGeom>
          <a:noFill/>
          <a:ln/>
        </p:spPr>
        <p:txBody>
          <a:bodyPr wrap="square" lIns="0" tIns="0" rIns="0" bIns="0" rtlCol="0" anchor="t"/>
          <a:lstStyle/>
          <a:p>
            <a:pPr indent="0" marL="0">
              <a:buNone/>
            </a:pPr>
            <a:r>
              <a:rPr lang="en-US" sz="1200" dirty="0">
                <a:solidFill>
                  <a:schemeClr val="accent5"/>
                </a:solidFill>
              </a:rPr>
              <a:t>Genre, statut marital et âge ne sont jamais affichés</a:t>
            </a:r>
            <a:endParaRPr lang="en-US" sz="1200" dirty="0"/>
          </a:p>
        </p:txBody>
      </p:sp>
      <p:sp>
        <p:nvSpPr>
          <p:cNvPr id="24" name="pastille 3"/>
          <p:cNvSpPr/>
          <p:nvPr/>
        </p:nvSpPr>
        <p:spPr>
          <a:xfrm>
            <a:off x="8458200" y="3346704"/>
            <a:ext cx="347472" cy="347472"/>
          </a:xfrm>
          <a:prstGeom prst="ellipse">
            <a:avLst/>
          </a:prstGeom>
          <a:solidFill>
            <a:schemeClr val="accent6"/>
          </a:solidFill>
          <a:ln/>
        </p:spPr>
      </p:sp>
      <p:sp>
        <p:nvSpPr>
          <p:cNvPr id="25" name="numero 3"/>
          <p:cNvSpPr txBox="1"/>
          <p:nvPr/>
        </p:nvSpPr>
        <p:spPr>
          <a:xfrm>
            <a:off x="8458200" y="334670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6" name="Text 23"/>
          <p:cNvSpPr txBox="1"/>
          <p:nvPr/>
        </p:nvSpPr>
        <p:spPr>
          <a:xfrm>
            <a:off x="8961120" y="3328416"/>
            <a:ext cx="2681935" cy="320040"/>
          </a:xfrm>
          <a:prstGeom prst="rect">
            <a:avLst/>
          </a:prstGeom>
          <a:noFill/>
          <a:ln/>
        </p:spPr>
        <p:txBody>
          <a:bodyPr wrap="square" lIns="0" tIns="0" rIns="0" bIns="0" rtlCol="0" anchor="t"/>
          <a:lstStyle/>
          <a:p>
            <a:pPr indent="0" marL="0">
              <a:buNone/>
            </a:pPr>
            <a:r>
              <a:rPr lang="en-US" sz="1400" b="1" dirty="0">
                <a:solidFill>
                  <a:schemeClr val="tx1"/>
                </a:solidFill>
              </a:rPr>
              <a:t>10 facteurs qui pèsent</a:t>
            </a:r>
            <a:endParaRPr lang="en-US" sz="1400" dirty="0"/>
          </a:p>
        </p:txBody>
      </p:sp>
      <p:sp>
        <p:nvSpPr>
          <p:cNvPr id="27" name="Text 24"/>
          <p:cNvSpPr txBox="1"/>
          <p:nvPr/>
        </p:nvSpPr>
        <p:spPr>
          <a:xfrm>
            <a:off x="8961120" y="3639312"/>
            <a:ext cx="2681935" cy="548640"/>
          </a:xfrm>
          <a:prstGeom prst="rect">
            <a:avLst/>
          </a:prstGeom>
          <a:noFill/>
          <a:ln/>
        </p:spPr>
        <p:txBody>
          <a:bodyPr wrap="square" lIns="0" tIns="0" rIns="0" bIns="0" rtlCol="0" anchor="t"/>
          <a:lstStyle/>
          <a:p>
            <a:pPr indent="0" marL="0">
              <a:buNone/>
            </a:pPr>
            <a:r>
              <a:rPr lang="en-US" sz="1200" dirty="0">
                <a:solidFill>
                  <a:schemeClr val="accent5"/>
                </a:solidFill>
              </a:rPr>
              <a:t>À droite : pousse vers le départ. Vert : levier RH, rouge : profil</a:t>
            </a:r>
            <a:endParaRPr lang="en-US" sz="1200" dirty="0"/>
          </a:p>
        </p:txBody>
      </p:sp>
      <p:sp>
        <p:nvSpPr>
          <p:cNvPr id="28" name="pastille 4"/>
          <p:cNvSpPr/>
          <p:nvPr/>
        </p:nvSpPr>
        <p:spPr>
          <a:xfrm>
            <a:off x="8458200" y="4242816"/>
            <a:ext cx="347472" cy="347472"/>
          </a:xfrm>
          <a:prstGeom prst="ellipse">
            <a:avLst/>
          </a:prstGeom>
          <a:solidFill>
            <a:schemeClr val="accent6"/>
          </a:solidFill>
          <a:ln/>
        </p:spPr>
      </p:sp>
      <p:sp>
        <p:nvSpPr>
          <p:cNvPr id="29" name="numero 4"/>
          <p:cNvSpPr txBox="1"/>
          <p:nvPr/>
        </p:nvSpPr>
        <p:spPr>
          <a:xfrm>
            <a:off x="8458200" y="424281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0" name="Text 27"/>
          <p:cNvSpPr txBox="1"/>
          <p:nvPr/>
        </p:nvSpPr>
        <p:spPr>
          <a:xfrm>
            <a:off x="8961120" y="4224528"/>
            <a:ext cx="2681935" cy="320040"/>
          </a:xfrm>
          <a:prstGeom prst="rect">
            <a:avLst/>
          </a:prstGeom>
          <a:noFill/>
          <a:ln/>
        </p:spPr>
        <p:txBody>
          <a:bodyPr wrap="square" lIns="0" tIns="0" rIns="0" bIns="0" rtlCol="0" anchor="t"/>
          <a:lstStyle/>
          <a:p>
            <a:pPr indent="0" marL="0">
              <a:buNone/>
            </a:pPr>
            <a:r>
              <a:rPr lang="en-US" sz="1400" b="1" dirty="0">
                <a:solidFill>
                  <a:schemeClr val="tx1"/>
                </a:solidFill>
              </a:rPr>
              <a:t>Leviers d'entretien</a:t>
            </a:r>
            <a:endParaRPr lang="en-US" sz="1400" dirty="0"/>
          </a:p>
        </p:txBody>
      </p:sp>
      <p:sp>
        <p:nvSpPr>
          <p:cNvPr id="31" name="Text 28"/>
          <p:cNvSpPr txBox="1"/>
          <p:nvPr/>
        </p:nvSpPr>
        <p:spPr>
          <a:xfrm>
            <a:off x="8961120" y="4535424"/>
            <a:ext cx="2681935" cy="548640"/>
          </a:xfrm>
          <a:prstGeom prst="rect">
            <a:avLst/>
          </a:prstGeom>
          <a:noFill/>
          <a:ln/>
        </p:spPr>
        <p:txBody>
          <a:bodyPr wrap="square" lIns="0" tIns="0" rIns="0" bIns="0" rtlCol="0" anchor="t"/>
          <a:lstStyle/>
          <a:p>
            <a:pPr indent="0" marL="0">
              <a:buNone/>
            </a:pPr>
            <a:r>
              <a:rPr lang="en-US" sz="1200" dirty="0">
                <a:solidFill>
                  <a:schemeClr val="accent5"/>
                </a:solidFill>
              </a:rPr>
              <a:t>Facteurs actionnables qui poussent vers le départ, par poids</a:t>
            </a:r>
            <a:endParaRPr lang="en-US" sz="1200" dirty="0"/>
          </a:p>
        </p:txBody>
      </p:sp>
      <p:sp>
        <p:nvSpPr>
          <p:cNvPr id="32" name="pastille 5"/>
          <p:cNvSpPr/>
          <p:nvPr/>
        </p:nvSpPr>
        <p:spPr>
          <a:xfrm>
            <a:off x="8458200" y="5138928"/>
            <a:ext cx="347472" cy="347472"/>
          </a:xfrm>
          <a:prstGeom prst="ellipse">
            <a:avLst/>
          </a:prstGeom>
          <a:solidFill>
            <a:schemeClr val="accent6"/>
          </a:solidFill>
          <a:ln/>
        </p:spPr>
      </p:sp>
      <p:sp>
        <p:nvSpPr>
          <p:cNvPr id="33" name="numero 5"/>
          <p:cNvSpPr txBox="1"/>
          <p:nvPr/>
        </p:nvSpPr>
        <p:spPr>
          <a:xfrm>
            <a:off x="8458200" y="51389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Text 31"/>
          <p:cNvSpPr txBox="1"/>
          <p:nvPr/>
        </p:nvSpPr>
        <p:spPr>
          <a:xfrm>
            <a:off x="8961120" y="5120640"/>
            <a:ext cx="2681935" cy="320040"/>
          </a:xfrm>
          <a:prstGeom prst="rect">
            <a:avLst/>
          </a:prstGeom>
          <a:noFill/>
          <a:ln/>
        </p:spPr>
        <p:txBody>
          <a:bodyPr wrap="square" lIns="0" tIns="0" rIns="0" bIns="0" rtlCol="0" anchor="t"/>
          <a:lstStyle/>
          <a:p>
            <a:pPr indent="0" marL="0">
              <a:buNone/>
            </a:pPr>
            <a:r>
              <a:rPr lang="en-US" sz="1400" b="1" dirty="0">
                <a:solidFill>
                  <a:schemeClr val="tx1"/>
                </a:solidFill>
              </a:rPr>
              <a:t>Garde-fous</a:t>
            </a:r>
            <a:endParaRPr lang="en-US" sz="1400" dirty="0"/>
          </a:p>
        </p:txBody>
      </p:sp>
      <p:sp>
        <p:nvSpPr>
          <p:cNvPr id="35" name="Text 32"/>
          <p:cNvSpPr txBox="1"/>
          <p:nvPr/>
        </p:nvSpPr>
        <p:spPr>
          <a:xfrm>
            <a:off x="8961120" y="5431536"/>
            <a:ext cx="2681935" cy="548640"/>
          </a:xfrm>
          <a:prstGeom prst="rect">
            <a:avLst/>
          </a:prstGeom>
          <a:noFill/>
          <a:ln/>
        </p:spPr>
        <p:txBody>
          <a:bodyPr wrap="square" lIns="0" tIns="0" rIns="0" bIns="0" rtlCol="0" anchor="t"/>
          <a:lstStyle/>
          <a:p>
            <a:pPr indent="0" marL="0">
              <a:buNone/>
            </a:pPr>
            <a:r>
              <a:rPr lang="en-US" sz="1200" dirty="0">
                <a:solidFill>
                  <a:schemeClr val="accent5"/>
                </a:solidFill>
              </a:rPr>
              <a:t>Aide à la discussion : aucune décision sur ce seul score</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CONCLUSION</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Limites et perspectives</a:t>
            </a:r>
            <a:endParaRPr lang="en-US" sz="3400" dirty="0"/>
          </a:p>
        </p:txBody>
      </p:sp>
      <p:sp>
        <p:nvSpPr>
          <p:cNvPr id="4" name="colonne Limites"/>
          <p:cNvSpPr/>
          <p:nvPr/>
        </p:nvSpPr>
        <p:spPr>
          <a:xfrm>
            <a:off x="548640" y="1600200"/>
            <a:ext cx="5410048" cy="4572000"/>
          </a:xfrm>
          <a:prstGeom prst="roundRect">
            <a:avLst>
              <a:gd name="adj" fmla="val 1600"/>
            </a:avLst>
          </a:prstGeom>
          <a:solidFill>
            <a:schemeClr val="bg2"/>
          </a:solidFill>
          <a:ln/>
        </p:spPr>
      </p:sp>
      <p:sp>
        <p:nvSpPr>
          <p:cNvPr id="5" name="disque LuTriangleAlert"/>
          <p:cNvSpPr/>
          <p:nvPr/>
        </p:nvSpPr>
        <p:spPr>
          <a:xfrm>
            <a:off x="822960" y="1828800"/>
            <a:ext cx="548640" cy="548640"/>
          </a:xfrm>
          <a:prstGeom prst="ellipse">
            <a:avLst/>
          </a:prstGeom>
          <a:solidFill>
            <a:schemeClr val="accent6"/>
          </a:solidFill>
          <a:ln/>
        </p:spPr>
      </p:sp>
      <p:pic>
        <p:nvPicPr>
          <p:cNvPr id="6" name="icone LuTriangleAlert" descr="preencoded.png">    </p:cNvPr>
          <p:cNvPicPr>
            <a:picLocks noChangeAspect="1"/>
          </p:cNvPicPr>
          <p:nvPr/>
        </p:nvPicPr>
        <p:blipFill>
          <a:blip r:embed="rId1"/>
          <a:stretch>
            <a:fillRect/>
          </a:stretch>
        </p:blipFill>
        <p:spPr>
          <a:xfrm>
            <a:off x="954634" y="1960474"/>
            <a:ext cx="285293" cy="285293"/>
          </a:xfrm>
          <a:prstGeom prst="rect">
            <a:avLst/>
          </a:prstGeom>
        </p:spPr>
      </p:pic>
      <p:sp>
        <p:nvSpPr>
          <p:cNvPr id="7" name="Text 4"/>
          <p:cNvSpPr txBox="1"/>
          <p:nvPr/>
        </p:nvSpPr>
        <p:spPr>
          <a:xfrm>
            <a:off x="1554480" y="1901952"/>
            <a:ext cx="4129888" cy="411480"/>
          </a:xfrm>
          <a:prstGeom prst="rect">
            <a:avLst/>
          </a:prstGeom>
          <a:noFill/>
          <a:ln/>
        </p:spPr>
        <p:txBody>
          <a:bodyPr wrap="square" lIns="0" tIns="0" rIns="0" bIns="0" rtlCol="0" anchor="t"/>
          <a:lstStyle/>
          <a:p>
            <a:pPr indent="0" marL="0">
              <a:buNone/>
            </a:pPr>
            <a:r>
              <a:rPr lang="en-US" sz="2000" b="1" dirty="0">
                <a:solidFill>
                  <a:schemeClr val="tx1"/>
                </a:solidFill>
              </a:rPr>
              <a:t>Limites</a:t>
            </a:r>
            <a:endParaRPr lang="en-US" sz="2000" dirty="0"/>
          </a:p>
        </p:txBody>
      </p:sp>
      <p:sp>
        <p:nvSpPr>
          <p:cNvPr id="8" name="Text 5"/>
          <p:cNvSpPr txBox="1"/>
          <p:nvPr/>
        </p:nvSpPr>
        <p:spPr>
          <a:xfrm>
            <a:off x="822960" y="2651760"/>
            <a:ext cx="4861408" cy="338328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rPr>
              <a:t>Association, pas causalité : les leviers restent des pistes à tester</a:t>
            </a:r>
            <a:endParaRPr lang="en-US" sz="1600" dirty="0"/>
          </a:p>
          <a:p>
            <a:pPr marL="342900" indent="-342900">
              <a:spcAft>
                <a:spcPts val="1600"/>
              </a:spcAft>
              <a:buSzPct val="100000"/>
              <a:buChar char="•"/>
            </a:pPr>
            <a:r>
              <a:rPr lang="en-US" sz="1600" dirty="0">
                <a:solidFill>
                  <a:schemeClr val="tx1"/>
                </a:solidFill>
              </a:rPr>
              <a:t>Peu de départs : 190 pour apprendre, 47 pour mesurer</a:t>
            </a:r>
            <a:endParaRPr lang="en-US" sz="1600" dirty="0"/>
          </a:p>
          <a:p>
            <a:pPr marL="342900" indent="-342900">
              <a:spcAft>
                <a:spcPts val="1600"/>
              </a:spcAft>
              <a:buSzPct val="100000"/>
              <a:buChar char="•"/>
            </a:pPr>
            <a:r>
              <a:rPr lang="en-US" sz="1600" dirty="0">
                <a:solidFill>
                  <a:schemeClr val="tx1"/>
                </a:solidFill>
              </a:rPr>
              <a:t>Effets linéaires : le seuil des bas salaires est lissé</a:t>
            </a:r>
            <a:endParaRPr lang="en-US" sz="1600" dirty="0"/>
          </a:p>
          <a:p>
            <a:pPr marL="342900" indent="-342900">
              <a:spcAft>
                <a:spcPts val="1600"/>
              </a:spcAft>
              <a:buSzPct val="100000"/>
              <a:buChar char="•"/>
            </a:pPr>
            <a:r>
              <a:rPr lang="en-US" sz="1600" dirty="0">
                <a:solidFill>
                  <a:schemeClr val="tx1"/>
                </a:solidFill>
              </a:rPr>
              <a:t>Une seule campagne de sondage, une photographie</a:t>
            </a:r>
            <a:endParaRPr lang="en-US" sz="1600" dirty="0"/>
          </a:p>
          <a:p>
            <a:pPr marL="342900" indent="-342900">
              <a:spcAft>
                <a:spcPts val="1600"/>
              </a:spcAft>
              <a:buSzPct val="100000"/>
              <a:buChar char="•"/>
            </a:pPr>
            <a:r>
              <a:rPr lang="en-US" sz="1600" dirty="0">
                <a:solidFill>
                  <a:schemeClr val="tx1"/>
                </a:solidFill>
              </a:rPr>
              <a:t>Codage à vérifier : « 0 employeur précédent » chez 197 collaborateurs</a:t>
            </a:r>
            <a:endParaRPr lang="en-US" sz="1600" dirty="0"/>
          </a:p>
        </p:txBody>
      </p:sp>
      <p:sp>
        <p:nvSpPr>
          <p:cNvPr id="9" name="colonne Perspectives"/>
          <p:cNvSpPr/>
          <p:nvPr/>
        </p:nvSpPr>
        <p:spPr>
          <a:xfrm>
            <a:off x="6233008" y="1600200"/>
            <a:ext cx="5410048" cy="4572000"/>
          </a:xfrm>
          <a:prstGeom prst="roundRect">
            <a:avLst>
              <a:gd name="adj" fmla="val 1600"/>
            </a:avLst>
          </a:prstGeom>
          <a:solidFill>
            <a:schemeClr val="bg2"/>
          </a:solidFill>
          <a:ln/>
        </p:spPr>
      </p:sp>
      <p:sp>
        <p:nvSpPr>
          <p:cNvPr id="10" name="disque LuCompass"/>
          <p:cNvSpPr/>
          <p:nvPr/>
        </p:nvSpPr>
        <p:spPr>
          <a:xfrm>
            <a:off x="6507328" y="1828800"/>
            <a:ext cx="548640" cy="548640"/>
          </a:xfrm>
          <a:prstGeom prst="ellipse">
            <a:avLst/>
          </a:prstGeom>
          <a:solidFill>
            <a:schemeClr val="accent3"/>
          </a:solidFill>
          <a:ln/>
        </p:spPr>
      </p:sp>
      <p:pic>
        <p:nvPicPr>
          <p:cNvPr id="11" name="icone LuCompass" descr="preencoded.png">    </p:cNvPr>
          <p:cNvPicPr>
            <a:picLocks noChangeAspect="1"/>
          </p:cNvPicPr>
          <p:nvPr/>
        </p:nvPicPr>
        <p:blipFill>
          <a:blip r:embed="rId2"/>
          <a:stretch>
            <a:fillRect/>
          </a:stretch>
        </p:blipFill>
        <p:spPr>
          <a:xfrm>
            <a:off x="6639001" y="1960474"/>
            <a:ext cx="285293" cy="285293"/>
          </a:xfrm>
          <a:prstGeom prst="rect">
            <a:avLst/>
          </a:prstGeom>
        </p:spPr>
      </p:pic>
      <p:sp>
        <p:nvSpPr>
          <p:cNvPr id="12" name="Text 8"/>
          <p:cNvSpPr txBox="1"/>
          <p:nvPr/>
        </p:nvSpPr>
        <p:spPr>
          <a:xfrm>
            <a:off x="7238848" y="1901952"/>
            <a:ext cx="4129888" cy="411480"/>
          </a:xfrm>
          <a:prstGeom prst="rect">
            <a:avLst/>
          </a:prstGeom>
          <a:noFill/>
          <a:ln/>
        </p:spPr>
        <p:txBody>
          <a:bodyPr wrap="square" lIns="0" tIns="0" rIns="0" bIns="0" rtlCol="0" anchor="t"/>
          <a:lstStyle/>
          <a:p>
            <a:pPr indent="0" marL="0">
              <a:buNone/>
            </a:pPr>
            <a:r>
              <a:rPr lang="en-US" sz="2000" b="1" dirty="0">
                <a:solidFill>
                  <a:schemeClr val="tx1"/>
                </a:solidFill>
              </a:rPr>
              <a:t>Perspectives</a:t>
            </a:r>
            <a:endParaRPr lang="en-US" sz="2000" dirty="0"/>
          </a:p>
        </p:txBody>
      </p:sp>
      <p:sp>
        <p:nvSpPr>
          <p:cNvPr id="13" name="Text 9"/>
          <p:cNvSpPr txBox="1"/>
          <p:nvPr/>
        </p:nvSpPr>
        <p:spPr>
          <a:xfrm>
            <a:off x="6507328" y="2651760"/>
            <a:ext cx="4861408" cy="338328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rPr>
              <a:t>Mesurer un modèle sans genre ni statut marital, le déployer s'il tient</a:t>
            </a:r>
            <a:endParaRPr lang="en-US" sz="1600" dirty="0"/>
          </a:p>
          <a:p>
            <a:pPr marL="342900" indent="-342900">
              <a:spcAft>
                <a:spcPts val="1600"/>
              </a:spcAft>
              <a:buSzPct val="100000"/>
              <a:buChar char="•"/>
            </a:pPr>
            <a:r>
              <a:rPr lang="en-US" sz="1600" dirty="0">
                <a:solidFill>
                  <a:schemeClr val="tx1"/>
                </a:solidFill>
              </a:rPr>
              <a:t>Ajouter les campagnes suivantes, réentraîner chaque année</a:t>
            </a:r>
            <a:endParaRPr lang="en-US" sz="1600" dirty="0"/>
          </a:p>
          <a:p>
            <a:pPr marL="342900" indent="-342900">
              <a:spcAft>
                <a:spcPts val="1600"/>
              </a:spcAft>
              <a:buSzPct val="100000"/>
              <a:buChar char="•"/>
            </a:pPr>
            <a:r>
              <a:rPr lang="en-US" sz="1600" dirty="0">
                <a:solidFill>
                  <a:schemeClr val="tx1"/>
                </a:solidFill>
              </a:rPr>
              <a:t>Piloter le seuil avec les RH selon la capacité d'entretiens</a:t>
            </a:r>
            <a:endParaRPr lang="en-US" sz="1600" dirty="0"/>
          </a:p>
          <a:p>
            <a:pPr marL="342900" indent="-342900">
              <a:spcAft>
                <a:spcPts val="1600"/>
              </a:spcAft>
              <a:buSzPct val="100000"/>
              <a:buChar char="•"/>
            </a:pPr>
            <a:r>
              <a:rPr lang="en-US" sz="1600" dirty="0">
                <a:solidFill>
                  <a:schemeClr val="tx1"/>
                </a:solidFill>
              </a:rPr>
              <a:t>Tester les leviers sur une population pilote</a:t>
            </a:r>
            <a:endParaRPr lang="en-US" sz="1600" dirty="0"/>
          </a:p>
          <a:p>
            <a:pPr marL="342900" indent="-342900">
              <a:spcAft>
                <a:spcPts val="1600"/>
              </a:spcAft>
              <a:buSzPct val="100000"/>
              <a:buChar char="•"/>
            </a:pPr>
            <a:r>
              <a:rPr lang="en-US" sz="1600" dirty="0">
                <a:solidFill>
                  <a:schemeClr val="tx1"/>
                </a:solidFill>
              </a:rPr>
              <a:t>Déclencher les alertes sur événement SIRH : embauche, changement de responsable</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LIVRABLES ET REPRODUCTIBILITÉ</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Un projet reproductible de bout en bout</a:t>
            </a:r>
            <a:endParaRPr lang="en-US" sz="3400" dirty="0"/>
          </a:p>
        </p:txBody>
      </p:sp>
      <p:sp>
        <p:nvSpPr>
          <p:cNvPr id="4" name="etape data/raw"/>
          <p:cNvSpPr/>
          <p:nvPr/>
        </p:nvSpPr>
        <p:spPr>
          <a:xfrm>
            <a:off x="548640" y="1600200"/>
            <a:ext cx="1965960" cy="868680"/>
          </a:xfrm>
          <a:prstGeom prst="roundRect">
            <a:avLst>
              <a:gd name="adj" fmla="val 8421"/>
            </a:avLst>
          </a:prstGeom>
          <a:solidFill>
            <a:schemeClr val="accent5"/>
          </a:solidFill>
          <a:ln/>
        </p:spPr>
      </p:sp>
      <p:sp>
        <p:nvSpPr>
          <p:cNvPr id="5" name="Text 3"/>
          <p:cNvSpPr txBox="1"/>
          <p:nvPr/>
        </p:nvSpPr>
        <p:spPr>
          <a:xfrm>
            <a:off x="685800" y="1709928"/>
            <a:ext cx="1691640" cy="685800"/>
          </a:xfrm>
          <a:prstGeom prst="rect">
            <a:avLst/>
          </a:prstGeom>
          <a:noFill/>
          <a:ln/>
        </p:spPr>
        <p:txBody>
          <a:bodyPr wrap="square" lIns="0" tIns="0" rIns="0" bIns="0" rtlCol="0" anchor="t"/>
          <a:lstStyle/>
          <a:p>
            <a:pPr indent="0" marL="0">
              <a:buNone/>
            </a:pPr>
            <a:r>
              <a:rPr lang="en-US" sz="1500" b="1" dirty="0">
                <a:solidFill>
                  <a:schemeClr val="bg1"/>
                </a:solidFill>
              </a:rPr>
              <a:t>data/raw</a:t>
            </a:r>
            <a:endParaRPr lang="en-US" sz="1500" dirty="0"/>
          </a:p>
          <a:p>
            <a:pPr indent="0" marL="0">
              <a:buNone/>
            </a:pPr>
            <a:r>
              <a:rPr lang="en-US" sz="1200" dirty="0">
                <a:solidFill>
                  <a:schemeClr val="bg1"/>
                </a:solidFill>
              </a:rPr>
              <a:t>3 extraits CSV</a:t>
            </a:r>
            <a:endParaRPr lang="en-US" sz="1500" dirty="0"/>
          </a:p>
        </p:txBody>
      </p:sp>
      <p:sp>
        <p:nvSpPr>
          <p:cNvPr id="6" name="fichiers data/raw"/>
          <p:cNvSpPr/>
          <p:nvPr/>
        </p:nvSpPr>
        <p:spPr>
          <a:xfrm>
            <a:off x="548640" y="2606040"/>
            <a:ext cx="1965960" cy="1097280"/>
          </a:xfrm>
          <a:prstGeom prst="roundRect">
            <a:avLst>
              <a:gd name="adj" fmla="val 6667"/>
            </a:avLst>
          </a:prstGeom>
          <a:solidFill>
            <a:schemeClr val="bg2"/>
          </a:solidFill>
          <a:ln/>
        </p:spPr>
      </p:sp>
      <p:sp>
        <p:nvSpPr>
          <p:cNvPr id="7" name="Text 5"/>
          <p:cNvSpPr txBox="1"/>
          <p:nvPr/>
        </p:nvSpPr>
        <p:spPr>
          <a:xfrm>
            <a:off x="685800" y="2715768"/>
            <a:ext cx="1691640" cy="91440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extrait_sirh.csv</a:t>
            </a:r>
            <a:endParaRPr lang="en-US" sz="1200" dirty="0"/>
          </a:p>
          <a:p>
            <a:pPr indent="0" marL="0">
              <a:spcAft>
                <a:spcPts val="300"/>
              </a:spcAft>
              <a:buNone/>
            </a:pPr>
            <a:r>
              <a:rPr lang="en-US" sz="1200" dirty="0">
                <a:solidFill>
                  <a:schemeClr val="tx1"/>
                </a:solidFill>
              </a:rPr>
              <a:t>extrait_eval.csv</a:t>
            </a:r>
            <a:endParaRPr lang="en-US" sz="1200" dirty="0"/>
          </a:p>
          <a:p>
            <a:pPr indent="0" marL="0">
              <a:spcAft>
                <a:spcPts val="300"/>
              </a:spcAft>
              <a:buNone/>
            </a:pPr>
            <a:r>
              <a:rPr lang="en-US" sz="1200" dirty="0">
                <a:solidFill>
                  <a:schemeClr val="tx1"/>
                </a:solidFill>
              </a:rPr>
              <a:t>extrait_sondage.csv</a:t>
            </a:r>
            <a:endParaRPr lang="en-US" sz="1200" dirty="0"/>
          </a:p>
        </p:txBody>
      </p:sp>
      <p:sp>
        <p:nvSpPr>
          <p:cNvPr id="8" name="fleche 1"/>
          <p:cNvSpPr/>
          <p:nvPr/>
        </p:nvSpPr>
        <p:spPr>
          <a:xfrm>
            <a:off x="2551176" y="2034540"/>
            <a:ext cx="243002" cy="0"/>
          </a:xfrm>
          <a:prstGeom prst="line">
            <a:avLst/>
          </a:prstGeom>
          <a:noFill/>
          <a:ln w="19050">
            <a:solidFill>
              <a:schemeClr val="accent5"/>
            </a:solidFill>
            <a:prstDash val="solid"/>
            <a:tailEnd type="triangle"/>
          </a:ln>
        </p:spPr>
      </p:sp>
      <p:sp>
        <p:nvSpPr>
          <p:cNvPr id="9" name="etape Notebook 01"/>
          <p:cNvSpPr/>
          <p:nvPr/>
        </p:nvSpPr>
        <p:spPr>
          <a:xfrm>
            <a:off x="2830754" y="1600200"/>
            <a:ext cx="1965960" cy="868680"/>
          </a:xfrm>
          <a:prstGeom prst="roundRect">
            <a:avLst>
              <a:gd name="adj" fmla="val 8421"/>
            </a:avLst>
          </a:prstGeom>
          <a:solidFill>
            <a:schemeClr val="tx1"/>
          </a:solidFill>
          <a:ln/>
        </p:spPr>
      </p:sp>
      <p:sp>
        <p:nvSpPr>
          <p:cNvPr id="10" name="Text 8"/>
          <p:cNvSpPr txBox="1"/>
          <p:nvPr/>
        </p:nvSpPr>
        <p:spPr>
          <a:xfrm>
            <a:off x="2967914" y="1709928"/>
            <a:ext cx="1691640" cy="685800"/>
          </a:xfrm>
          <a:prstGeom prst="rect">
            <a:avLst/>
          </a:prstGeom>
          <a:noFill/>
          <a:ln/>
        </p:spPr>
        <p:txBody>
          <a:bodyPr wrap="square" lIns="0" tIns="0" rIns="0" bIns="0" rtlCol="0" anchor="t"/>
          <a:lstStyle/>
          <a:p>
            <a:pPr indent="0" marL="0">
              <a:buNone/>
            </a:pPr>
            <a:r>
              <a:rPr lang="en-US" sz="1500" b="1" dirty="0">
                <a:solidFill>
                  <a:schemeClr val="bg1"/>
                </a:solidFill>
              </a:rPr>
              <a:t>Notebook 01</a:t>
            </a:r>
            <a:endParaRPr lang="en-US" sz="1500" dirty="0"/>
          </a:p>
          <a:p>
            <a:pPr indent="0" marL="0">
              <a:buNone/>
            </a:pPr>
            <a:r>
              <a:rPr lang="en-US" sz="1200" dirty="0">
                <a:solidFill>
                  <a:schemeClr val="bg1"/>
                </a:solidFill>
              </a:rPr>
              <a:t>Exploration et features</a:t>
            </a:r>
            <a:endParaRPr lang="en-US" sz="1500" dirty="0"/>
          </a:p>
        </p:txBody>
      </p:sp>
      <p:sp>
        <p:nvSpPr>
          <p:cNvPr id="11" name="fichiers Notebook 01"/>
          <p:cNvSpPr/>
          <p:nvPr/>
        </p:nvSpPr>
        <p:spPr>
          <a:xfrm>
            <a:off x="2830754" y="2606040"/>
            <a:ext cx="1965960" cy="1097280"/>
          </a:xfrm>
          <a:prstGeom prst="roundRect">
            <a:avLst>
              <a:gd name="adj" fmla="val 6667"/>
            </a:avLst>
          </a:prstGeom>
          <a:solidFill>
            <a:schemeClr val="bg2"/>
          </a:solidFill>
          <a:ln/>
        </p:spPr>
      </p:sp>
      <p:sp>
        <p:nvSpPr>
          <p:cNvPr id="12" name="Text 10"/>
          <p:cNvSpPr txBox="1"/>
          <p:nvPr/>
        </p:nvSpPr>
        <p:spPr>
          <a:xfrm>
            <a:off x="2967914" y="2715768"/>
            <a:ext cx="1691640" cy="91440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consolide.parquet</a:t>
            </a:r>
            <a:endParaRPr lang="en-US" sz="1200" dirty="0"/>
          </a:p>
          <a:p>
            <a:pPr indent="0" marL="0">
              <a:spcAft>
                <a:spcPts val="300"/>
              </a:spcAft>
              <a:buNone/>
            </a:pPr>
            <a:r>
              <a:rPr lang="en-US" sz="1200" dirty="0">
                <a:solidFill>
                  <a:schemeClr val="tx1"/>
                </a:solidFill>
              </a:rPr>
              <a:t>X.parquet</a:t>
            </a:r>
            <a:endParaRPr lang="en-US" sz="1200" dirty="0"/>
          </a:p>
          <a:p>
            <a:pPr indent="0" marL="0">
              <a:spcAft>
                <a:spcPts val="300"/>
              </a:spcAft>
              <a:buNone/>
            </a:pPr>
            <a:r>
              <a:rPr lang="en-US" sz="1200" dirty="0">
                <a:solidFill>
                  <a:schemeClr val="tx1"/>
                </a:solidFill>
              </a:rPr>
              <a:t>y.parquet</a:t>
            </a:r>
            <a:endParaRPr lang="en-US" sz="1200" dirty="0"/>
          </a:p>
        </p:txBody>
      </p:sp>
      <p:sp>
        <p:nvSpPr>
          <p:cNvPr id="13" name="fleche 2"/>
          <p:cNvSpPr/>
          <p:nvPr/>
        </p:nvSpPr>
        <p:spPr>
          <a:xfrm>
            <a:off x="4833290" y="2034540"/>
            <a:ext cx="243002" cy="0"/>
          </a:xfrm>
          <a:prstGeom prst="line">
            <a:avLst/>
          </a:prstGeom>
          <a:noFill/>
          <a:ln w="19050">
            <a:solidFill>
              <a:schemeClr val="accent5"/>
            </a:solidFill>
            <a:prstDash val="solid"/>
            <a:tailEnd type="triangle"/>
          </a:ln>
        </p:spPr>
      </p:sp>
      <p:sp>
        <p:nvSpPr>
          <p:cNvPr id="14" name="etape Notebook 02"/>
          <p:cNvSpPr/>
          <p:nvPr/>
        </p:nvSpPr>
        <p:spPr>
          <a:xfrm>
            <a:off x="5112868" y="1600200"/>
            <a:ext cx="1965960" cy="868680"/>
          </a:xfrm>
          <a:prstGeom prst="roundRect">
            <a:avLst>
              <a:gd name="adj" fmla="val 8421"/>
            </a:avLst>
          </a:prstGeom>
          <a:solidFill>
            <a:schemeClr val="tx1"/>
          </a:solidFill>
          <a:ln/>
        </p:spPr>
      </p:sp>
      <p:sp>
        <p:nvSpPr>
          <p:cNvPr id="15" name="Text 13"/>
          <p:cNvSpPr txBox="1"/>
          <p:nvPr/>
        </p:nvSpPr>
        <p:spPr>
          <a:xfrm>
            <a:off x="5250028" y="1709928"/>
            <a:ext cx="1691640" cy="685800"/>
          </a:xfrm>
          <a:prstGeom prst="rect">
            <a:avLst/>
          </a:prstGeom>
          <a:noFill/>
          <a:ln/>
        </p:spPr>
        <p:txBody>
          <a:bodyPr wrap="square" lIns="0" tIns="0" rIns="0" bIns="0" rtlCol="0" anchor="t"/>
          <a:lstStyle/>
          <a:p>
            <a:pPr indent="0" marL="0">
              <a:buNone/>
            </a:pPr>
            <a:r>
              <a:rPr lang="en-US" sz="1500" b="1" dirty="0">
                <a:solidFill>
                  <a:schemeClr val="bg1"/>
                </a:solidFill>
              </a:rPr>
              <a:t>Notebook 02</a:t>
            </a:r>
            <a:endParaRPr lang="en-US" sz="1500" dirty="0"/>
          </a:p>
          <a:p>
            <a:pPr indent="0" marL="0">
              <a:buNone/>
            </a:pPr>
            <a:r>
              <a:rPr lang="en-US" sz="1200" dirty="0">
                <a:solidFill>
                  <a:schemeClr val="bg1"/>
                </a:solidFill>
              </a:rPr>
              <a:t>Modélisation</a:t>
            </a:r>
            <a:endParaRPr lang="en-US" sz="1500" dirty="0"/>
          </a:p>
        </p:txBody>
      </p:sp>
      <p:sp>
        <p:nvSpPr>
          <p:cNvPr id="16" name="fichiers Notebook 02"/>
          <p:cNvSpPr/>
          <p:nvPr/>
        </p:nvSpPr>
        <p:spPr>
          <a:xfrm>
            <a:off x="5112868" y="2606040"/>
            <a:ext cx="1965960" cy="1097280"/>
          </a:xfrm>
          <a:prstGeom prst="roundRect">
            <a:avLst>
              <a:gd name="adj" fmla="val 6667"/>
            </a:avLst>
          </a:prstGeom>
          <a:solidFill>
            <a:schemeClr val="bg2"/>
          </a:solidFill>
          <a:ln/>
        </p:spPr>
      </p:sp>
      <p:sp>
        <p:nvSpPr>
          <p:cNvPr id="17" name="Text 15"/>
          <p:cNvSpPr txBox="1"/>
          <p:nvPr/>
        </p:nvSpPr>
        <p:spPr>
          <a:xfrm>
            <a:off x="5250028" y="2715768"/>
            <a:ext cx="1691640" cy="91440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modele_final.joblib</a:t>
            </a:r>
            <a:endParaRPr lang="en-US" sz="1200" dirty="0"/>
          </a:p>
          <a:p>
            <a:pPr indent="0" marL="0">
              <a:spcAft>
                <a:spcPts val="300"/>
              </a:spcAft>
              <a:buNone/>
            </a:pPr>
            <a:r>
              <a:rPr lang="en-US" sz="1200" dirty="0">
                <a:solidFill>
                  <a:schemeClr val="tx1"/>
                </a:solidFill>
              </a:rPr>
              <a:t>metadonnees_modele.json</a:t>
            </a:r>
            <a:endParaRPr lang="en-US" sz="1200" dirty="0"/>
          </a:p>
          <a:p>
            <a:pPr indent="0" marL="0">
              <a:spcAft>
                <a:spcPts val="300"/>
              </a:spcAft>
              <a:buNone/>
            </a:pPr>
            <a:r>
              <a:rPr lang="en-US" sz="1200" dirty="0">
                <a:solidFill>
                  <a:schemeClr val="tx1"/>
                </a:solidFill>
              </a:rPr>
              <a:t>split_indices.json</a:t>
            </a:r>
            <a:endParaRPr lang="en-US" sz="1200" dirty="0"/>
          </a:p>
        </p:txBody>
      </p:sp>
      <p:sp>
        <p:nvSpPr>
          <p:cNvPr id="18" name="fleche 3"/>
          <p:cNvSpPr/>
          <p:nvPr/>
        </p:nvSpPr>
        <p:spPr>
          <a:xfrm>
            <a:off x="7115404" y="2034540"/>
            <a:ext cx="243002" cy="0"/>
          </a:xfrm>
          <a:prstGeom prst="line">
            <a:avLst/>
          </a:prstGeom>
          <a:noFill/>
          <a:ln w="19050">
            <a:solidFill>
              <a:schemeClr val="accent5"/>
            </a:solidFill>
            <a:prstDash val="solid"/>
            <a:tailEnd type="triangle"/>
          </a:ln>
        </p:spPr>
      </p:sp>
      <p:sp>
        <p:nvSpPr>
          <p:cNvPr id="19" name="etape Notebook 03"/>
          <p:cNvSpPr/>
          <p:nvPr/>
        </p:nvSpPr>
        <p:spPr>
          <a:xfrm>
            <a:off x="7394981" y="1600200"/>
            <a:ext cx="1965960" cy="868680"/>
          </a:xfrm>
          <a:prstGeom prst="roundRect">
            <a:avLst>
              <a:gd name="adj" fmla="val 8421"/>
            </a:avLst>
          </a:prstGeom>
          <a:solidFill>
            <a:schemeClr val="tx1"/>
          </a:solidFill>
          <a:ln/>
        </p:spPr>
      </p:sp>
      <p:sp>
        <p:nvSpPr>
          <p:cNvPr id="20" name="Text 18"/>
          <p:cNvSpPr txBox="1"/>
          <p:nvPr/>
        </p:nvSpPr>
        <p:spPr>
          <a:xfrm>
            <a:off x="7532141" y="1709928"/>
            <a:ext cx="1691640" cy="685800"/>
          </a:xfrm>
          <a:prstGeom prst="rect">
            <a:avLst/>
          </a:prstGeom>
          <a:noFill/>
          <a:ln/>
        </p:spPr>
        <p:txBody>
          <a:bodyPr wrap="square" lIns="0" tIns="0" rIns="0" bIns="0" rtlCol="0" anchor="t"/>
          <a:lstStyle/>
          <a:p>
            <a:pPr indent="0" marL="0">
              <a:buNone/>
            </a:pPr>
            <a:r>
              <a:rPr lang="en-US" sz="1500" b="1" dirty="0">
                <a:solidFill>
                  <a:schemeClr val="bg1"/>
                </a:solidFill>
              </a:rPr>
              <a:t>Notebook 03</a:t>
            </a:r>
            <a:endParaRPr lang="en-US" sz="1500" dirty="0"/>
          </a:p>
          <a:p>
            <a:pPr indent="0" marL="0">
              <a:buNone/>
            </a:pPr>
            <a:r>
              <a:rPr lang="en-US" sz="1200" dirty="0">
                <a:solidFill>
                  <a:schemeClr val="bg1"/>
                </a:solidFill>
              </a:rPr>
              <a:t>Interprétation</a:t>
            </a:r>
            <a:endParaRPr lang="en-US" sz="1500" dirty="0"/>
          </a:p>
        </p:txBody>
      </p:sp>
      <p:sp>
        <p:nvSpPr>
          <p:cNvPr id="21" name="fichiers Notebook 03"/>
          <p:cNvSpPr/>
          <p:nvPr/>
        </p:nvSpPr>
        <p:spPr>
          <a:xfrm>
            <a:off x="7394981" y="2606040"/>
            <a:ext cx="1965960" cy="1097280"/>
          </a:xfrm>
          <a:prstGeom prst="roundRect">
            <a:avLst>
              <a:gd name="adj" fmla="val 6667"/>
            </a:avLst>
          </a:prstGeom>
          <a:solidFill>
            <a:schemeClr val="bg2"/>
          </a:solidFill>
          <a:ln/>
        </p:spPr>
      </p:sp>
      <p:sp>
        <p:nvSpPr>
          <p:cNvPr id="22" name="Text 20"/>
          <p:cNvSpPr txBox="1"/>
          <p:nvPr/>
        </p:nvSpPr>
        <p:spPr>
          <a:xfrm>
            <a:off x="7532141" y="2715768"/>
            <a:ext cx="1691640" cy="91440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facteurs_actions.csv</a:t>
            </a:r>
            <a:endParaRPr lang="en-US" sz="1200" dirty="0"/>
          </a:p>
        </p:txBody>
      </p:sp>
      <p:sp>
        <p:nvSpPr>
          <p:cNvPr id="23" name="fleche 4"/>
          <p:cNvSpPr/>
          <p:nvPr/>
        </p:nvSpPr>
        <p:spPr>
          <a:xfrm>
            <a:off x="9397517" y="2034540"/>
            <a:ext cx="243002" cy="0"/>
          </a:xfrm>
          <a:prstGeom prst="line">
            <a:avLst/>
          </a:prstGeom>
          <a:noFill/>
          <a:ln w="19050">
            <a:solidFill>
              <a:schemeClr val="accent5"/>
            </a:solidFill>
            <a:prstDash val="solid"/>
            <a:tailEnd type="triangle"/>
          </a:ln>
        </p:spPr>
      </p:sp>
      <p:sp>
        <p:nvSpPr>
          <p:cNvPr id="24" name="etape Application"/>
          <p:cNvSpPr/>
          <p:nvPr/>
        </p:nvSpPr>
        <p:spPr>
          <a:xfrm>
            <a:off x="9677095" y="1600200"/>
            <a:ext cx="1965960" cy="868680"/>
          </a:xfrm>
          <a:prstGeom prst="roundRect">
            <a:avLst>
              <a:gd name="adj" fmla="val 8421"/>
            </a:avLst>
          </a:prstGeom>
          <a:solidFill>
            <a:schemeClr val="tx1"/>
          </a:solidFill>
          <a:ln/>
        </p:spPr>
      </p:sp>
      <p:sp>
        <p:nvSpPr>
          <p:cNvPr id="25" name="Text 23"/>
          <p:cNvSpPr txBox="1"/>
          <p:nvPr/>
        </p:nvSpPr>
        <p:spPr>
          <a:xfrm>
            <a:off x="9814255" y="1709928"/>
            <a:ext cx="1691640" cy="685800"/>
          </a:xfrm>
          <a:prstGeom prst="rect">
            <a:avLst/>
          </a:prstGeom>
          <a:noFill/>
          <a:ln/>
        </p:spPr>
        <p:txBody>
          <a:bodyPr wrap="square" lIns="0" tIns="0" rIns="0" bIns="0" rtlCol="0" anchor="t"/>
          <a:lstStyle/>
          <a:p>
            <a:pPr indent="0" marL="0">
              <a:buNone/>
            </a:pPr>
            <a:r>
              <a:rPr lang="en-US" sz="1500" b="1" dirty="0">
                <a:solidFill>
                  <a:schemeClr val="bg1"/>
                </a:solidFill>
              </a:rPr>
              <a:t>Application</a:t>
            </a:r>
            <a:endParaRPr lang="en-US" sz="1500" dirty="0"/>
          </a:p>
          <a:p>
            <a:pPr indent="0" marL="0">
              <a:buNone/>
            </a:pPr>
            <a:r>
              <a:rPr lang="en-US" sz="1200" dirty="0">
                <a:solidFill>
                  <a:schemeClr val="bg1"/>
                </a:solidFill>
              </a:rPr>
              <a:t>src/application_metier.py</a:t>
            </a:r>
            <a:endParaRPr lang="en-US" sz="1500" dirty="0"/>
          </a:p>
        </p:txBody>
      </p:sp>
      <p:sp>
        <p:nvSpPr>
          <p:cNvPr id="26" name="fichiers Application"/>
          <p:cNvSpPr/>
          <p:nvPr/>
        </p:nvSpPr>
        <p:spPr>
          <a:xfrm>
            <a:off x="9677095" y="2606040"/>
            <a:ext cx="1965960" cy="1097280"/>
          </a:xfrm>
          <a:prstGeom prst="roundRect">
            <a:avLst>
              <a:gd name="adj" fmla="val 6667"/>
            </a:avLst>
          </a:prstGeom>
          <a:solidFill>
            <a:schemeClr val="bg2"/>
          </a:solidFill>
          <a:ln/>
        </p:spPr>
      </p:sp>
      <p:sp>
        <p:nvSpPr>
          <p:cNvPr id="27" name="Text 25"/>
          <p:cNvSpPr txBox="1"/>
          <p:nvPr/>
        </p:nvSpPr>
        <p:spPr>
          <a:xfrm>
            <a:off x="9814255" y="2715768"/>
            <a:ext cx="1691640" cy="91440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alertes.csv</a:t>
            </a:r>
            <a:endParaRPr lang="en-US" sz="1200" dirty="0"/>
          </a:p>
          <a:p>
            <a:pPr indent="0" marL="0">
              <a:spcAft>
                <a:spcPts val="300"/>
              </a:spcAft>
              <a:buNone/>
            </a:pPr>
            <a:r>
              <a:rPr lang="en-US" sz="1200" dirty="0">
                <a:solidFill>
                  <a:schemeClr val="tx1"/>
                </a:solidFill>
              </a:rPr>
              <a:t>fiches PNG</a:t>
            </a:r>
            <a:endParaRPr lang="en-US" sz="1200" dirty="0"/>
          </a:p>
        </p:txBody>
      </p:sp>
      <p:sp>
        <p:nvSpPr>
          <p:cNvPr id="28" name="pratique 1"/>
          <p:cNvSpPr/>
          <p:nvPr/>
        </p:nvSpPr>
        <p:spPr>
          <a:xfrm>
            <a:off x="548640" y="4114800"/>
            <a:ext cx="3515258" cy="685800"/>
          </a:xfrm>
          <a:prstGeom prst="roundRect">
            <a:avLst>
              <a:gd name="adj" fmla="val 26667"/>
            </a:avLst>
          </a:prstGeom>
          <a:solidFill>
            <a:schemeClr val="bg1"/>
          </a:solidFill>
          <a:ln w="12700">
            <a:solidFill>
              <a:srgbClr val="CBD5E1"/>
            </a:solidFill>
            <a:prstDash val="solid"/>
          </a:ln>
        </p:spPr>
      </p:sp>
      <p:sp>
        <p:nvSpPr>
          <p:cNvPr id="29" name="Text 27"/>
          <p:cNvSpPr txBox="1"/>
          <p:nvPr/>
        </p:nvSpPr>
        <p:spPr>
          <a:xfrm>
            <a:off x="731520" y="4114800"/>
            <a:ext cx="3149498" cy="685800"/>
          </a:xfrm>
          <a:prstGeom prst="rect">
            <a:avLst/>
          </a:prstGeom>
          <a:noFill/>
          <a:ln/>
        </p:spPr>
        <p:txBody>
          <a:bodyPr wrap="square" lIns="0" tIns="0" rIns="0" bIns="0" rtlCol="0" anchor="ctr"/>
          <a:lstStyle/>
          <a:p>
            <a:pPr indent="0" marL="0">
              <a:buNone/>
            </a:pPr>
            <a:r>
              <a:rPr lang="en-US" sz="1400" dirty="0">
                <a:solidFill>
                  <a:schemeClr val="tx1"/>
                </a:solidFill>
              </a:rPr>
              <a:t>uv et pyproject.toml au format PEP 621</a:t>
            </a:r>
            <a:endParaRPr lang="en-US" sz="1400" dirty="0"/>
          </a:p>
        </p:txBody>
      </p:sp>
      <p:sp>
        <p:nvSpPr>
          <p:cNvPr id="30" name="pratique 2"/>
          <p:cNvSpPr/>
          <p:nvPr/>
        </p:nvSpPr>
        <p:spPr>
          <a:xfrm>
            <a:off x="4338218" y="4114800"/>
            <a:ext cx="3515258" cy="685800"/>
          </a:xfrm>
          <a:prstGeom prst="roundRect">
            <a:avLst>
              <a:gd name="adj" fmla="val 26667"/>
            </a:avLst>
          </a:prstGeom>
          <a:solidFill>
            <a:schemeClr val="bg1"/>
          </a:solidFill>
          <a:ln w="12700">
            <a:solidFill>
              <a:srgbClr val="CBD5E1"/>
            </a:solidFill>
            <a:prstDash val="solid"/>
          </a:ln>
        </p:spPr>
      </p:sp>
      <p:sp>
        <p:nvSpPr>
          <p:cNvPr id="31" name="Text 29"/>
          <p:cNvSpPr txBox="1"/>
          <p:nvPr/>
        </p:nvSpPr>
        <p:spPr>
          <a:xfrm>
            <a:off x="4521098" y="4114800"/>
            <a:ext cx="3149498" cy="685800"/>
          </a:xfrm>
          <a:prstGeom prst="rect">
            <a:avLst/>
          </a:prstGeom>
          <a:noFill/>
          <a:ln/>
        </p:spPr>
        <p:txBody>
          <a:bodyPr wrap="square" lIns="0" tIns="0" rIns="0" bIns="0" rtlCol="0" anchor="ctr"/>
          <a:lstStyle/>
          <a:p>
            <a:pPr indent="0" marL="0">
              <a:buNone/>
            </a:pPr>
            <a:r>
              <a:rPr lang="en-US" sz="1400" dirty="0">
                <a:solidFill>
                  <a:schemeClr val="tx1"/>
                </a:solidFill>
              </a:rPr>
              <a:t>Python 3.11 fixé, uv.lock versionné</a:t>
            </a:r>
            <a:endParaRPr lang="en-US" sz="1400" dirty="0"/>
          </a:p>
        </p:txBody>
      </p:sp>
      <p:sp>
        <p:nvSpPr>
          <p:cNvPr id="32" name="pratique 3"/>
          <p:cNvSpPr/>
          <p:nvPr/>
        </p:nvSpPr>
        <p:spPr>
          <a:xfrm>
            <a:off x="8127797" y="4114800"/>
            <a:ext cx="3515258" cy="685800"/>
          </a:xfrm>
          <a:prstGeom prst="roundRect">
            <a:avLst>
              <a:gd name="adj" fmla="val 26667"/>
            </a:avLst>
          </a:prstGeom>
          <a:solidFill>
            <a:schemeClr val="bg1"/>
          </a:solidFill>
          <a:ln w="12700">
            <a:solidFill>
              <a:srgbClr val="CBD5E1"/>
            </a:solidFill>
            <a:prstDash val="solid"/>
          </a:ln>
        </p:spPr>
      </p:sp>
      <p:sp>
        <p:nvSpPr>
          <p:cNvPr id="33" name="Text 31"/>
          <p:cNvSpPr txBox="1"/>
          <p:nvPr/>
        </p:nvSpPr>
        <p:spPr>
          <a:xfrm>
            <a:off x="8310677" y="4114800"/>
            <a:ext cx="3149498" cy="685800"/>
          </a:xfrm>
          <a:prstGeom prst="rect">
            <a:avLst/>
          </a:prstGeom>
          <a:noFill/>
          <a:ln/>
        </p:spPr>
        <p:txBody>
          <a:bodyPr wrap="square" lIns="0" tIns="0" rIns="0" bIns="0" rtlCol="0" anchor="ctr"/>
          <a:lstStyle/>
          <a:p>
            <a:pPr indent="0" marL="0">
              <a:buNone/>
            </a:pPr>
            <a:r>
              <a:rPr lang="en-US" sz="1400" dirty="0">
                <a:solidFill>
                  <a:schemeClr val="tx1"/>
                </a:solidFill>
              </a:rPr>
              <a:t>src/config.py : chemins et constantes partagés</a:t>
            </a:r>
            <a:endParaRPr lang="en-US" sz="1400" dirty="0"/>
          </a:p>
        </p:txBody>
      </p:sp>
      <p:sp>
        <p:nvSpPr>
          <p:cNvPr id="34" name="pratique 4"/>
          <p:cNvSpPr/>
          <p:nvPr/>
        </p:nvSpPr>
        <p:spPr>
          <a:xfrm>
            <a:off x="548640" y="4983480"/>
            <a:ext cx="3515258" cy="685800"/>
          </a:xfrm>
          <a:prstGeom prst="roundRect">
            <a:avLst>
              <a:gd name="adj" fmla="val 26667"/>
            </a:avLst>
          </a:prstGeom>
          <a:solidFill>
            <a:schemeClr val="bg1"/>
          </a:solidFill>
          <a:ln w="12700">
            <a:solidFill>
              <a:srgbClr val="CBD5E1"/>
            </a:solidFill>
            <a:prstDash val="solid"/>
          </a:ln>
        </p:spPr>
      </p:sp>
      <p:sp>
        <p:nvSpPr>
          <p:cNvPr id="35" name="Text 33"/>
          <p:cNvSpPr txBox="1"/>
          <p:nvPr/>
        </p:nvSpPr>
        <p:spPr>
          <a:xfrm>
            <a:off x="731520" y="4983480"/>
            <a:ext cx="3149498" cy="685800"/>
          </a:xfrm>
          <a:prstGeom prst="rect">
            <a:avLst/>
          </a:prstGeom>
          <a:noFill/>
          <a:ln/>
        </p:spPr>
        <p:txBody>
          <a:bodyPr wrap="square" lIns="0" tIns="0" rIns="0" bIns="0" rtlCol="0" anchor="ctr"/>
          <a:lstStyle/>
          <a:p>
            <a:pPr indent="0" marL="0">
              <a:buNone/>
            </a:pPr>
            <a:r>
              <a:rPr lang="en-US" sz="1400" dirty="0">
                <a:solidFill>
                  <a:schemeClr val="tx1"/>
                </a:solidFill>
              </a:rPr>
              <a:t>black, mypy et pytest</a:t>
            </a:r>
            <a:endParaRPr lang="en-US" sz="1400" dirty="0"/>
          </a:p>
        </p:txBody>
      </p:sp>
      <p:sp>
        <p:nvSpPr>
          <p:cNvPr id="36" name="pratique 5"/>
          <p:cNvSpPr/>
          <p:nvPr/>
        </p:nvSpPr>
        <p:spPr>
          <a:xfrm>
            <a:off x="4338218" y="4983480"/>
            <a:ext cx="3515258" cy="685800"/>
          </a:xfrm>
          <a:prstGeom prst="roundRect">
            <a:avLst>
              <a:gd name="adj" fmla="val 26667"/>
            </a:avLst>
          </a:prstGeom>
          <a:solidFill>
            <a:schemeClr val="bg1"/>
          </a:solidFill>
          <a:ln w="12700">
            <a:solidFill>
              <a:srgbClr val="CBD5E1"/>
            </a:solidFill>
            <a:prstDash val="solid"/>
          </a:ln>
        </p:spPr>
      </p:sp>
      <p:sp>
        <p:nvSpPr>
          <p:cNvPr id="37" name="Text 35"/>
          <p:cNvSpPr txBox="1"/>
          <p:nvPr/>
        </p:nvSpPr>
        <p:spPr>
          <a:xfrm>
            <a:off x="4521098" y="4983480"/>
            <a:ext cx="3149498" cy="685800"/>
          </a:xfrm>
          <a:prstGeom prst="rect">
            <a:avLst/>
          </a:prstGeom>
          <a:noFill/>
          <a:ln/>
        </p:spPr>
        <p:txBody>
          <a:bodyPr wrap="square" lIns="0" tIns="0" rIns="0" bIns="0" rtlCol="0" anchor="ctr"/>
          <a:lstStyle/>
          <a:p>
            <a:pPr indent="0" marL="0">
              <a:buNone/>
            </a:pPr>
            <a:r>
              <a:rPr lang="en-US" sz="1400" dirty="0">
                <a:solidFill>
                  <a:schemeClr val="tx1"/>
                </a:solidFill>
              </a:rPr>
              <a:t>random_state = 42 partout</a:t>
            </a:r>
            <a:endParaRPr lang="en-US" sz="1400" dirty="0"/>
          </a:p>
        </p:txBody>
      </p:sp>
      <p:sp>
        <p:nvSpPr>
          <p:cNvPr id="38" name="pratique 6"/>
          <p:cNvSpPr/>
          <p:nvPr/>
        </p:nvSpPr>
        <p:spPr>
          <a:xfrm>
            <a:off x="8127797" y="4983480"/>
            <a:ext cx="3515258" cy="685800"/>
          </a:xfrm>
          <a:prstGeom prst="roundRect">
            <a:avLst>
              <a:gd name="adj" fmla="val 26667"/>
            </a:avLst>
          </a:prstGeom>
          <a:solidFill>
            <a:schemeClr val="bg1"/>
          </a:solidFill>
          <a:ln w="12700">
            <a:solidFill>
              <a:srgbClr val="CBD5E1"/>
            </a:solidFill>
            <a:prstDash val="solid"/>
          </a:ln>
        </p:spPr>
      </p:sp>
      <p:sp>
        <p:nvSpPr>
          <p:cNvPr id="39" name="Text 37"/>
          <p:cNvSpPr txBox="1"/>
          <p:nvPr/>
        </p:nvSpPr>
        <p:spPr>
          <a:xfrm>
            <a:off x="8310677" y="4983480"/>
            <a:ext cx="3149498" cy="685800"/>
          </a:xfrm>
          <a:prstGeom prst="rect">
            <a:avLst/>
          </a:prstGeom>
          <a:noFill/>
          <a:ln/>
        </p:spPr>
        <p:txBody>
          <a:bodyPr wrap="square" lIns="0" tIns="0" rIns="0" bIns="0" rtlCol="0" anchor="ctr"/>
          <a:lstStyle/>
          <a:p>
            <a:pPr indent="0" marL="0">
              <a:buNone/>
            </a:pPr>
            <a:r>
              <a:rPr lang="en-US" sz="1400" dirty="0">
                <a:solidFill>
                  <a:schemeClr val="tx1"/>
                </a:solidFill>
              </a:rPr>
              <a:t>Métriques recalculées au rechargement du modèle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94415" cy="320040"/>
          </a:xfrm>
          <a:prstGeom prst="rect">
            <a:avLst/>
          </a:prstGeom>
          <a:noFill/>
          <a:ln/>
        </p:spPr>
        <p:txBody>
          <a:bodyPr wrap="square" lIns="0" tIns="0" rIns="0" bIns="0" rtlCol="0"/>
          <a:lstStyle/>
          <a:p>
            <a:pPr indent="0" marL="0">
              <a:buNone/>
            </a:pPr>
            <a:r>
              <a:rPr lang="en-US" sz="1300" b="1" dirty="0">
                <a:solidFill>
                  <a:schemeClr val="bg2"/>
                </a:solidFill>
              </a:rPr>
              <a:t>CONCLUSION</a:t>
            </a:r>
            <a:endParaRPr lang="en-US" sz="1300" dirty="0"/>
          </a:p>
        </p:txBody>
      </p:sp>
      <p:sp>
        <p:nvSpPr>
          <p:cNvPr id="3" name="Text 0"/>
          <p:cNvSpPr/>
          <p:nvPr>
            <p:ph idx="101" type="title" hasCustomPrompt="1"/>
          </p:nvPr>
        </p:nvSpPr>
        <p:spPr>
          <a:xfrm>
            <a:off x="548640" y="868680"/>
            <a:ext cx="11094415" cy="777240"/>
          </a:xfrm>
          <a:prstGeom prst="rect">
            <a:avLst/>
          </a:prstGeom>
          <a:noFill/>
          <a:ln/>
        </p:spPr>
        <p:txBody>
          <a:bodyPr wrap="square" lIns="0" tIns="0" rIns="0" bIns="0" rtlCol="0" anchor="ctr"/>
          <a:lstStyle/>
          <a:p>
            <a:pPr algn="l" indent="0" marL="0">
              <a:buNone/>
            </a:pPr>
            <a:r>
              <a:rPr lang="en-US" sz="3800" b="1" dirty="0">
                <a:solidFill>
                  <a:schemeClr val="bg1"/>
                </a:solidFill>
              </a:rPr>
              <a:t>Trois messages à retenir</a:t>
            </a:r>
            <a:endParaRPr lang="en-US" sz="3800" dirty="0"/>
          </a:p>
        </p:txBody>
      </p:sp>
      <p:sp>
        <p:nvSpPr>
          <p:cNvPr id="4" name="pastille 1"/>
          <p:cNvSpPr/>
          <p:nvPr/>
        </p:nvSpPr>
        <p:spPr>
          <a:xfrm>
            <a:off x="548640" y="2057400"/>
            <a:ext cx="594360" cy="594360"/>
          </a:xfrm>
          <a:prstGeom prst="ellipse">
            <a:avLst/>
          </a:prstGeom>
          <a:solidFill>
            <a:schemeClr val="accent1"/>
          </a:solidFill>
          <a:ln/>
        </p:spPr>
      </p:sp>
      <p:sp>
        <p:nvSpPr>
          <p:cNvPr id="5" name="numero 1"/>
          <p:cNvSpPr txBox="1"/>
          <p:nvPr/>
        </p:nvSpPr>
        <p:spPr>
          <a:xfrm>
            <a:off x="548640"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417320" y="1947672"/>
            <a:ext cx="10195560" cy="822960"/>
          </a:xfrm>
          <a:prstGeom prst="rect">
            <a:avLst/>
          </a:prstGeom>
          <a:noFill/>
          <a:ln/>
        </p:spPr>
        <p:txBody>
          <a:bodyPr wrap="square" lIns="0" tIns="0" rIns="0" bIns="0" rtlCol="0" anchor="ctr"/>
          <a:lstStyle/>
          <a:p>
            <a:pPr indent="0" marL="0">
              <a:buNone/>
            </a:pPr>
            <a:r>
              <a:rPr lang="en-US" sz="2200" dirty="0">
                <a:solidFill>
                  <a:schemeClr val="bg1"/>
                </a:solidFill>
              </a:rPr>
              <a:t>Les heures supplémentaires sont le premier facteur de départ, quelle que soit la méthode de mesure</a:t>
            </a:r>
            <a:endParaRPr lang="en-US" sz="2200" dirty="0"/>
          </a:p>
        </p:txBody>
      </p:sp>
      <p:sp>
        <p:nvSpPr>
          <p:cNvPr id="7" name="pastille 2"/>
          <p:cNvSpPr/>
          <p:nvPr/>
        </p:nvSpPr>
        <p:spPr>
          <a:xfrm>
            <a:off x="548640" y="3200400"/>
            <a:ext cx="594360" cy="594360"/>
          </a:xfrm>
          <a:prstGeom prst="ellipse">
            <a:avLst/>
          </a:prstGeom>
          <a:solidFill>
            <a:schemeClr val="accent1"/>
          </a:solidFill>
          <a:ln/>
        </p:spPr>
      </p:sp>
      <p:sp>
        <p:nvSpPr>
          <p:cNvPr id="8" name="numero 2"/>
          <p:cNvSpPr txBox="1"/>
          <p:nvPr/>
        </p:nvSpPr>
        <p:spPr>
          <a:xfrm>
            <a:off x="548640" y="3200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417320" y="3090672"/>
            <a:ext cx="10195560" cy="822960"/>
          </a:xfrm>
          <a:prstGeom prst="rect">
            <a:avLst/>
          </a:prstGeom>
          <a:noFill/>
          <a:ln/>
        </p:spPr>
        <p:txBody>
          <a:bodyPr wrap="square" lIns="0" tIns="0" rIns="0" bIns="0" rtlCol="0" anchor="ctr"/>
          <a:lstStyle/>
          <a:p>
            <a:pPr indent="0" marL="0">
              <a:buNone/>
            </a:pPr>
            <a:r>
              <a:rPr lang="en-US" sz="2200" dirty="0">
                <a:solidFill>
                  <a:schemeClr val="bg1"/>
                </a:solidFill>
              </a:rPr>
              <a:t>Un modèle simple et explicable détecte 3 départs sur 4 sur des collaborateurs jamais vus</a:t>
            </a:r>
            <a:endParaRPr lang="en-US" sz="2200" dirty="0"/>
          </a:p>
        </p:txBody>
      </p:sp>
      <p:sp>
        <p:nvSpPr>
          <p:cNvPr id="10" name="pastille 3"/>
          <p:cNvSpPr/>
          <p:nvPr/>
        </p:nvSpPr>
        <p:spPr>
          <a:xfrm>
            <a:off x="548640" y="4343400"/>
            <a:ext cx="594360" cy="594360"/>
          </a:xfrm>
          <a:prstGeom prst="ellipse">
            <a:avLst/>
          </a:prstGeom>
          <a:solidFill>
            <a:schemeClr val="accent1"/>
          </a:solidFill>
          <a:ln/>
        </p:spPr>
      </p:sp>
      <p:sp>
        <p:nvSpPr>
          <p:cNvPr id="11" name="numero 3"/>
          <p:cNvSpPr txBox="1"/>
          <p:nvPr/>
        </p:nvSpPr>
        <p:spPr>
          <a:xfrm>
            <a:off x="548640" y="4343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10"/>
          <p:cNvSpPr txBox="1"/>
          <p:nvPr/>
        </p:nvSpPr>
        <p:spPr>
          <a:xfrm>
            <a:off x="1417320" y="4233672"/>
            <a:ext cx="10195560" cy="822960"/>
          </a:xfrm>
          <a:prstGeom prst="rect">
            <a:avLst/>
          </a:prstGeom>
          <a:noFill/>
          <a:ln/>
        </p:spPr>
        <p:txBody>
          <a:bodyPr wrap="square" lIns="0" tIns="0" rIns="0" bIns="0" rtlCol="0" anchor="ctr"/>
          <a:lstStyle/>
          <a:p>
            <a:pPr indent="0" marL="0">
              <a:buNone/>
            </a:pPr>
            <a:r>
              <a:rPr lang="en-US" sz="2200" dirty="0">
                <a:solidFill>
                  <a:schemeClr val="bg1"/>
                </a:solidFill>
              </a:rPr>
              <a:t>L'outil RH transforme chaque alerte en entretien préparé, sans exposer les variables sensibles</a:t>
            </a:r>
            <a:endParaRPr lang="en-US" sz="2200" dirty="0"/>
          </a:p>
        </p:txBody>
      </p:sp>
      <p:sp>
        <p:nvSpPr>
          <p:cNvPr id="13" name="Text 11"/>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2200" b="1" dirty="0">
                <a:solidFill>
                  <a:schemeClr val="bg2"/>
                </a:solidFill>
                <a:latin typeface="Cambria" pitchFamily="34" charset="0"/>
                <a:ea typeface="Cambria" pitchFamily="34" charset="-122"/>
                <a:cs typeface="Cambria" pitchFamily="34" charset="-120"/>
              </a:rPr>
              <a:t>Merci de votre attention. Place à vos questions.</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ANNEXE 1</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Tous les modèles sur le jeu de test</a:t>
            </a:r>
            <a:endParaRPr lang="en-US" sz="3400" dirty="0"/>
          </a:p>
        </p:txBody>
      </p:sp>
      <p:graphicFrame>
        <p:nvGraphicFramePr>
          <p:cNvPr id="24" name="tableau test complet"/>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657600"/>
                <a:gridCol w="1600200"/>
                <a:gridCol w="914400"/>
                <a:gridCol w="1600200"/>
                <a:gridCol w="1463040"/>
                <a:gridCol w="868680"/>
                <a:gridCol w="990295"/>
              </a:tblGrid>
              <a:tr h="420624">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Modèle</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Entraîné sur</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Seuil</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Départs détectés</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Fausses alertes</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AUC-PR</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r>
              <a:tr h="42062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Dummy</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entraînement</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0,500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0,160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2062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Régression logistique (étape 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entraînement</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0,500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18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0,423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0,518</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2062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XGBoost pondéré (étape 4)</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entraînement</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0,172</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35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0,543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0,401</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2062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XGBoost réglé (étape 5)</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entraînement</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0,405</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28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0,511</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0,462</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2062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XGBoost réglé (étape 5)</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entr. + valid.</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0,299</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39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0,635</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0,513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2062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Régression logistique réglée</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entr. + valid.</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0,432</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36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0,623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0,504</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20624">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Forêt pondérée, feuilles ≥ 10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entr. + valid.</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0,380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39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0,596</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0,403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20624">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Régression logistique pondérée (finale)</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entr. + valid.</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0,418</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36 / 47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63</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0,627</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0,531</a:t>
                      </a:r>
                      <a:endParaRPr lang="en-US" sz="1300" dirty="0">
                        <a:latin typeface="Calibri" charset="0"/>
                        <a:ea typeface="Calibri" charset="0"/>
                        <a:cs typeface="Calibri" charset="0"/>
                      </a:endParaRPr>
                    </a:p>
                  </a:txBody>
                  <a:tcPr marL="64008" marR="64008" marT="64008" marB="6400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577840"/>
            <a:ext cx="11094415" cy="640080"/>
          </a:xfrm>
          <a:prstGeom prst="rect">
            <a:avLst/>
          </a:prstGeom>
          <a:noFill/>
          <a:ln/>
        </p:spPr>
        <p:txBody>
          <a:bodyPr wrap="square" lIns="0" tIns="0" rIns="0" bIns="0" rtlCol="0" anchor="t"/>
          <a:lstStyle/>
          <a:p>
            <a:pPr indent="0" marL="0">
              <a:buNone/>
            </a:pPr>
            <a:r>
              <a:rPr lang="en-US" sz="1400" dirty="0">
                <a:solidFill>
                  <a:schemeClr val="accent5"/>
                </a:solidFill>
              </a:rPr>
              <a:t>Le XGBoost réglé détecte 3 départs de plus que le modèle final, au prix de 17 fausses alertes de plus : c'est le compromis que la règle du commanditaire écarte.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dirty="0">
                <a:solidFill>
                  <a:schemeClr val="accent1"/>
                </a:solidFill>
              </a:rPr>
              <a:t>ANNEXE 2</a:t>
            </a:r>
            <a:endParaRPr lang="en-US" sz="12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Trois mesures d'importance comparées</a:t>
            </a:r>
            <a:endParaRPr lang="en-US" sz="3400" dirty="0"/>
          </a:p>
        </p:txBody>
      </p:sp>
      <p:pic>
        <p:nvPicPr>
          <p:cNvPr id="4" name="trois importances" descr="Coefficients, permutation et SHAP comparés">    </p:cNvPr>
          <p:cNvPicPr>
            <a:picLocks noChangeAspect="1"/>
          </p:cNvPicPr>
          <p:nvPr/>
        </p:nvPicPr>
        <p:blipFill>
          <a:blip r:embed="rId1"/>
          <a:stretch>
            <a:fillRect/>
          </a:stretch>
        </p:blipFill>
        <p:spPr>
          <a:xfrm>
            <a:off x="548640" y="1554480"/>
            <a:ext cx="11094415" cy="3631804"/>
          </a:xfrm>
          <a:prstGeom prst="rect">
            <a:avLst/>
          </a:prstGeom>
        </p:spPr>
      </p:pic>
      <p:sp>
        <p:nvSpPr>
          <p:cNvPr id="5" name="Text 2"/>
          <p:cNvSpPr txBox="1"/>
          <p:nvPr/>
        </p:nvSpPr>
        <p:spPr>
          <a:xfrm>
            <a:off x="548640" y="5349240"/>
            <a:ext cx="11094415"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La permutation ne mesure pas nouveau_responsable sur 294 collaborateurs : effet partagé avec debut_de_carriere, perdu dans le bruit.</a:t>
            </a:r>
            <a:endParaRPr lang="en-US" sz="1300" dirty="0"/>
          </a:p>
          <a:p>
            <a:pPr marL="342900" indent="-342900">
              <a:spcAft>
                <a:spcPts val="300"/>
              </a:spcAft>
              <a:buSzPct val="100000"/>
              <a:buChar char="•"/>
            </a:pPr>
            <a:r>
              <a:rPr lang="en-US" sz="1300" dirty="0">
                <a:solidFill>
                  <a:schemeClr val="tx1"/>
                </a:solidFill>
              </a:rPr>
              <a:t>Les coefficients surévaluent les catégories rares, comme le poste de directeur technique.</a:t>
            </a:r>
            <a:endParaRPr lang="en-US" sz="1300" dirty="0"/>
          </a:p>
          <a:p>
            <a:pPr marL="342900" indent="-342900">
              <a:spcAft>
                <a:spcPts val="300"/>
              </a:spcAft>
              <a:buSzPct val="100000"/>
              <a:buChar char="•"/>
            </a:pPr>
            <a:r>
              <a:rPr lang="en-US" sz="1300" dirty="0">
                <a:solidFill>
                  <a:schemeClr val="tx1"/>
                </a:solidFill>
              </a:rPr>
              <a:t>Le revenu a un coefficient positif, à rebours des données : il est corrélé à l'expérience (0,77) et au poste.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P4 Attrition RH">
  <a:themeElements>
    <a:clrScheme name="P4 Attrition RH">
      <a:dk1>
        <a:srgbClr val="1E293B"/>
      </a:dk1>
      <a:lt1>
        <a:srgbClr val="FFFFFF"/>
      </a:lt1>
      <a:dk2>
        <a:srgbClr val="0F172A"/>
      </a:dk2>
      <a:lt2>
        <a:srgbClr val="F1F5F9"/>
      </a:lt2>
      <a:accent1>
        <a:srgbClr val="DC2626"/>
      </a:accent1>
      <a:accent2>
        <a:srgbClr val="2563EB"/>
      </a:accent2>
      <a:accent3>
        <a:srgbClr val="16A34A"/>
      </a:accent3>
      <a:accent4>
        <a:srgbClr val="B91C1C"/>
      </a:accent4>
      <a:accent5>
        <a:srgbClr val="64748B"/>
      </a:accent5>
      <a:accent6>
        <a:srgbClr val="B45309"/>
      </a:accent6>
      <a:hlink>
        <a:srgbClr val="2563EB"/>
      </a:hlink>
      <a:folHlink>
        <a:srgbClr val="7C3AED"/>
      </a:folHlink>
    </a:clrScheme>
    <a:fontScheme name="P4 Attrition R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4 - Prédiction de l'attrition RH chez TechNova Partners</dc:title>
  <dc:subject>Soutenance - Formation AI Engineer OpenClassrooms</dc:subject>
  <dc:creator>Angèle GOMIS</dc:creator>
  <cp:lastModifiedBy>Angèle GOMIS</cp:lastModifiedBy>
  <cp:revision>1</cp:revision>
  <dcterms:created xsi:type="dcterms:W3CDTF">2026-10-05T10:49:23Z</dcterms:created>
  <dcterms:modified xsi:type="dcterms:W3CDTF">2026-10-05T10:49:23Z</dcterms:modified>
</cp:coreProperties>
</file>